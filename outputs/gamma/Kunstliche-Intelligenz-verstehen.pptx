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embeddedFontLst>
    <p:embeddedFont>
      <p:font typeface="Montserrat Semi Bold"/>
      <p:regular r:id="rId18"/>
    </p:embeddedFont>
    <p:embeddedFont>
      <p:font typeface="Montserrat Semi Bold"/>
      <p:regular r:id="rId19"/>
    </p:embeddedFont>
    <p:embeddedFont>
      <p:font typeface="Montserrat Semi Bold"/>
      <p:regular r:id="rId20"/>
    </p:embeddedFont>
    <p:embeddedFont>
      <p:font typeface="Montserrat Semi Bold"/>
      <p:regular r:id="rId21"/>
    </p:embeddedFont>
    <p:embeddedFont>
      <p:font typeface="PT Sans"/>
      <p:regular r:id="rId22"/>
    </p:embeddedFont>
    <p:embeddedFont>
      <p:font typeface="PT Sans"/>
      <p:regular r:id="rId23"/>
    </p:embeddedFont>
    <p:embeddedFont>
      <p:font typeface="PT Sans"/>
      <p:regular r:id="rId24"/>
    </p:embeddedFont>
    <p:embeddedFont>
      <p:font typeface="PT Sans"/>
      <p:regular r:id="rId25"/>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image" Target="../media/image-3-8.png"/><Relationship Id="rId9" Type="http://schemas.openxmlformats.org/officeDocument/2006/relationships/image" Target="../media/image-3-9.svg"/><Relationship Id="rId10" Type="http://schemas.openxmlformats.org/officeDocument/2006/relationships/slideLayout" Target="../slideLayouts/slideLayout4.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5.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slideLayout" Target="../slideLayouts/slideLayout10.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352086"/>
            <a:ext cx="9413558" cy="708779"/>
          </a:xfrm>
          <a:prstGeom prst="rect">
            <a:avLst/>
          </a:prstGeom>
          <a:noFill/>
          <a:ln/>
        </p:spPr>
        <p:txBody>
          <a:bodyPr wrap="none" lIns="0" tIns="0" rIns="0" bIns="0" rtlCol="0" anchor="t"/>
          <a:lstStyle/>
          <a:p>
            <a:pPr algn="l" indent="0" marL="0">
              <a:lnSpc>
                <a:spcPts val="5550"/>
              </a:lnSpc>
              <a:buNone/>
            </a:pPr>
            <a:r>
              <a:rPr lang="en-US" sz="4450" dirty="0">
                <a:solidFill>
                  <a:srgbClr val="030303"/>
                </a:solidFill>
                <a:latin typeface="Montserrat Semi Bold" pitchFamily="34" charset="0"/>
                <a:ea typeface="Montserrat Semi Bold" pitchFamily="34" charset="-122"/>
                <a:cs typeface="Montserrat Semi Bold" pitchFamily="34" charset="-120"/>
              </a:rPr>
              <a:t>Künstliche Intelligenz verstehen</a:t>
            </a:r>
            <a:endParaRPr lang="en-US" sz="4450" dirty="0"/>
          </a:p>
        </p:txBody>
      </p:sp>
      <p:sp>
        <p:nvSpPr>
          <p:cNvPr id="3" name="Text 1"/>
          <p:cNvSpPr/>
          <p:nvPr/>
        </p:nvSpPr>
        <p:spPr>
          <a:xfrm>
            <a:off x="793790" y="451449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464646"/>
                </a:solidFill>
                <a:latin typeface="PT Sans" pitchFamily="34" charset="0"/>
                <a:ea typeface="PT Sans" pitchFamily="34" charset="-122"/>
                <a:cs typeface="PT Sans" pitchFamily="34" charset="-120"/>
              </a:rPr>
              <a:t>Ein umfassender Überblick über Definition, Anwendungen und Auswirkungen von KI-Technologien in unserer modernen Welt</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333149"/>
            <a:ext cx="6699885" cy="531614"/>
          </a:xfrm>
          <a:prstGeom prst="rect">
            <a:avLst/>
          </a:prstGeom>
          <a:noFill/>
          <a:ln/>
        </p:spPr>
        <p:txBody>
          <a:bodyPr wrap="none" lIns="0" tIns="0" rIns="0" bIns="0" rtlCol="0" anchor="t"/>
          <a:lstStyle/>
          <a:p>
            <a:pPr algn="l" indent="0" marL="0">
              <a:lnSpc>
                <a:spcPts val="4150"/>
              </a:lnSpc>
              <a:buNone/>
            </a:pPr>
            <a:r>
              <a:rPr lang="en-US" sz="3300" dirty="0">
                <a:solidFill>
                  <a:srgbClr val="030303"/>
                </a:solidFill>
                <a:latin typeface="Montserrat Semi Bold" pitchFamily="34" charset="0"/>
                <a:ea typeface="Montserrat Semi Bold" pitchFamily="34" charset="-122"/>
                <a:cs typeface="Montserrat Semi Bold" pitchFamily="34" charset="-120"/>
              </a:rPr>
              <a:t>Was ist Künstliche Intelligenz?</a:t>
            </a:r>
            <a:endParaRPr lang="en-US" sz="3300" dirty="0"/>
          </a:p>
        </p:txBody>
      </p:sp>
      <p:sp>
        <p:nvSpPr>
          <p:cNvPr id="3" name="Text 1"/>
          <p:cNvSpPr/>
          <p:nvPr/>
        </p:nvSpPr>
        <p:spPr>
          <a:xfrm>
            <a:off x="793790" y="3289935"/>
            <a:ext cx="3332083" cy="318849"/>
          </a:xfrm>
          <a:prstGeom prst="rect">
            <a:avLst/>
          </a:prstGeom>
          <a:noFill/>
          <a:ln/>
        </p:spPr>
        <p:txBody>
          <a:bodyPr wrap="none" lIns="0" tIns="0" rIns="0" bIns="0" rtlCol="0" anchor="t"/>
          <a:lstStyle/>
          <a:p>
            <a:pPr algn="l" indent="0" marL="0">
              <a:lnSpc>
                <a:spcPts val="2500"/>
              </a:lnSpc>
              <a:buNone/>
            </a:pPr>
            <a:r>
              <a:rPr lang="en-US" sz="2000" dirty="0">
                <a:solidFill>
                  <a:srgbClr val="030303"/>
                </a:solidFill>
                <a:latin typeface="Montserrat Semi Bold" pitchFamily="34" charset="0"/>
                <a:ea typeface="Montserrat Semi Bold" pitchFamily="34" charset="-122"/>
                <a:cs typeface="Montserrat Semi Bold" pitchFamily="34" charset="-120"/>
              </a:rPr>
              <a:t>Definition nach EU AI Act</a:t>
            </a:r>
            <a:endParaRPr lang="en-US" sz="2000" dirty="0"/>
          </a:p>
        </p:txBody>
      </p:sp>
      <p:sp>
        <p:nvSpPr>
          <p:cNvPr id="4" name="Text 2"/>
          <p:cNvSpPr/>
          <p:nvPr/>
        </p:nvSpPr>
        <p:spPr>
          <a:xfrm>
            <a:off x="793790" y="3778806"/>
            <a:ext cx="5640943" cy="1360884"/>
          </a:xfrm>
          <a:prstGeom prst="rect">
            <a:avLst/>
          </a:prstGeom>
          <a:noFill/>
          <a:ln/>
        </p:spPr>
        <p:txBody>
          <a:bodyPr wrap="square" lIns="0" tIns="0" rIns="0" bIns="0" rtlCol="0" anchor="t"/>
          <a:lstStyle/>
          <a:p>
            <a:pPr algn="l" indent="0" marL="0">
              <a:lnSpc>
                <a:spcPts val="2100"/>
              </a:lnSpc>
              <a:buNone/>
            </a:pPr>
            <a:r>
              <a:rPr lang="en-US" sz="1300" dirty="0">
                <a:solidFill>
                  <a:srgbClr val="464646"/>
                </a:solidFill>
                <a:latin typeface="PT Sans" pitchFamily="34" charset="0"/>
                <a:ea typeface="PT Sans" pitchFamily="34" charset="-122"/>
                <a:cs typeface="PT Sans" pitchFamily="34" charset="-120"/>
              </a:rPr>
              <a:t>Künstliche Intelligenz ist ein maschinenbasiertes System, das mit unterschiedlichen Autonomiegraden operieren kann. Es ist in der Lage, aus erhaltenen Eingaben Schlüsse zu ziehen, um Ausgaben wie Vorhersagen, Inhalte, Empfehlungen oder Entscheidungen zu generieren, die sowohl physische als auch virtuelle Umgebungen beeinflussen können.</a:t>
            </a:r>
            <a:endParaRPr lang="en-US" sz="1300" dirty="0"/>
          </a:p>
        </p:txBody>
      </p:sp>
      <p:sp>
        <p:nvSpPr>
          <p:cNvPr id="5" name="Text 3"/>
          <p:cNvSpPr/>
          <p:nvPr/>
        </p:nvSpPr>
        <p:spPr>
          <a:xfrm>
            <a:off x="6857405" y="3289935"/>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030303"/>
                </a:solidFill>
                <a:latin typeface="Montserrat Semi Bold" pitchFamily="34" charset="0"/>
                <a:ea typeface="Montserrat Semi Bold" pitchFamily="34" charset="-122"/>
                <a:cs typeface="Montserrat Semi Bold" pitchFamily="34" charset="-120"/>
              </a:rPr>
              <a:t>Kerntechnologien</a:t>
            </a:r>
            <a:endParaRPr lang="en-US" sz="2000" dirty="0"/>
          </a:p>
        </p:txBody>
      </p:sp>
      <p:sp>
        <p:nvSpPr>
          <p:cNvPr id="6" name="Text 4"/>
          <p:cNvSpPr/>
          <p:nvPr/>
        </p:nvSpPr>
        <p:spPr>
          <a:xfrm>
            <a:off x="6857405" y="3778806"/>
            <a:ext cx="6986707" cy="272177"/>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64646"/>
                </a:solidFill>
                <a:latin typeface="PT Sans" pitchFamily="34" charset="0"/>
                <a:ea typeface="PT Sans" pitchFamily="34" charset="-122"/>
                <a:cs typeface="PT Sans" pitchFamily="34" charset="-120"/>
              </a:rPr>
              <a:t>Maschinelles Lernen</a:t>
            </a:r>
            <a:endParaRPr lang="en-US" sz="1300" dirty="0"/>
          </a:p>
        </p:txBody>
      </p:sp>
      <p:sp>
        <p:nvSpPr>
          <p:cNvPr id="7" name="Text 5"/>
          <p:cNvSpPr/>
          <p:nvPr/>
        </p:nvSpPr>
        <p:spPr>
          <a:xfrm>
            <a:off x="6857405" y="4110514"/>
            <a:ext cx="6986707" cy="272177"/>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64646"/>
                </a:solidFill>
                <a:latin typeface="PT Sans" pitchFamily="34" charset="0"/>
                <a:ea typeface="PT Sans" pitchFamily="34" charset="-122"/>
                <a:cs typeface="PT Sans" pitchFamily="34" charset="-120"/>
              </a:rPr>
              <a:t>Natürliche Sprachverarbeitung</a:t>
            </a:r>
            <a:endParaRPr lang="en-US" sz="1300" dirty="0"/>
          </a:p>
        </p:txBody>
      </p:sp>
      <p:sp>
        <p:nvSpPr>
          <p:cNvPr id="8" name="Text 6"/>
          <p:cNvSpPr/>
          <p:nvPr/>
        </p:nvSpPr>
        <p:spPr>
          <a:xfrm>
            <a:off x="6857405" y="4442222"/>
            <a:ext cx="6986707" cy="272177"/>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64646"/>
                </a:solidFill>
                <a:latin typeface="PT Sans" pitchFamily="34" charset="0"/>
                <a:ea typeface="PT Sans" pitchFamily="34" charset="-122"/>
                <a:cs typeface="PT Sans" pitchFamily="34" charset="-120"/>
              </a:rPr>
              <a:t>Computer Vision</a:t>
            </a:r>
            <a:endParaRPr lang="en-US" sz="1300" dirty="0"/>
          </a:p>
        </p:txBody>
      </p:sp>
      <p:sp>
        <p:nvSpPr>
          <p:cNvPr id="9" name="Text 7"/>
          <p:cNvSpPr/>
          <p:nvPr/>
        </p:nvSpPr>
        <p:spPr>
          <a:xfrm>
            <a:off x="6857405" y="4773930"/>
            <a:ext cx="6986707" cy="272177"/>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64646"/>
                </a:solidFill>
                <a:latin typeface="PT Sans" pitchFamily="34" charset="0"/>
                <a:ea typeface="PT Sans" pitchFamily="34" charset="-122"/>
                <a:cs typeface="PT Sans" pitchFamily="34" charset="-120"/>
              </a:rPr>
              <a:t>Prädiktive Analysen</a:t>
            </a:r>
            <a:endParaRPr lang="en-US" sz="1300" dirty="0"/>
          </a:p>
        </p:txBody>
      </p:sp>
      <p:sp>
        <p:nvSpPr>
          <p:cNvPr id="10" name="Text 8"/>
          <p:cNvSpPr/>
          <p:nvPr/>
        </p:nvSpPr>
        <p:spPr>
          <a:xfrm>
            <a:off x="6857405" y="5199102"/>
            <a:ext cx="6986707" cy="544354"/>
          </a:xfrm>
          <a:prstGeom prst="rect">
            <a:avLst/>
          </a:prstGeom>
          <a:noFill/>
          <a:ln/>
        </p:spPr>
        <p:txBody>
          <a:bodyPr wrap="square" lIns="0" tIns="0" rIns="0" bIns="0" rtlCol="0" anchor="t"/>
          <a:lstStyle/>
          <a:p>
            <a:pPr algn="l" indent="0" marL="0">
              <a:lnSpc>
                <a:spcPts val="2100"/>
              </a:lnSpc>
              <a:buNone/>
            </a:pPr>
            <a:r>
              <a:rPr lang="en-US" sz="1300" dirty="0">
                <a:solidFill>
                  <a:srgbClr val="464646"/>
                </a:solidFill>
                <a:latin typeface="PT Sans" pitchFamily="34" charset="0"/>
                <a:ea typeface="PT Sans" pitchFamily="34" charset="-122"/>
                <a:cs typeface="PT Sans" pitchFamily="34" charset="-120"/>
              </a:rPr>
              <a:t>Diese Technologien ermöglichen Automatisierung, verbesserte Entscheidungsfindung und innovative Lösungen.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217414"/>
            <a:ext cx="5845135" cy="460772"/>
          </a:xfrm>
          <a:prstGeom prst="rect">
            <a:avLst/>
          </a:prstGeom>
          <a:noFill/>
          <a:ln/>
        </p:spPr>
        <p:txBody>
          <a:bodyPr wrap="none" lIns="0" tIns="0" rIns="0" bIns="0" rtlCol="0" anchor="t"/>
          <a:lstStyle/>
          <a:p>
            <a:pPr algn="l" indent="0" marL="0">
              <a:lnSpc>
                <a:spcPts val="3600"/>
              </a:lnSpc>
              <a:buNone/>
            </a:pPr>
            <a:r>
              <a:rPr lang="en-US" sz="2900" dirty="0">
                <a:solidFill>
                  <a:srgbClr val="030303"/>
                </a:solidFill>
                <a:latin typeface="Montserrat Semi Bold" pitchFamily="34" charset="0"/>
                <a:ea typeface="Montserrat Semi Bold" pitchFamily="34" charset="-122"/>
                <a:cs typeface="Montserrat Semi Bold" pitchFamily="34" charset="-120"/>
              </a:rPr>
              <a:t>KI-Ökosystem und Vernetzung</a:t>
            </a:r>
            <a:endParaRPr lang="en-US" sz="2900" dirty="0"/>
          </a:p>
        </p:txBody>
      </p:sp>
      <p:pic>
        <p:nvPicPr>
          <p:cNvPr id="3" name="Image 0" descr="preencoded.png">    </p:cNvPr>
          <p:cNvPicPr>
            <a:picLocks noChangeAspect="1"/>
          </p:cNvPicPr>
          <p:nvPr/>
        </p:nvPicPr>
        <p:blipFill>
          <a:blip r:embed="rId1"/>
          <a:stretch>
            <a:fillRect/>
          </a:stretch>
        </p:blipFill>
        <p:spPr>
          <a:xfrm>
            <a:off x="3076337" y="1972985"/>
            <a:ext cx="8477726" cy="4401860"/>
          </a:xfrm>
          <a:prstGeom prst="rect">
            <a:avLst/>
          </a:prstGeom>
        </p:spPr>
      </p:pic>
      <p:sp>
        <p:nvSpPr>
          <p:cNvPr id="4" name="Text 1"/>
          <p:cNvSpPr/>
          <p:nvPr/>
        </p:nvSpPr>
        <p:spPr>
          <a:xfrm>
            <a:off x="6783658" y="3933431"/>
            <a:ext cx="1046148" cy="470767"/>
          </a:xfrm>
          <a:prstGeom prst="rect">
            <a:avLst/>
          </a:prstGeom>
          <a:noFill/>
          <a:ln/>
        </p:spPr>
        <p:txBody>
          <a:bodyPr wrap="square" lIns="0" tIns="0" rIns="0" bIns="0" rtlCol="0" anchor="t"/>
          <a:lstStyle/>
          <a:p>
            <a:pPr algn="ctr" indent="0" marL="0">
              <a:lnSpc>
                <a:spcPts val="1650"/>
              </a:lnSpc>
              <a:buNone/>
            </a:pPr>
            <a:r>
              <a:rPr lang="en-US" sz="1350" dirty="0">
                <a:solidFill>
                  <a:srgbClr val="FFFFFF"/>
                </a:solidFill>
                <a:latin typeface="Montserrat Semi Bold" pitchFamily="34" charset="0"/>
                <a:ea typeface="Montserrat Semi Bold" pitchFamily="34" charset="-122"/>
                <a:cs typeface="Montserrat Semi Bold" pitchFamily="34" charset="-120"/>
              </a:rPr>
              <a:t>Künstliche Intelligenz</a:t>
            </a:r>
            <a:endParaRPr lang="en-US" sz="135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954" y="3140319"/>
            <a:ext cx="212891" cy="212891"/>
          </a:xfrm>
          <a:prstGeom prst="rect">
            <a:avLst/>
          </a:prstGeom>
        </p:spPr>
      </p:pic>
      <p:sp>
        <p:nvSpPr>
          <p:cNvPr id="6" name="Text 2"/>
          <p:cNvSpPr/>
          <p:nvPr/>
        </p:nvSpPr>
        <p:spPr>
          <a:xfrm>
            <a:off x="3276967" y="2881398"/>
            <a:ext cx="1832853" cy="470767"/>
          </a:xfrm>
          <a:prstGeom prst="rect">
            <a:avLst/>
          </a:prstGeom>
          <a:noFill/>
          <a:ln/>
        </p:spPr>
        <p:txBody>
          <a:bodyPr wrap="square" lIns="0" tIns="0" rIns="0" bIns="0" rtlCol="0" anchor="t"/>
          <a:lstStyle/>
          <a:p>
            <a:pPr algn="l" indent="0" marL="0">
              <a:lnSpc>
                <a:spcPts val="1650"/>
              </a:lnSpc>
              <a:buNone/>
            </a:pPr>
            <a:r>
              <a:rPr lang="en-US" sz="1350" dirty="0">
                <a:solidFill>
                  <a:srgbClr val="464646"/>
                </a:solidFill>
                <a:latin typeface="Montserrat Semi Bold" pitchFamily="34" charset="0"/>
                <a:ea typeface="Montserrat Semi Bold" pitchFamily="34" charset="-122"/>
                <a:cs typeface="Montserrat Semi Bold" pitchFamily="34" charset="-120"/>
              </a:rPr>
              <a:t>Digitale Transformation</a:t>
            </a:r>
            <a:endParaRPr lang="en-US" sz="1350" dirty="0"/>
          </a:p>
        </p:txBody>
      </p:sp>
      <p:sp>
        <p:nvSpPr>
          <p:cNvPr id="7" name="Text 3"/>
          <p:cNvSpPr/>
          <p:nvPr/>
        </p:nvSpPr>
        <p:spPr>
          <a:xfrm>
            <a:off x="3276967" y="3419118"/>
            <a:ext cx="1832853" cy="564921"/>
          </a:xfrm>
          <a:prstGeom prst="rect">
            <a:avLst/>
          </a:prstGeom>
          <a:noFill/>
          <a:ln/>
        </p:spPr>
        <p:txBody>
          <a:bodyPr wrap="square" lIns="0" tIns="0" rIns="0" bIns="0" rtlCol="0" anchor="t"/>
          <a:lstStyle/>
          <a:p>
            <a:pPr algn="l" indent="0" marL="0">
              <a:lnSpc>
                <a:spcPts val="1350"/>
              </a:lnSpc>
              <a:buNone/>
            </a:pPr>
            <a:r>
              <a:rPr lang="en-US" sz="1050" dirty="0">
                <a:solidFill>
                  <a:srgbClr val="464646"/>
                </a:solidFill>
                <a:latin typeface="PT Sans" pitchFamily="34" charset="0"/>
                <a:ea typeface="PT Sans" pitchFamily="34" charset="-122"/>
                <a:cs typeface="PT Sans" pitchFamily="34" charset="-120"/>
              </a:rPr>
              <a:t>KI treibt Prozesse, Automatisierung und Kundenerlebnis</a:t>
            </a:r>
            <a:endParaRPr lang="en-US" sz="1050" dirty="0"/>
          </a:p>
        </p:txBody>
      </p:sp>
      <p:sp>
        <p:nvSpPr>
          <p:cNvPr id="8" name="Text 4"/>
          <p:cNvSpPr/>
          <p:nvPr/>
        </p:nvSpPr>
        <p:spPr>
          <a:xfrm>
            <a:off x="9520384" y="2881398"/>
            <a:ext cx="1832853" cy="235383"/>
          </a:xfrm>
          <a:prstGeom prst="rect">
            <a:avLst/>
          </a:prstGeom>
          <a:noFill/>
          <a:ln/>
        </p:spPr>
        <p:txBody>
          <a:bodyPr wrap="none" lIns="0" tIns="0" rIns="0" bIns="0" rtlCol="0" anchor="t"/>
          <a:lstStyle/>
          <a:p>
            <a:pPr algn="l" indent="0" marL="0">
              <a:lnSpc>
                <a:spcPts val="1650"/>
              </a:lnSpc>
              <a:buNone/>
            </a:pPr>
            <a:r>
              <a:rPr lang="en-US" sz="1350" dirty="0">
                <a:solidFill>
                  <a:srgbClr val="464646"/>
                </a:solidFill>
                <a:latin typeface="Montserrat Semi Bold" pitchFamily="34" charset="0"/>
                <a:ea typeface="Montserrat Semi Bold" pitchFamily="34" charset="-122"/>
                <a:cs typeface="Montserrat Semi Bold" pitchFamily="34" charset="-120"/>
              </a:rPr>
              <a:t>KMU</a:t>
            </a:r>
            <a:endParaRPr lang="en-US" sz="1350" dirty="0"/>
          </a:p>
        </p:txBody>
      </p:sp>
      <p:sp>
        <p:nvSpPr>
          <p:cNvPr id="9" name="Text 5"/>
          <p:cNvSpPr/>
          <p:nvPr/>
        </p:nvSpPr>
        <p:spPr>
          <a:xfrm>
            <a:off x="9520384" y="3183735"/>
            <a:ext cx="1832853" cy="376614"/>
          </a:xfrm>
          <a:prstGeom prst="rect">
            <a:avLst/>
          </a:prstGeom>
          <a:noFill/>
          <a:ln/>
        </p:spPr>
        <p:txBody>
          <a:bodyPr wrap="square" lIns="0" tIns="0" rIns="0" bIns="0" rtlCol="0" anchor="t"/>
          <a:lstStyle/>
          <a:p>
            <a:pPr algn="l" indent="0" marL="0">
              <a:lnSpc>
                <a:spcPts val="1350"/>
              </a:lnSpc>
              <a:buNone/>
            </a:pPr>
            <a:r>
              <a:rPr lang="en-US" sz="1050" dirty="0">
                <a:solidFill>
                  <a:srgbClr val="464646"/>
                </a:solidFill>
                <a:latin typeface="PT Sans" pitchFamily="34" charset="0"/>
                <a:ea typeface="PT Sans" pitchFamily="34" charset="-122"/>
                <a:cs typeface="PT Sans" pitchFamily="34" charset="-120"/>
              </a:rPr>
              <a:t>Skalierbare KI-Lösungen für Effizienz und Wettbewerb</a:t>
            </a:r>
            <a:endParaRPr lang="en-US" sz="1050" dirty="0"/>
          </a:p>
        </p:txBody>
      </p:sp>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09298" y="2688383"/>
            <a:ext cx="212891" cy="212891"/>
          </a:xfrm>
          <a:prstGeom prst="rect">
            <a:avLst/>
          </a:prstGeom>
        </p:spPr>
      </p:pic>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90601" y="4964803"/>
            <a:ext cx="212891" cy="212891"/>
          </a:xfrm>
          <a:prstGeom prst="rect">
            <a:avLst/>
          </a:prstGeom>
        </p:spPr>
      </p:pic>
      <p:sp>
        <p:nvSpPr>
          <p:cNvPr id="12" name="Text 6"/>
          <p:cNvSpPr/>
          <p:nvPr/>
        </p:nvSpPr>
        <p:spPr>
          <a:xfrm>
            <a:off x="3276967" y="4839788"/>
            <a:ext cx="1832853" cy="470767"/>
          </a:xfrm>
          <a:prstGeom prst="rect">
            <a:avLst/>
          </a:prstGeom>
          <a:noFill/>
          <a:ln/>
        </p:spPr>
        <p:txBody>
          <a:bodyPr wrap="square" lIns="0" tIns="0" rIns="0" bIns="0" rtlCol="0" anchor="t"/>
          <a:lstStyle/>
          <a:p>
            <a:pPr algn="l" indent="0" marL="0">
              <a:lnSpc>
                <a:spcPts val="1650"/>
              </a:lnSpc>
              <a:buNone/>
            </a:pPr>
            <a:r>
              <a:rPr lang="en-US" sz="1350" dirty="0">
                <a:solidFill>
                  <a:srgbClr val="464646"/>
                </a:solidFill>
                <a:latin typeface="Montserrat Semi Bold" pitchFamily="34" charset="0"/>
                <a:ea typeface="Montserrat Semi Bold" pitchFamily="34" charset="-122"/>
                <a:cs typeface="Montserrat Semi Bold" pitchFamily="34" charset="-120"/>
              </a:rPr>
              <a:t>Maschinelles Lernen</a:t>
            </a:r>
            <a:endParaRPr lang="en-US" sz="1350" dirty="0"/>
          </a:p>
        </p:txBody>
      </p:sp>
      <p:sp>
        <p:nvSpPr>
          <p:cNvPr id="13" name="Text 7"/>
          <p:cNvSpPr/>
          <p:nvPr/>
        </p:nvSpPr>
        <p:spPr>
          <a:xfrm>
            <a:off x="3276967" y="5377509"/>
            <a:ext cx="1832853" cy="376613"/>
          </a:xfrm>
          <a:prstGeom prst="rect">
            <a:avLst/>
          </a:prstGeom>
          <a:noFill/>
          <a:ln/>
        </p:spPr>
        <p:txBody>
          <a:bodyPr wrap="square" lIns="0" tIns="0" rIns="0" bIns="0" rtlCol="0" anchor="t"/>
          <a:lstStyle/>
          <a:p>
            <a:pPr algn="l" indent="0" marL="0">
              <a:lnSpc>
                <a:spcPts val="1350"/>
              </a:lnSpc>
              <a:buNone/>
            </a:pPr>
            <a:r>
              <a:rPr lang="en-US" sz="1050" dirty="0">
                <a:solidFill>
                  <a:srgbClr val="464646"/>
                </a:solidFill>
                <a:latin typeface="PT Sans" pitchFamily="34" charset="0"/>
                <a:ea typeface="PT Sans" pitchFamily="34" charset="-122"/>
                <a:cs typeface="PT Sans" pitchFamily="34" charset="-120"/>
              </a:rPr>
              <a:t>Modelle, Datenanalysen und kontinuierliches Lernen</a:t>
            </a:r>
            <a:endParaRPr lang="en-US" sz="1050" dirty="0"/>
          </a:p>
        </p:txBody>
      </p:sp>
      <p:sp>
        <p:nvSpPr>
          <p:cNvPr id="14" name="Text 8"/>
          <p:cNvSpPr/>
          <p:nvPr/>
        </p:nvSpPr>
        <p:spPr>
          <a:xfrm>
            <a:off x="9520384" y="4839788"/>
            <a:ext cx="1832853" cy="235383"/>
          </a:xfrm>
          <a:prstGeom prst="rect">
            <a:avLst/>
          </a:prstGeom>
          <a:noFill/>
          <a:ln/>
        </p:spPr>
        <p:txBody>
          <a:bodyPr wrap="none" lIns="0" tIns="0" rIns="0" bIns="0" rtlCol="0" anchor="t"/>
          <a:lstStyle/>
          <a:p>
            <a:pPr algn="l" indent="0" marL="0">
              <a:lnSpc>
                <a:spcPts val="1650"/>
              </a:lnSpc>
              <a:buNone/>
            </a:pPr>
            <a:r>
              <a:rPr lang="en-US" sz="1350" dirty="0">
                <a:solidFill>
                  <a:srgbClr val="464646"/>
                </a:solidFill>
                <a:latin typeface="Montserrat Semi Bold" pitchFamily="34" charset="0"/>
                <a:ea typeface="Montserrat Semi Bold" pitchFamily="34" charset="-122"/>
                <a:cs typeface="Montserrat Semi Bold" pitchFamily="34" charset="-120"/>
              </a:rPr>
              <a:t>Industrie 4.0</a:t>
            </a:r>
            <a:endParaRPr lang="en-US" sz="1350" dirty="0"/>
          </a:p>
        </p:txBody>
      </p:sp>
      <p:sp>
        <p:nvSpPr>
          <p:cNvPr id="15" name="Text 9"/>
          <p:cNvSpPr/>
          <p:nvPr/>
        </p:nvSpPr>
        <p:spPr>
          <a:xfrm>
            <a:off x="9520384" y="5142125"/>
            <a:ext cx="1832853" cy="376613"/>
          </a:xfrm>
          <a:prstGeom prst="rect">
            <a:avLst/>
          </a:prstGeom>
          <a:noFill/>
          <a:ln/>
        </p:spPr>
        <p:txBody>
          <a:bodyPr wrap="square" lIns="0" tIns="0" rIns="0" bIns="0" rtlCol="0" anchor="t"/>
          <a:lstStyle/>
          <a:p>
            <a:pPr algn="l" indent="0" marL="0">
              <a:lnSpc>
                <a:spcPts val="1350"/>
              </a:lnSpc>
              <a:buNone/>
            </a:pPr>
            <a:r>
              <a:rPr lang="en-US" sz="1050" dirty="0">
                <a:solidFill>
                  <a:srgbClr val="464646"/>
                </a:solidFill>
                <a:latin typeface="PT Sans" pitchFamily="34" charset="0"/>
                <a:ea typeface="PT Sans" pitchFamily="34" charset="-122"/>
                <a:cs typeface="PT Sans" pitchFamily="34" charset="-120"/>
              </a:rPr>
              <a:t>Vernetzte Produktion, IoT und intelligente Fertigung</a:t>
            </a:r>
            <a:endParaRPr lang="en-US" sz="1050" dirty="0"/>
          </a:p>
        </p:txBody>
      </p:sp>
      <p:pic>
        <p:nvPicPr>
          <p:cNvPr id="16"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418528" y="5659446"/>
            <a:ext cx="212891" cy="212892"/>
          </a:xfrm>
          <a:prstGeom prst="rect">
            <a:avLst/>
          </a:prstGeom>
        </p:spPr>
      </p:pic>
      <p:sp>
        <p:nvSpPr>
          <p:cNvPr id="17" name="Text 10"/>
          <p:cNvSpPr/>
          <p:nvPr/>
        </p:nvSpPr>
        <p:spPr>
          <a:xfrm>
            <a:off x="793790" y="6540698"/>
            <a:ext cx="13042821"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Das KI-Ökosystem ist hochgradig vernetzt. Künstliche Intelligenz treibt die digitale Transformation voran, ermöglicht Industrie 4.0-Anwendungen und bietet besonders für kleine und mittlere Unternehmen neue Chancen durch maschinelles Lernen.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274808"/>
            <a:ext cx="5492472" cy="460772"/>
          </a:xfrm>
          <a:prstGeom prst="rect">
            <a:avLst/>
          </a:prstGeom>
          <a:noFill/>
          <a:ln/>
        </p:spPr>
        <p:txBody>
          <a:bodyPr wrap="none" lIns="0" tIns="0" rIns="0" bIns="0" rtlCol="0" anchor="t"/>
          <a:lstStyle/>
          <a:p>
            <a:pPr algn="l" indent="0" marL="0">
              <a:lnSpc>
                <a:spcPts val="3600"/>
              </a:lnSpc>
              <a:buNone/>
            </a:pPr>
            <a:r>
              <a:rPr lang="en-US" sz="2900" dirty="0">
                <a:solidFill>
                  <a:srgbClr val="030303"/>
                </a:solidFill>
                <a:latin typeface="Montserrat Semi Bold" pitchFamily="34" charset="0"/>
                <a:ea typeface="Montserrat Semi Bold" pitchFamily="34" charset="-122"/>
                <a:cs typeface="Montserrat Semi Bold" pitchFamily="34" charset="-120"/>
              </a:rPr>
              <a:t>Anwendungsbereiche von KI</a:t>
            </a:r>
            <a:endParaRPr lang="en-US" sz="2900" dirty="0"/>
          </a:p>
        </p:txBody>
      </p:sp>
      <p:sp>
        <p:nvSpPr>
          <p:cNvPr id="3" name="Shape 1"/>
          <p:cNvSpPr/>
          <p:nvPr/>
        </p:nvSpPr>
        <p:spPr>
          <a:xfrm>
            <a:off x="793790" y="3030379"/>
            <a:ext cx="4249341" cy="1689854"/>
          </a:xfrm>
          <a:prstGeom prst="roundRect">
            <a:avLst>
              <a:gd name="adj" fmla="val 541"/>
            </a:avLst>
          </a:prstGeom>
          <a:solidFill>
            <a:srgbClr val="F9F7F7"/>
          </a:solidFill>
          <a:ln w="7620">
            <a:solidFill>
              <a:srgbClr val="D8D4D4"/>
            </a:solidFill>
            <a:prstDash val="solid"/>
          </a:ln>
        </p:spPr>
      </p:sp>
      <p:sp>
        <p:nvSpPr>
          <p:cNvPr id="4" name="Shape 2"/>
          <p:cNvSpPr/>
          <p:nvPr/>
        </p:nvSpPr>
        <p:spPr>
          <a:xfrm>
            <a:off x="948809" y="3185398"/>
            <a:ext cx="442198" cy="442198"/>
          </a:xfrm>
          <a:prstGeom prst="roundRect">
            <a:avLst>
              <a:gd name="adj" fmla="val 20676452"/>
            </a:avLst>
          </a:prstGeom>
          <a:solidFill>
            <a:srgbClr val="1C9770"/>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70372" y="3306961"/>
            <a:ext cx="198953" cy="198953"/>
          </a:xfrm>
          <a:prstGeom prst="rect">
            <a:avLst/>
          </a:prstGeom>
        </p:spPr>
      </p:pic>
      <p:sp>
        <p:nvSpPr>
          <p:cNvPr id="6" name="Text 3"/>
          <p:cNvSpPr/>
          <p:nvPr/>
        </p:nvSpPr>
        <p:spPr>
          <a:xfrm>
            <a:off x="948809" y="3774996"/>
            <a:ext cx="3027521" cy="2303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Montserrat Semi Bold" pitchFamily="34" charset="0"/>
                <a:ea typeface="Montserrat Semi Bold" pitchFamily="34" charset="-122"/>
                <a:cs typeface="Montserrat Semi Bold" pitchFamily="34" charset="-120"/>
              </a:rPr>
              <a:t>Automatisierung von Prozessen</a:t>
            </a:r>
            <a:endParaRPr lang="en-US" sz="1450" dirty="0"/>
          </a:p>
        </p:txBody>
      </p:sp>
      <p:sp>
        <p:nvSpPr>
          <p:cNvPr id="7" name="Text 4"/>
          <p:cNvSpPr/>
          <p:nvPr/>
        </p:nvSpPr>
        <p:spPr>
          <a:xfrm>
            <a:off x="948809" y="4093726"/>
            <a:ext cx="3939302"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KI automatisiert repetitive Aufgaben und führt zu erheblicher Zeit- und Kostenersparnis in Unternehmen.</a:t>
            </a:r>
            <a:endParaRPr lang="en-US" sz="1150" dirty="0"/>
          </a:p>
        </p:txBody>
      </p:sp>
      <p:sp>
        <p:nvSpPr>
          <p:cNvPr id="8" name="Shape 5"/>
          <p:cNvSpPr/>
          <p:nvPr/>
        </p:nvSpPr>
        <p:spPr>
          <a:xfrm>
            <a:off x="5190530" y="3030379"/>
            <a:ext cx="4249341" cy="1689854"/>
          </a:xfrm>
          <a:prstGeom prst="roundRect">
            <a:avLst>
              <a:gd name="adj" fmla="val 541"/>
            </a:avLst>
          </a:prstGeom>
          <a:solidFill>
            <a:srgbClr val="F9F7F7"/>
          </a:solidFill>
          <a:ln w="7620">
            <a:solidFill>
              <a:srgbClr val="D8D4D4"/>
            </a:solidFill>
            <a:prstDash val="solid"/>
          </a:ln>
        </p:spPr>
      </p:sp>
      <p:sp>
        <p:nvSpPr>
          <p:cNvPr id="9" name="Shape 6"/>
          <p:cNvSpPr/>
          <p:nvPr/>
        </p:nvSpPr>
        <p:spPr>
          <a:xfrm>
            <a:off x="5345549" y="3185398"/>
            <a:ext cx="442198" cy="442198"/>
          </a:xfrm>
          <a:prstGeom prst="roundRect">
            <a:avLst>
              <a:gd name="adj" fmla="val 20676452"/>
            </a:avLst>
          </a:prstGeom>
          <a:solidFill>
            <a:srgbClr val="1C9770"/>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67112" y="3306961"/>
            <a:ext cx="198953" cy="198953"/>
          </a:xfrm>
          <a:prstGeom prst="rect">
            <a:avLst/>
          </a:prstGeom>
        </p:spPr>
      </p:pic>
      <p:sp>
        <p:nvSpPr>
          <p:cNvPr id="11" name="Text 7"/>
          <p:cNvSpPr/>
          <p:nvPr/>
        </p:nvSpPr>
        <p:spPr>
          <a:xfrm>
            <a:off x="5345549" y="3774996"/>
            <a:ext cx="3358396" cy="2303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Montserrat Semi Bold" pitchFamily="34" charset="0"/>
                <a:ea typeface="Montserrat Semi Bold" pitchFamily="34" charset="-122"/>
                <a:cs typeface="Montserrat Semi Bold" pitchFamily="34" charset="-120"/>
              </a:rPr>
              <a:t>Verbesserte Entscheidungsfindung</a:t>
            </a:r>
            <a:endParaRPr lang="en-US" sz="1450" dirty="0"/>
          </a:p>
        </p:txBody>
      </p:sp>
      <p:sp>
        <p:nvSpPr>
          <p:cNvPr id="12" name="Text 8"/>
          <p:cNvSpPr/>
          <p:nvPr/>
        </p:nvSpPr>
        <p:spPr>
          <a:xfrm>
            <a:off x="5345549" y="4093726"/>
            <a:ext cx="3939302"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Durch Analyse großer Datenmengen unterstützt KI fundierte, datenbasierte Entscheidungen.</a:t>
            </a:r>
            <a:endParaRPr lang="en-US" sz="1150" dirty="0"/>
          </a:p>
        </p:txBody>
      </p:sp>
      <p:sp>
        <p:nvSpPr>
          <p:cNvPr id="13" name="Shape 9"/>
          <p:cNvSpPr/>
          <p:nvPr/>
        </p:nvSpPr>
        <p:spPr>
          <a:xfrm>
            <a:off x="9587270" y="3030379"/>
            <a:ext cx="4249341" cy="1689854"/>
          </a:xfrm>
          <a:prstGeom prst="roundRect">
            <a:avLst>
              <a:gd name="adj" fmla="val 541"/>
            </a:avLst>
          </a:prstGeom>
          <a:solidFill>
            <a:srgbClr val="F9F7F7"/>
          </a:solidFill>
          <a:ln w="7620">
            <a:solidFill>
              <a:srgbClr val="D8D4D4"/>
            </a:solidFill>
            <a:prstDash val="solid"/>
          </a:ln>
        </p:spPr>
      </p:sp>
      <p:sp>
        <p:nvSpPr>
          <p:cNvPr id="14" name="Shape 10"/>
          <p:cNvSpPr/>
          <p:nvPr/>
        </p:nvSpPr>
        <p:spPr>
          <a:xfrm>
            <a:off x="9742289" y="3185398"/>
            <a:ext cx="442198" cy="442198"/>
          </a:xfrm>
          <a:prstGeom prst="roundRect">
            <a:avLst>
              <a:gd name="adj" fmla="val 20676452"/>
            </a:avLst>
          </a:prstGeom>
          <a:solidFill>
            <a:srgbClr val="1C9770"/>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63852" y="3306961"/>
            <a:ext cx="198953" cy="198953"/>
          </a:xfrm>
          <a:prstGeom prst="rect">
            <a:avLst/>
          </a:prstGeom>
        </p:spPr>
      </p:pic>
      <p:sp>
        <p:nvSpPr>
          <p:cNvPr id="16" name="Text 11"/>
          <p:cNvSpPr/>
          <p:nvPr/>
        </p:nvSpPr>
        <p:spPr>
          <a:xfrm>
            <a:off x="9742289" y="3774996"/>
            <a:ext cx="1985248" cy="2303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Montserrat Semi Bold" pitchFamily="34" charset="0"/>
                <a:ea typeface="Montserrat Semi Bold" pitchFamily="34" charset="-122"/>
                <a:cs typeface="Montserrat Semi Bold" pitchFamily="34" charset="-120"/>
              </a:rPr>
              <a:t>Innovative Lösungen</a:t>
            </a:r>
            <a:endParaRPr lang="en-US" sz="1450" dirty="0"/>
          </a:p>
        </p:txBody>
      </p:sp>
      <p:sp>
        <p:nvSpPr>
          <p:cNvPr id="17" name="Text 12"/>
          <p:cNvSpPr/>
          <p:nvPr/>
        </p:nvSpPr>
        <p:spPr>
          <a:xfrm>
            <a:off x="9742289" y="4093726"/>
            <a:ext cx="3939302"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KI ermöglicht neue Produkte und Dienstleistungen, die zuvor nicht möglich waren.</a:t>
            </a:r>
            <a:endParaRPr lang="en-US" sz="1150" dirty="0"/>
          </a:p>
        </p:txBody>
      </p:sp>
      <p:sp>
        <p:nvSpPr>
          <p:cNvPr id="18" name="Shape 13"/>
          <p:cNvSpPr/>
          <p:nvPr/>
        </p:nvSpPr>
        <p:spPr>
          <a:xfrm>
            <a:off x="793790" y="4959737"/>
            <a:ext cx="13042821" cy="25956"/>
          </a:xfrm>
          <a:prstGeom prst="rect">
            <a:avLst/>
          </a:prstGeom>
          <a:solidFill>
            <a:srgbClr val="464646">
              <a:alpha val="50000"/>
            </a:srgbClr>
          </a:solidFill>
          <a:ln/>
        </p:spPr>
      </p:sp>
      <p:sp>
        <p:nvSpPr>
          <p:cNvPr id="19" name="Text 14"/>
          <p:cNvSpPr/>
          <p:nvPr/>
        </p:nvSpPr>
        <p:spPr>
          <a:xfrm>
            <a:off x="1014889" y="5317331"/>
            <a:ext cx="12821722"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Die Balance zwischen technologischem Fortschritt und der Sicherstellung einer menschenzentrierten und vertrauenswürdigen KI ist entscheidend für die langfristige Wettbewerbsfähigkeit und Resilienz, insbesondere in Europa.</a:t>
            </a:r>
            <a:endParaRPr lang="en-US" sz="1150" dirty="0"/>
          </a:p>
        </p:txBody>
      </p:sp>
      <p:sp>
        <p:nvSpPr>
          <p:cNvPr id="20" name="Shape 15"/>
          <p:cNvSpPr/>
          <p:nvPr/>
        </p:nvSpPr>
        <p:spPr>
          <a:xfrm>
            <a:off x="793790" y="5151477"/>
            <a:ext cx="15240" cy="803196"/>
          </a:xfrm>
          <a:prstGeom prst="rect">
            <a:avLst/>
          </a:prstGeom>
          <a:solidFill>
            <a:srgbClr val="1C9770"/>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324695"/>
            <a:ext cx="4471988" cy="496133"/>
          </a:xfrm>
          <a:prstGeom prst="rect">
            <a:avLst/>
          </a:prstGeom>
          <a:noFill/>
          <a:ln/>
        </p:spPr>
        <p:txBody>
          <a:bodyPr wrap="none" lIns="0" tIns="0" rIns="0" bIns="0" rtlCol="0" anchor="t"/>
          <a:lstStyle/>
          <a:p>
            <a:pPr algn="l" indent="0" marL="0">
              <a:lnSpc>
                <a:spcPts val="3900"/>
              </a:lnSpc>
              <a:buNone/>
            </a:pPr>
            <a:r>
              <a:rPr lang="en-US" sz="3100" dirty="0">
                <a:solidFill>
                  <a:srgbClr val="030303"/>
                </a:solidFill>
                <a:latin typeface="Montserrat Semi Bold" pitchFamily="34" charset="0"/>
                <a:ea typeface="Montserrat Semi Bold" pitchFamily="34" charset="-122"/>
                <a:cs typeface="Montserrat Semi Bold" pitchFamily="34" charset="-120"/>
              </a:rPr>
              <a:t>KI und Nachhaltigkeit</a:t>
            </a:r>
            <a:endParaRPr lang="en-US" sz="3100" dirty="0"/>
          </a:p>
        </p:txBody>
      </p:sp>
      <p:sp>
        <p:nvSpPr>
          <p:cNvPr id="3" name="Text 1"/>
          <p:cNvSpPr/>
          <p:nvPr/>
        </p:nvSpPr>
        <p:spPr>
          <a:xfrm>
            <a:off x="793790" y="3217664"/>
            <a:ext cx="2381607" cy="297656"/>
          </a:xfrm>
          <a:prstGeom prst="rect">
            <a:avLst/>
          </a:prstGeom>
          <a:noFill/>
          <a:ln/>
        </p:spPr>
        <p:txBody>
          <a:bodyPr wrap="none" lIns="0" tIns="0" rIns="0" bIns="0" rtlCol="0" anchor="t"/>
          <a:lstStyle/>
          <a:p>
            <a:pPr algn="l" indent="0" marL="0">
              <a:lnSpc>
                <a:spcPts val="2300"/>
              </a:lnSpc>
              <a:buNone/>
            </a:pPr>
            <a:r>
              <a:rPr lang="en-US" sz="1850" dirty="0">
                <a:solidFill>
                  <a:srgbClr val="030303"/>
                </a:solidFill>
                <a:latin typeface="Montserrat Semi Bold" pitchFamily="34" charset="0"/>
                <a:ea typeface="Montserrat Semi Bold" pitchFamily="34" charset="-122"/>
                <a:cs typeface="Montserrat Semi Bold" pitchFamily="34" charset="-120"/>
              </a:rPr>
              <a:t>Zentrale Fragen</a:t>
            </a:r>
            <a:endParaRPr lang="en-US" sz="1850" dirty="0"/>
          </a:p>
        </p:txBody>
      </p:sp>
      <p:sp>
        <p:nvSpPr>
          <p:cNvPr id="4" name="Text 2"/>
          <p:cNvSpPr/>
          <p:nvPr/>
        </p:nvSpPr>
        <p:spPr>
          <a:xfrm>
            <a:off x="793790" y="3674031"/>
            <a:ext cx="6327815"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464646"/>
                </a:solidFill>
                <a:latin typeface="PT Sans" pitchFamily="34" charset="0"/>
                <a:ea typeface="PT Sans" pitchFamily="34" charset="-122"/>
                <a:cs typeface="PT Sans" pitchFamily="34" charset="-120"/>
              </a:rPr>
              <a:t>Wie verhält sich KI zur Nachhaltigkeit?</a:t>
            </a:r>
            <a:endParaRPr lang="en-US" sz="1250" dirty="0"/>
          </a:p>
        </p:txBody>
      </p:sp>
      <p:sp>
        <p:nvSpPr>
          <p:cNvPr id="5" name="Text 3"/>
          <p:cNvSpPr/>
          <p:nvPr/>
        </p:nvSpPr>
        <p:spPr>
          <a:xfrm>
            <a:off x="793790" y="3983593"/>
            <a:ext cx="6327815"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464646"/>
                </a:solidFill>
                <a:latin typeface="PT Sans" pitchFamily="34" charset="0"/>
                <a:ea typeface="PT Sans" pitchFamily="34" charset="-122"/>
                <a:cs typeface="PT Sans" pitchFamily="34" charset="-120"/>
              </a:rPr>
              <a:t>Gibt es so etwas wie nachhaltige KI?</a:t>
            </a:r>
            <a:endParaRPr lang="en-US" sz="1250" dirty="0"/>
          </a:p>
        </p:txBody>
      </p:sp>
      <p:sp>
        <p:nvSpPr>
          <p:cNvPr id="6" name="Text 4"/>
          <p:cNvSpPr/>
          <p:nvPr/>
        </p:nvSpPr>
        <p:spPr>
          <a:xfrm>
            <a:off x="793790" y="4293156"/>
            <a:ext cx="6327815"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464646"/>
                </a:solidFill>
                <a:latin typeface="PT Sans" pitchFamily="34" charset="0"/>
                <a:ea typeface="PT Sans" pitchFamily="34" charset="-122"/>
                <a:cs typeface="PT Sans" pitchFamily="34" charset="-120"/>
              </a:rPr>
              <a:t>Welche Rolle spielt Ressourcenoptimierung?</a:t>
            </a:r>
            <a:endParaRPr lang="en-US" sz="1250" dirty="0"/>
          </a:p>
        </p:txBody>
      </p:sp>
      <p:sp>
        <p:nvSpPr>
          <p:cNvPr id="7" name="Text 5"/>
          <p:cNvSpPr/>
          <p:nvPr/>
        </p:nvSpPr>
        <p:spPr>
          <a:xfrm>
            <a:off x="793790" y="4602718"/>
            <a:ext cx="6327815" cy="254079"/>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464646"/>
                </a:solidFill>
                <a:latin typeface="PT Sans" pitchFamily="34" charset="0"/>
                <a:ea typeface="PT Sans" pitchFamily="34" charset="-122"/>
                <a:cs typeface="PT Sans" pitchFamily="34" charset="-120"/>
              </a:rPr>
              <a:t>Wie können wir Umweltauswirkungen minimieren?</a:t>
            </a:r>
            <a:endParaRPr lang="en-US" sz="1250" dirty="0"/>
          </a:p>
        </p:txBody>
      </p:sp>
      <p:sp>
        <p:nvSpPr>
          <p:cNvPr id="8" name="Text 6"/>
          <p:cNvSpPr/>
          <p:nvPr/>
        </p:nvSpPr>
        <p:spPr>
          <a:xfrm>
            <a:off x="793790" y="4999673"/>
            <a:ext cx="6327815" cy="762238"/>
          </a:xfrm>
          <a:prstGeom prst="rect">
            <a:avLst/>
          </a:prstGeom>
          <a:noFill/>
          <a:ln/>
        </p:spPr>
        <p:txBody>
          <a:bodyPr wrap="square" lIns="0" tIns="0" rIns="0" bIns="0" rtlCol="0" anchor="t"/>
          <a:lstStyle/>
          <a:p>
            <a:pPr algn="l" indent="0" marL="0">
              <a:lnSpc>
                <a:spcPts val="2000"/>
              </a:lnSpc>
              <a:buNone/>
            </a:pPr>
            <a:r>
              <a:rPr lang="en-US" sz="1250" dirty="0">
                <a:solidFill>
                  <a:srgbClr val="464646"/>
                </a:solidFill>
                <a:latin typeface="PT Sans" pitchFamily="34" charset="0"/>
                <a:ea typeface="PT Sans" pitchFamily="34" charset="-122"/>
                <a:cs typeface="PT Sans" pitchFamily="34" charset="-120"/>
              </a:rPr>
              <a:t>Die Beziehung zwischen KI und Nachhaltigkeit ist komplex und erfordert einen ganzheitlichen Ansatz, der sowohl die Vorteile als auch die Herausforderungen berücksichtigt.</a:t>
            </a:r>
            <a:endParaRPr lang="en-US" sz="1250" dirty="0"/>
          </a:p>
        </p:txBody>
      </p:sp>
      <p:sp>
        <p:nvSpPr>
          <p:cNvPr id="9" name="Shape 7"/>
          <p:cNvSpPr/>
          <p:nvPr/>
        </p:nvSpPr>
        <p:spPr>
          <a:xfrm>
            <a:off x="7516416" y="3237548"/>
            <a:ext cx="6327815" cy="1843564"/>
          </a:xfrm>
          <a:prstGeom prst="roundRect">
            <a:avLst>
              <a:gd name="adj" fmla="val 496"/>
            </a:avLst>
          </a:prstGeom>
          <a:solidFill>
            <a:srgbClr val="BEF3E2"/>
          </a:solidFill>
          <a:ln/>
        </p:spPr>
      </p:sp>
      <p:pic>
        <p:nvPicPr>
          <p:cNvPr id="10" name="Image 0" descr="preencoded.png">    </p:cNvPr>
          <p:cNvPicPr>
            <a:picLocks noChangeAspect="1"/>
          </p:cNvPicPr>
          <p:nvPr/>
        </p:nvPicPr>
        <p:blipFill>
          <a:blip r:embed="rId1"/>
          <a:stretch>
            <a:fillRect/>
          </a:stretch>
        </p:blipFill>
        <p:spPr>
          <a:xfrm>
            <a:off x="7675126" y="3452813"/>
            <a:ext cx="248007" cy="198358"/>
          </a:xfrm>
          <a:prstGeom prst="rect">
            <a:avLst/>
          </a:prstGeom>
        </p:spPr>
      </p:pic>
      <p:sp>
        <p:nvSpPr>
          <p:cNvPr id="11" name="Text 8"/>
          <p:cNvSpPr/>
          <p:nvPr/>
        </p:nvSpPr>
        <p:spPr>
          <a:xfrm>
            <a:off x="8081843" y="3435906"/>
            <a:ext cx="2687836" cy="248007"/>
          </a:xfrm>
          <a:prstGeom prst="rect">
            <a:avLst/>
          </a:prstGeom>
          <a:noFill/>
          <a:ln/>
        </p:spPr>
        <p:txBody>
          <a:bodyPr wrap="none" lIns="0" tIns="0" rIns="0" bIns="0" rtlCol="0" anchor="t"/>
          <a:lstStyle/>
          <a:p>
            <a:pPr algn="l" indent="0" marL="0">
              <a:lnSpc>
                <a:spcPts val="1950"/>
              </a:lnSpc>
              <a:buNone/>
            </a:pPr>
            <a:r>
              <a:rPr lang="en-US" sz="1550" dirty="0">
                <a:solidFill>
                  <a:srgbClr val="000000"/>
                </a:solidFill>
                <a:latin typeface="Montserrat Semi Bold" pitchFamily="34" charset="0"/>
                <a:ea typeface="Montserrat Semi Bold" pitchFamily="34" charset="-122"/>
                <a:cs typeface="Montserrat Semi Bold" pitchFamily="34" charset="-120"/>
              </a:rPr>
              <a:t>Nachhaltige Technologien</a:t>
            </a:r>
            <a:endParaRPr lang="en-US" sz="1550" dirty="0"/>
          </a:p>
        </p:txBody>
      </p:sp>
      <p:sp>
        <p:nvSpPr>
          <p:cNvPr id="12" name="Text 9"/>
          <p:cNvSpPr/>
          <p:nvPr/>
        </p:nvSpPr>
        <p:spPr>
          <a:xfrm>
            <a:off x="8081843" y="3842623"/>
            <a:ext cx="5603677" cy="1016318"/>
          </a:xfrm>
          <a:prstGeom prst="rect">
            <a:avLst/>
          </a:prstGeom>
          <a:noFill/>
          <a:ln/>
        </p:spPr>
        <p:txBody>
          <a:bodyPr wrap="square" lIns="0" tIns="0" rIns="0" bIns="0" rtlCol="0" anchor="t"/>
          <a:lstStyle/>
          <a:p>
            <a:pPr algn="l" indent="0" marL="0">
              <a:lnSpc>
                <a:spcPts val="2000"/>
              </a:lnSpc>
              <a:buNone/>
            </a:pPr>
            <a:r>
              <a:rPr lang="en-US" sz="1250" dirty="0">
                <a:solidFill>
                  <a:srgbClr val="000000"/>
                </a:solidFill>
                <a:latin typeface="PT Sans" pitchFamily="34" charset="0"/>
                <a:ea typeface="PT Sans" pitchFamily="34" charset="-122"/>
                <a:cs typeface="PT Sans" pitchFamily="34" charset="-120"/>
              </a:rPr>
              <a:t>KI kann zur Entwicklung nachhaltiger Technologien beitragen, indem sie Ressourcenverbrauch optimiert und umweltfreundliche Lösungen ermöglicht. Gleichzeitig muss der eigene Energieverbrauch von KI-Systemen kritisch betrachtet werden.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180153"/>
            <a:ext cx="5167551" cy="460772"/>
          </a:xfrm>
          <a:prstGeom prst="rect">
            <a:avLst/>
          </a:prstGeom>
          <a:noFill/>
          <a:ln/>
        </p:spPr>
        <p:txBody>
          <a:bodyPr wrap="none" lIns="0" tIns="0" rIns="0" bIns="0" rtlCol="0" anchor="t"/>
          <a:lstStyle/>
          <a:p>
            <a:pPr algn="l" indent="0" marL="0">
              <a:lnSpc>
                <a:spcPts val="3600"/>
              </a:lnSpc>
              <a:buNone/>
            </a:pPr>
            <a:r>
              <a:rPr lang="en-US" sz="2900" dirty="0">
                <a:solidFill>
                  <a:srgbClr val="030303"/>
                </a:solidFill>
                <a:latin typeface="Montserrat Semi Bold" pitchFamily="34" charset="0"/>
                <a:ea typeface="Montserrat Semi Bold" pitchFamily="34" charset="-122"/>
                <a:cs typeface="Montserrat Semi Bold" pitchFamily="34" charset="-120"/>
              </a:rPr>
              <a:t>Vier Säulen nachhaltiger KI</a:t>
            </a:r>
            <a:endParaRPr lang="en-US" sz="2900" dirty="0"/>
          </a:p>
        </p:txBody>
      </p:sp>
      <p:pic>
        <p:nvPicPr>
          <p:cNvPr id="3" name="Image 0" descr="preencoded.png">    </p:cNvPr>
          <p:cNvPicPr>
            <a:picLocks noChangeAspect="1"/>
          </p:cNvPicPr>
          <p:nvPr/>
        </p:nvPicPr>
        <p:blipFill>
          <a:blip r:embed="rId1"/>
          <a:stretch>
            <a:fillRect/>
          </a:stretch>
        </p:blipFill>
        <p:spPr>
          <a:xfrm>
            <a:off x="793790" y="2935724"/>
            <a:ext cx="6521410" cy="589717"/>
          </a:xfrm>
          <a:prstGeom prst="rect">
            <a:avLst/>
          </a:prstGeom>
        </p:spPr>
      </p:pic>
      <p:sp>
        <p:nvSpPr>
          <p:cNvPr id="4" name="Text 1"/>
          <p:cNvSpPr/>
          <p:nvPr/>
        </p:nvSpPr>
        <p:spPr>
          <a:xfrm>
            <a:off x="941189" y="3672840"/>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Montserrat Semi Bold" pitchFamily="34" charset="0"/>
                <a:ea typeface="Montserrat Semi Bold" pitchFamily="34" charset="-122"/>
                <a:cs typeface="Montserrat Semi Bold" pitchFamily="34" charset="-120"/>
              </a:rPr>
              <a:t>Energieeffizienz</a:t>
            </a:r>
            <a:endParaRPr lang="en-US" sz="1450" dirty="0"/>
          </a:p>
        </p:txBody>
      </p:sp>
      <p:sp>
        <p:nvSpPr>
          <p:cNvPr id="5" name="Text 2"/>
          <p:cNvSpPr/>
          <p:nvPr/>
        </p:nvSpPr>
        <p:spPr>
          <a:xfrm>
            <a:off x="941189" y="3991570"/>
            <a:ext cx="6226612" cy="235744"/>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Entwicklung energieeffizienter Algorithmen und Modelle, die weniger Rechenleistung benötigen.</a:t>
            </a:r>
            <a:endParaRPr lang="en-US" sz="1150" dirty="0"/>
          </a:p>
        </p:txBody>
      </p:sp>
      <p:pic>
        <p:nvPicPr>
          <p:cNvPr id="6" name="Image 1" descr="preencoded.png">    </p:cNvPr>
          <p:cNvPicPr>
            <a:picLocks noChangeAspect="1"/>
          </p:cNvPicPr>
          <p:nvPr/>
        </p:nvPicPr>
        <p:blipFill>
          <a:blip r:embed="rId2"/>
          <a:stretch>
            <a:fillRect/>
          </a:stretch>
        </p:blipFill>
        <p:spPr>
          <a:xfrm>
            <a:off x="7315200" y="2935724"/>
            <a:ext cx="6521410" cy="589717"/>
          </a:xfrm>
          <a:prstGeom prst="rect">
            <a:avLst/>
          </a:prstGeom>
        </p:spPr>
      </p:pic>
      <p:sp>
        <p:nvSpPr>
          <p:cNvPr id="7" name="Text 3"/>
          <p:cNvSpPr/>
          <p:nvPr/>
        </p:nvSpPr>
        <p:spPr>
          <a:xfrm>
            <a:off x="7462599" y="3672840"/>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Montserrat Semi Bold" pitchFamily="34" charset="0"/>
                <a:ea typeface="Montserrat Semi Bold" pitchFamily="34" charset="-122"/>
                <a:cs typeface="Montserrat Semi Bold" pitchFamily="34" charset="-120"/>
              </a:rPr>
              <a:t>Grünes Computing</a:t>
            </a:r>
            <a:endParaRPr lang="en-US" sz="1450" dirty="0"/>
          </a:p>
        </p:txBody>
      </p:sp>
      <p:sp>
        <p:nvSpPr>
          <p:cNvPr id="8" name="Text 4"/>
          <p:cNvSpPr/>
          <p:nvPr/>
        </p:nvSpPr>
        <p:spPr>
          <a:xfrm>
            <a:off x="7462599" y="3991570"/>
            <a:ext cx="6226612" cy="235744"/>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Nutzung erneuerbarer Energien in Rechenzentren und nachhaltige Hardware-Infrastruktur.</a:t>
            </a:r>
            <a:endParaRPr lang="en-US" sz="1150" dirty="0"/>
          </a:p>
        </p:txBody>
      </p:sp>
      <p:pic>
        <p:nvPicPr>
          <p:cNvPr id="9" name="Image 2" descr="preencoded.png">    </p:cNvPr>
          <p:cNvPicPr>
            <a:picLocks noChangeAspect="1"/>
          </p:cNvPicPr>
          <p:nvPr/>
        </p:nvPicPr>
        <p:blipFill>
          <a:blip r:embed="rId3"/>
          <a:stretch>
            <a:fillRect/>
          </a:stretch>
        </p:blipFill>
        <p:spPr>
          <a:xfrm>
            <a:off x="793790" y="4374713"/>
            <a:ext cx="6521410" cy="589717"/>
          </a:xfrm>
          <a:prstGeom prst="rect">
            <a:avLst/>
          </a:prstGeom>
        </p:spPr>
      </p:pic>
      <p:sp>
        <p:nvSpPr>
          <p:cNvPr id="10" name="Text 5"/>
          <p:cNvSpPr/>
          <p:nvPr/>
        </p:nvSpPr>
        <p:spPr>
          <a:xfrm>
            <a:off x="941189" y="5111829"/>
            <a:ext cx="2914293" cy="2303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Montserrat Semi Bold" pitchFamily="34" charset="0"/>
                <a:ea typeface="Montserrat Semi Bold" pitchFamily="34" charset="-122"/>
                <a:cs typeface="Montserrat Semi Bold" pitchFamily="34" charset="-120"/>
              </a:rPr>
              <a:t>Algorithmische Nachhaltigkeit</a:t>
            </a:r>
            <a:endParaRPr lang="en-US" sz="1450" dirty="0"/>
          </a:p>
        </p:txBody>
      </p:sp>
      <p:sp>
        <p:nvSpPr>
          <p:cNvPr id="11" name="Text 6"/>
          <p:cNvSpPr/>
          <p:nvPr/>
        </p:nvSpPr>
        <p:spPr>
          <a:xfrm>
            <a:off x="941189" y="5430560"/>
            <a:ext cx="6226612" cy="235744"/>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Optimierung von Algorithmen für minimalen Ressourcenverbrauch bei maximaler Leistung.</a:t>
            </a:r>
            <a:endParaRPr lang="en-US" sz="1150" dirty="0"/>
          </a:p>
        </p:txBody>
      </p:sp>
      <p:pic>
        <p:nvPicPr>
          <p:cNvPr id="12" name="Image 3" descr="preencoded.png">    </p:cNvPr>
          <p:cNvPicPr>
            <a:picLocks noChangeAspect="1"/>
          </p:cNvPicPr>
          <p:nvPr/>
        </p:nvPicPr>
        <p:blipFill>
          <a:blip r:embed="rId4"/>
          <a:stretch>
            <a:fillRect/>
          </a:stretch>
        </p:blipFill>
        <p:spPr>
          <a:xfrm>
            <a:off x="7315200" y="4374713"/>
            <a:ext cx="6521410" cy="589717"/>
          </a:xfrm>
          <a:prstGeom prst="rect">
            <a:avLst/>
          </a:prstGeom>
        </p:spPr>
      </p:pic>
      <p:sp>
        <p:nvSpPr>
          <p:cNvPr id="13" name="Text 7"/>
          <p:cNvSpPr/>
          <p:nvPr/>
        </p:nvSpPr>
        <p:spPr>
          <a:xfrm>
            <a:off x="7462599" y="5111829"/>
            <a:ext cx="1959054" cy="2303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Montserrat Semi Bold" pitchFamily="34" charset="0"/>
                <a:ea typeface="Montserrat Semi Bold" pitchFamily="34" charset="-122"/>
                <a:cs typeface="Montserrat Semi Bold" pitchFamily="34" charset="-120"/>
              </a:rPr>
              <a:t>Datennachhaltigkeit</a:t>
            </a:r>
            <a:endParaRPr lang="en-US" sz="1450" dirty="0"/>
          </a:p>
        </p:txBody>
      </p:sp>
      <p:sp>
        <p:nvSpPr>
          <p:cNvPr id="14" name="Text 8"/>
          <p:cNvSpPr/>
          <p:nvPr/>
        </p:nvSpPr>
        <p:spPr>
          <a:xfrm>
            <a:off x="7462599" y="5430560"/>
            <a:ext cx="6226612"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Verantwortungsvoller Umgang mit Daten unter Berücksichtigung von Datenschutz und Datensparsamkeit.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2113240"/>
            <a:ext cx="3685937" cy="460772"/>
          </a:xfrm>
          <a:prstGeom prst="rect">
            <a:avLst/>
          </a:prstGeom>
          <a:noFill/>
          <a:ln/>
        </p:spPr>
        <p:txBody>
          <a:bodyPr wrap="none" lIns="0" tIns="0" rIns="0" bIns="0" rtlCol="0" anchor="t"/>
          <a:lstStyle/>
          <a:p>
            <a:pPr algn="l" indent="0" marL="0">
              <a:lnSpc>
                <a:spcPts val="3600"/>
              </a:lnSpc>
              <a:buNone/>
            </a:pPr>
            <a:r>
              <a:rPr lang="en-US" sz="2900" dirty="0">
                <a:solidFill>
                  <a:srgbClr val="030303"/>
                </a:solidFill>
                <a:latin typeface="Montserrat Semi Bold" pitchFamily="34" charset="0"/>
                <a:ea typeface="Montserrat Semi Bold" pitchFamily="34" charset="-122"/>
                <a:cs typeface="Montserrat Semi Bold" pitchFamily="34" charset="-120"/>
              </a:rPr>
              <a:t>KI in der Bildung</a:t>
            </a:r>
            <a:endParaRPr lang="en-US" sz="2900" dirty="0"/>
          </a:p>
        </p:txBody>
      </p:sp>
      <p:sp>
        <p:nvSpPr>
          <p:cNvPr id="3" name="Text 1"/>
          <p:cNvSpPr/>
          <p:nvPr/>
        </p:nvSpPr>
        <p:spPr>
          <a:xfrm>
            <a:off x="793790" y="2942511"/>
            <a:ext cx="3442097" cy="276344"/>
          </a:xfrm>
          <a:prstGeom prst="rect">
            <a:avLst/>
          </a:prstGeom>
          <a:noFill/>
          <a:ln/>
        </p:spPr>
        <p:txBody>
          <a:bodyPr wrap="none" lIns="0" tIns="0" rIns="0" bIns="0" rtlCol="0" anchor="t"/>
          <a:lstStyle/>
          <a:p>
            <a:pPr algn="l" indent="0" marL="0">
              <a:lnSpc>
                <a:spcPts val="2150"/>
              </a:lnSpc>
              <a:buNone/>
            </a:pPr>
            <a:r>
              <a:rPr lang="en-US" sz="1700" dirty="0">
                <a:solidFill>
                  <a:srgbClr val="030303"/>
                </a:solidFill>
                <a:latin typeface="Montserrat Semi Bold" pitchFamily="34" charset="0"/>
                <a:ea typeface="Montserrat Semi Bold" pitchFamily="34" charset="-122"/>
                <a:cs typeface="Montserrat Semi Bold" pitchFamily="34" charset="-120"/>
              </a:rPr>
              <a:t>Transformative Auswirkungen</a:t>
            </a:r>
            <a:endParaRPr lang="en-US" sz="1700" dirty="0"/>
          </a:p>
        </p:txBody>
      </p:sp>
      <p:sp>
        <p:nvSpPr>
          <p:cNvPr id="4" name="Text 2"/>
          <p:cNvSpPr/>
          <p:nvPr/>
        </p:nvSpPr>
        <p:spPr>
          <a:xfrm>
            <a:off x="793790" y="3366254"/>
            <a:ext cx="7681793"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Die rasante Entwicklung von KI hat bedeutende Auswirkungen auf den Bildungssektor. KI wird zunehmend zur Entwicklung von Lehrmaterialien und zur Bereitstellung von Feedback für Studierende eingesetzt.</a:t>
            </a:r>
            <a:endParaRPr lang="en-US" sz="1150" dirty="0"/>
          </a:p>
        </p:txBody>
      </p:sp>
      <p:sp>
        <p:nvSpPr>
          <p:cNvPr id="5" name="Text 3"/>
          <p:cNvSpPr/>
          <p:nvPr/>
        </p:nvSpPr>
        <p:spPr>
          <a:xfrm>
            <a:off x="793790" y="3985141"/>
            <a:ext cx="3050977" cy="230386"/>
          </a:xfrm>
          <a:prstGeom prst="rect">
            <a:avLst/>
          </a:prstGeom>
          <a:noFill/>
          <a:ln/>
        </p:spPr>
        <p:txBody>
          <a:bodyPr wrap="none" lIns="0" tIns="0" rIns="0" bIns="0" rtlCol="0" anchor="t"/>
          <a:lstStyle/>
          <a:p>
            <a:pPr algn="l" indent="0" marL="0">
              <a:lnSpc>
                <a:spcPts val="1800"/>
              </a:lnSpc>
              <a:buNone/>
            </a:pPr>
            <a:r>
              <a:rPr lang="en-US" sz="1450" dirty="0">
                <a:solidFill>
                  <a:srgbClr val="030303"/>
                </a:solidFill>
                <a:latin typeface="Montserrat Semi Bold" pitchFamily="34" charset="0"/>
                <a:ea typeface="Montserrat Semi Bold" pitchFamily="34" charset="-122"/>
                <a:cs typeface="Montserrat Semi Bold" pitchFamily="34" charset="-120"/>
              </a:rPr>
              <a:t>Neue Kompetenzen erforderlich</a:t>
            </a:r>
            <a:endParaRPr lang="en-US" sz="1450" dirty="0"/>
          </a:p>
        </p:txBody>
      </p:sp>
      <p:sp>
        <p:nvSpPr>
          <p:cNvPr id="6" name="Text 4"/>
          <p:cNvSpPr/>
          <p:nvPr/>
        </p:nvSpPr>
        <p:spPr>
          <a:xfrm>
            <a:off x="793790" y="4362926"/>
            <a:ext cx="7681793"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Die zunehmende Verbreitung von KI erfordert eine Anpassung bestehender Praktiken und die Entwicklung neuer Fähigkeiten, die als </a:t>
            </a:r>
            <a:pPr algn="l" indent="0" marL="0">
              <a:lnSpc>
                <a:spcPts val="1850"/>
              </a:lnSpc>
              <a:buNone/>
            </a:pPr>
            <a:r>
              <a:rPr lang="en-US" sz="1150" b="1" dirty="0">
                <a:solidFill>
                  <a:srgbClr val="464646"/>
                </a:solidFill>
                <a:latin typeface="PT Sans" pitchFamily="34" charset="0"/>
                <a:ea typeface="PT Sans" pitchFamily="34" charset="-122"/>
                <a:cs typeface="PT Sans" pitchFamily="34" charset="-120"/>
              </a:rPr>
              <a:t>KI-Kompetenz</a:t>
            </a:r>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 oder </a:t>
            </a:r>
            <a:pPr algn="l" indent="0" marL="0">
              <a:lnSpc>
                <a:spcPts val="1850"/>
              </a:lnSpc>
              <a:buNone/>
            </a:pPr>
            <a:r>
              <a:rPr lang="en-US" sz="1150" b="1" dirty="0">
                <a:solidFill>
                  <a:srgbClr val="464646"/>
                </a:solidFill>
                <a:latin typeface="PT Sans" pitchFamily="34" charset="0"/>
                <a:ea typeface="PT Sans" pitchFamily="34" charset="-122"/>
                <a:cs typeface="PT Sans" pitchFamily="34" charset="-120"/>
              </a:rPr>
              <a:t>KI-Literacy</a:t>
            </a:r>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 bezeichnet werden.</a:t>
            </a:r>
            <a:endParaRPr lang="en-US" sz="1150" dirty="0"/>
          </a:p>
        </p:txBody>
      </p:sp>
      <p:sp>
        <p:nvSpPr>
          <p:cNvPr id="7" name="Text 5"/>
          <p:cNvSpPr/>
          <p:nvPr/>
        </p:nvSpPr>
        <p:spPr>
          <a:xfrm>
            <a:off x="793790" y="4967049"/>
            <a:ext cx="7681793"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Verständnis von KI-Grundlagen</a:t>
            </a:r>
            <a:endParaRPr lang="en-US" sz="1150" dirty="0"/>
          </a:p>
        </p:txBody>
      </p:sp>
      <p:sp>
        <p:nvSpPr>
          <p:cNvPr id="8" name="Text 6"/>
          <p:cNvSpPr/>
          <p:nvPr/>
        </p:nvSpPr>
        <p:spPr>
          <a:xfrm>
            <a:off x="793790" y="5254347"/>
            <a:ext cx="7681793"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Kritische Bewertung von KI-Systemen</a:t>
            </a:r>
            <a:endParaRPr lang="en-US" sz="1150" dirty="0"/>
          </a:p>
        </p:txBody>
      </p:sp>
      <p:sp>
        <p:nvSpPr>
          <p:cNvPr id="9" name="Text 7"/>
          <p:cNvSpPr/>
          <p:nvPr/>
        </p:nvSpPr>
        <p:spPr>
          <a:xfrm>
            <a:off x="793790" y="5541645"/>
            <a:ext cx="7681793"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Ethische Nutzung von KI-Tools</a:t>
            </a:r>
            <a:endParaRPr lang="en-US" sz="1150" dirty="0"/>
          </a:p>
        </p:txBody>
      </p:sp>
      <p:sp>
        <p:nvSpPr>
          <p:cNvPr id="10" name="Text 8"/>
          <p:cNvSpPr/>
          <p:nvPr/>
        </p:nvSpPr>
        <p:spPr>
          <a:xfrm>
            <a:off x="793790" y="5828943"/>
            <a:ext cx="7681793"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Algorithmische Grundkenntnisse</a:t>
            </a:r>
            <a:endParaRPr lang="en-US" sz="1150" dirty="0"/>
          </a:p>
        </p:txBody>
      </p:sp>
      <p:sp>
        <p:nvSpPr>
          <p:cNvPr id="11" name="Shape 9"/>
          <p:cNvSpPr/>
          <p:nvPr/>
        </p:nvSpPr>
        <p:spPr>
          <a:xfrm>
            <a:off x="8842772" y="2960965"/>
            <a:ext cx="5001339" cy="1711285"/>
          </a:xfrm>
          <a:prstGeom prst="roundRect">
            <a:avLst>
              <a:gd name="adj" fmla="val 534"/>
            </a:avLst>
          </a:prstGeom>
          <a:solidFill>
            <a:srgbClr val="BEF3E2"/>
          </a:solidFill>
          <a:ln/>
        </p:spPr>
      </p:sp>
      <p:pic>
        <p:nvPicPr>
          <p:cNvPr id="12" name="Image 0" descr="preencoded.png">    </p:cNvPr>
          <p:cNvPicPr>
            <a:picLocks noChangeAspect="1"/>
          </p:cNvPicPr>
          <p:nvPr/>
        </p:nvPicPr>
        <p:blipFill>
          <a:blip r:embed="rId1"/>
          <a:stretch>
            <a:fillRect/>
          </a:stretch>
        </p:blipFill>
        <p:spPr>
          <a:xfrm>
            <a:off x="8990171" y="3159204"/>
            <a:ext cx="230267" cy="184190"/>
          </a:xfrm>
          <a:prstGeom prst="rect">
            <a:avLst/>
          </a:prstGeom>
        </p:spPr>
      </p:pic>
      <p:sp>
        <p:nvSpPr>
          <p:cNvPr id="13" name="Text 10"/>
          <p:cNvSpPr/>
          <p:nvPr/>
        </p:nvSpPr>
        <p:spPr>
          <a:xfrm>
            <a:off x="9367838" y="3145155"/>
            <a:ext cx="1864995" cy="230386"/>
          </a:xfrm>
          <a:prstGeom prst="rect">
            <a:avLst/>
          </a:prstGeom>
          <a:noFill/>
          <a:ln/>
        </p:spPr>
        <p:txBody>
          <a:bodyPr wrap="none" lIns="0" tIns="0" rIns="0" bIns="0" rtlCol="0" anchor="t"/>
          <a:lstStyle/>
          <a:p>
            <a:pPr algn="l" indent="0" marL="0">
              <a:lnSpc>
                <a:spcPts val="1800"/>
              </a:lnSpc>
              <a:buNone/>
            </a:pPr>
            <a:r>
              <a:rPr lang="en-US" sz="1450" dirty="0">
                <a:solidFill>
                  <a:srgbClr val="000000"/>
                </a:solidFill>
                <a:latin typeface="Montserrat Semi Bold" pitchFamily="34" charset="0"/>
                <a:ea typeface="Montserrat Semi Bold" pitchFamily="34" charset="-122"/>
                <a:cs typeface="Montserrat Semi Bold" pitchFamily="34" charset="-120"/>
              </a:rPr>
              <a:t>Herausforderungen</a:t>
            </a:r>
            <a:endParaRPr lang="en-US" sz="1450" dirty="0"/>
          </a:p>
        </p:txBody>
      </p:sp>
      <p:sp>
        <p:nvSpPr>
          <p:cNvPr id="14" name="Text 11"/>
          <p:cNvSpPr/>
          <p:nvPr/>
        </p:nvSpPr>
        <p:spPr>
          <a:xfrm>
            <a:off x="9367838" y="3522940"/>
            <a:ext cx="4328874" cy="942975"/>
          </a:xfrm>
          <a:prstGeom prst="rect">
            <a:avLst/>
          </a:prstGeom>
          <a:noFill/>
          <a:ln/>
        </p:spPr>
        <p:txBody>
          <a:bodyPr wrap="square" lIns="0" tIns="0" rIns="0" bIns="0" rtlCol="0" anchor="t"/>
          <a:lstStyle/>
          <a:p>
            <a:pPr algn="l" indent="0" marL="0">
              <a:lnSpc>
                <a:spcPts val="1850"/>
              </a:lnSpc>
              <a:buNone/>
            </a:pPr>
            <a:r>
              <a:rPr lang="en-US" sz="1150" dirty="0">
                <a:solidFill>
                  <a:srgbClr val="000000"/>
                </a:solidFill>
                <a:latin typeface="PT Sans" pitchFamily="34" charset="0"/>
                <a:ea typeface="PT Sans" pitchFamily="34" charset="-122"/>
                <a:cs typeface="PT Sans" pitchFamily="34" charset="-120"/>
              </a:rPr>
              <a:t>Bildungseinrichtungen müssen Lehrpläne anpassen, um Studierende auf eine KI-geprägte Zukunft vorzubereiten. Dies erfordert Investitionen in Infrastruktur, Lehrerfortbildung und neue pädagogische Ansätze.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375053"/>
            <a:ext cx="6377702" cy="460772"/>
          </a:xfrm>
          <a:prstGeom prst="rect">
            <a:avLst/>
          </a:prstGeom>
          <a:noFill/>
          <a:ln/>
        </p:spPr>
        <p:txBody>
          <a:bodyPr wrap="none" lIns="0" tIns="0" rIns="0" bIns="0" rtlCol="0" anchor="t"/>
          <a:lstStyle/>
          <a:p>
            <a:pPr algn="l" indent="0" marL="0">
              <a:lnSpc>
                <a:spcPts val="3600"/>
              </a:lnSpc>
              <a:buNone/>
            </a:pPr>
            <a:r>
              <a:rPr lang="en-US" sz="2900" dirty="0">
                <a:solidFill>
                  <a:srgbClr val="030303"/>
                </a:solidFill>
                <a:latin typeface="Montserrat Semi Bold" pitchFamily="34" charset="0"/>
                <a:ea typeface="Montserrat Semi Bold" pitchFamily="34" charset="-122"/>
                <a:cs typeface="Montserrat Semi Bold" pitchFamily="34" charset="-120"/>
              </a:rPr>
              <a:t>Herausforderungen und Chancen</a:t>
            </a:r>
            <a:endParaRPr lang="en-US" sz="2900" dirty="0"/>
          </a:p>
        </p:txBody>
      </p:sp>
      <p:sp>
        <p:nvSpPr>
          <p:cNvPr id="3" name="Shape 1"/>
          <p:cNvSpPr/>
          <p:nvPr/>
        </p:nvSpPr>
        <p:spPr>
          <a:xfrm>
            <a:off x="7307580" y="2130623"/>
            <a:ext cx="15240" cy="4322207"/>
          </a:xfrm>
          <a:prstGeom prst="roundRect">
            <a:avLst>
              <a:gd name="adj" fmla="val 60000"/>
            </a:avLst>
          </a:prstGeom>
          <a:solidFill>
            <a:srgbClr val="D8D4D4"/>
          </a:solidFill>
          <a:ln/>
        </p:spPr>
      </p:sp>
      <p:sp>
        <p:nvSpPr>
          <p:cNvPr id="4" name="Shape 2"/>
          <p:cNvSpPr/>
          <p:nvPr/>
        </p:nvSpPr>
        <p:spPr>
          <a:xfrm>
            <a:off x="778550" y="2130623"/>
            <a:ext cx="6521410" cy="2013704"/>
          </a:xfrm>
          <a:prstGeom prst="roundRect">
            <a:avLst>
              <a:gd name="adj" fmla="val 454"/>
            </a:avLst>
          </a:prstGeom>
          <a:solidFill>
            <a:srgbClr val="F9F7F7"/>
          </a:solidFill>
          <a:ln w="7620">
            <a:solidFill>
              <a:srgbClr val="D8D4D4"/>
            </a:solidFill>
            <a:prstDash val="solid"/>
          </a:ln>
        </p:spPr>
      </p:sp>
      <p:sp>
        <p:nvSpPr>
          <p:cNvPr id="5" name="Text 3"/>
          <p:cNvSpPr/>
          <p:nvPr/>
        </p:nvSpPr>
        <p:spPr>
          <a:xfrm>
            <a:off x="5309592" y="2285643"/>
            <a:ext cx="1842968" cy="230386"/>
          </a:xfrm>
          <a:prstGeom prst="rect">
            <a:avLst/>
          </a:prstGeom>
          <a:noFill/>
          <a:ln/>
        </p:spPr>
        <p:txBody>
          <a:bodyPr wrap="none" lIns="0" tIns="0" rIns="0" bIns="0" rtlCol="0" anchor="t"/>
          <a:lstStyle/>
          <a:p>
            <a:pPr algn="r" indent="0" marL="0">
              <a:lnSpc>
                <a:spcPts val="1800"/>
              </a:lnSpc>
              <a:buNone/>
            </a:pPr>
            <a:r>
              <a:rPr lang="en-US" sz="1450" dirty="0">
                <a:solidFill>
                  <a:srgbClr val="464646"/>
                </a:solidFill>
                <a:latin typeface="Montserrat Semi Bold" pitchFamily="34" charset="0"/>
                <a:ea typeface="Montserrat Semi Bold" pitchFamily="34" charset="-122"/>
                <a:cs typeface="Montserrat Semi Bold" pitchFamily="34" charset="-120"/>
              </a:rPr>
              <a:t>Chancen</a:t>
            </a:r>
            <a:endParaRPr lang="en-US" sz="1450" dirty="0"/>
          </a:p>
        </p:txBody>
      </p:sp>
      <p:sp>
        <p:nvSpPr>
          <p:cNvPr id="6" name="Text 4"/>
          <p:cNvSpPr/>
          <p:nvPr/>
        </p:nvSpPr>
        <p:spPr>
          <a:xfrm>
            <a:off x="933569" y="2604373"/>
            <a:ext cx="6218992"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Erhebliche Steigerung der betrieblichen Effizienz</a:t>
            </a:r>
            <a:endParaRPr lang="en-US" sz="1150" dirty="0"/>
          </a:p>
        </p:txBody>
      </p:sp>
      <p:sp>
        <p:nvSpPr>
          <p:cNvPr id="7" name="Text 5"/>
          <p:cNvSpPr/>
          <p:nvPr/>
        </p:nvSpPr>
        <p:spPr>
          <a:xfrm>
            <a:off x="933569" y="2891671"/>
            <a:ext cx="6218992"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Verbesserte Marktreaktionsfähigkeit</a:t>
            </a:r>
            <a:endParaRPr lang="en-US" sz="1150" dirty="0"/>
          </a:p>
        </p:txBody>
      </p:sp>
      <p:sp>
        <p:nvSpPr>
          <p:cNvPr id="8" name="Text 6"/>
          <p:cNvSpPr/>
          <p:nvPr/>
        </p:nvSpPr>
        <p:spPr>
          <a:xfrm>
            <a:off x="933569" y="3178969"/>
            <a:ext cx="6218992"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Entwicklung innovativer Geschäftsmodelle</a:t>
            </a:r>
            <a:endParaRPr lang="en-US" sz="1150" dirty="0"/>
          </a:p>
        </p:txBody>
      </p:sp>
      <p:sp>
        <p:nvSpPr>
          <p:cNvPr id="9" name="Text 7"/>
          <p:cNvSpPr/>
          <p:nvPr/>
        </p:nvSpPr>
        <p:spPr>
          <a:xfrm>
            <a:off x="933569" y="3466267"/>
            <a:ext cx="6218992"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Automatisierung komplexer Prozesse</a:t>
            </a:r>
            <a:endParaRPr lang="en-US" sz="1150" dirty="0"/>
          </a:p>
        </p:txBody>
      </p:sp>
      <p:sp>
        <p:nvSpPr>
          <p:cNvPr id="10" name="Text 8"/>
          <p:cNvSpPr/>
          <p:nvPr/>
        </p:nvSpPr>
        <p:spPr>
          <a:xfrm>
            <a:off x="933569" y="3753564"/>
            <a:ext cx="6218992"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Neue Erkenntnisse durch Datenanalyse</a:t>
            </a:r>
            <a:endParaRPr lang="en-US" sz="1150" dirty="0"/>
          </a:p>
        </p:txBody>
      </p:sp>
      <p:sp>
        <p:nvSpPr>
          <p:cNvPr id="11" name="Shape 9"/>
          <p:cNvSpPr/>
          <p:nvPr/>
        </p:nvSpPr>
        <p:spPr>
          <a:xfrm>
            <a:off x="7330440" y="4439126"/>
            <a:ext cx="6521410" cy="2013704"/>
          </a:xfrm>
          <a:prstGeom prst="rect">
            <a:avLst/>
          </a:prstGeom>
          <a:solidFill>
            <a:srgbClr val="F9F7F7"/>
          </a:solidFill>
          <a:ln w="7620">
            <a:solidFill>
              <a:srgbClr val="D8D4D4"/>
            </a:solidFill>
            <a:prstDash val="solid"/>
          </a:ln>
        </p:spPr>
      </p:sp>
      <p:sp>
        <p:nvSpPr>
          <p:cNvPr id="12" name="Text 10"/>
          <p:cNvSpPr/>
          <p:nvPr/>
        </p:nvSpPr>
        <p:spPr>
          <a:xfrm>
            <a:off x="7477839" y="4594146"/>
            <a:ext cx="1864995" cy="2303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Montserrat Semi Bold" pitchFamily="34" charset="0"/>
                <a:ea typeface="Montserrat Semi Bold" pitchFamily="34" charset="-122"/>
                <a:cs typeface="Montserrat Semi Bold" pitchFamily="34" charset="-120"/>
              </a:rPr>
              <a:t>Herausforderungen</a:t>
            </a:r>
            <a:endParaRPr lang="en-US" sz="1450" dirty="0"/>
          </a:p>
        </p:txBody>
      </p:sp>
      <p:sp>
        <p:nvSpPr>
          <p:cNvPr id="13" name="Text 11"/>
          <p:cNvSpPr/>
          <p:nvPr/>
        </p:nvSpPr>
        <p:spPr>
          <a:xfrm>
            <a:off x="7477839" y="4912876"/>
            <a:ext cx="6218992"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Notwendigkeit neuer Kompetenzen und Fähigkeiten</a:t>
            </a:r>
            <a:endParaRPr lang="en-US" sz="1150" dirty="0"/>
          </a:p>
        </p:txBody>
      </p:sp>
      <p:sp>
        <p:nvSpPr>
          <p:cNvPr id="14" name="Text 12"/>
          <p:cNvSpPr/>
          <p:nvPr/>
        </p:nvSpPr>
        <p:spPr>
          <a:xfrm>
            <a:off x="7477839" y="5200174"/>
            <a:ext cx="6218992"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Anpassung bestehender Praktiken und Prozesse</a:t>
            </a:r>
            <a:endParaRPr lang="en-US" sz="1150" dirty="0"/>
          </a:p>
        </p:txBody>
      </p:sp>
      <p:sp>
        <p:nvSpPr>
          <p:cNvPr id="15" name="Text 13"/>
          <p:cNvSpPr/>
          <p:nvPr/>
        </p:nvSpPr>
        <p:spPr>
          <a:xfrm>
            <a:off x="7477839" y="5487472"/>
            <a:ext cx="6218992"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Sicherstellung von Vertrauenswürdigkeit</a:t>
            </a:r>
            <a:endParaRPr lang="en-US" sz="1150" dirty="0"/>
          </a:p>
        </p:txBody>
      </p:sp>
      <p:sp>
        <p:nvSpPr>
          <p:cNvPr id="16" name="Text 14"/>
          <p:cNvSpPr/>
          <p:nvPr/>
        </p:nvSpPr>
        <p:spPr>
          <a:xfrm>
            <a:off x="7477839" y="5774769"/>
            <a:ext cx="6218992"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Balance zwischen Innovation und Ethik</a:t>
            </a:r>
            <a:endParaRPr lang="en-US" sz="1150" dirty="0"/>
          </a:p>
        </p:txBody>
      </p:sp>
      <p:sp>
        <p:nvSpPr>
          <p:cNvPr id="17" name="Text 15"/>
          <p:cNvSpPr/>
          <p:nvPr/>
        </p:nvSpPr>
        <p:spPr>
          <a:xfrm>
            <a:off x="7477839" y="6062067"/>
            <a:ext cx="6218992"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Bewältigung des Energieverbrauchs</a:t>
            </a:r>
            <a:endParaRPr lang="en-US" sz="1150" dirty="0"/>
          </a:p>
        </p:txBody>
      </p:sp>
      <p:sp>
        <p:nvSpPr>
          <p:cNvPr id="18" name="Text 16"/>
          <p:cNvSpPr/>
          <p:nvPr/>
        </p:nvSpPr>
        <p:spPr>
          <a:xfrm>
            <a:off x="793790" y="6618684"/>
            <a:ext cx="13042821" cy="235744"/>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Die erfolgreiche Integration von KI erfordert einen ausgewogenen Ansatz, der technologischen Fortschritt mit menschenzentrierten Werten verbindet.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231708"/>
            <a:ext cx="6987064" cy="602456"/>
          </a:xfrm>
          <a:prstGeom prst="rect">
            <a:avLst/>
          </a:prstGeom>
          <a:noFill/>
          <a:ln/>
        </p:spPr>
        <p:txBody>
          <a:bodyPr wrap="none" lIns="0" tIns="0" rIns="0" bIns="0" rtlCol="0" anchor="t"/>
          <a:lstStyle/>
          <a:p>
            <a:pPr algn="l" indent="0" marL="0">
              <a:lnSpc>
                <a:spcPts val="4700"/>
              </a:lnSpc>
              <a:buNone/>
            </a:pPr>
            <a:r>
              <a:rPr lang="en-US" sz="3750" dirty="0">
                <a:solidFill>
                  <a:srgbClr val="030303"/>
                </a:solidFill>
                <a:latin typeface="Montserrat Semi Bold" pitchFamily="34" charset="0"/>
                <a:ea typeface="Montserrat Semi Bold" pitchFamily="34" charset="-122"/>
                <a:cs typeface="Montserrat Semi Bold" pitchFamily="34" charset="-120"/>
              </a:rPr>
              <a:t>Technologische Grundlagen</a:t>
            </a:r>
            <a:endParaRPr lang="en-US" sz="37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3219688"/>
            <a:ext cx="578406" cy="578406"/>
          </a:xfrm>
          <a:prstGeom prst="rect">
            <a:avLst/>
          </a:prstGeom>
        </p:spPr>
      </p:pic>
      <p:sp>
        <p:nvSpPr>
          <p:cNvPr id="4" name="Text 1"/>
          <p:cNvSpPr/>
          <p:nvPr/>
        </p:nvSpPr>
        <p:spPr>
          <a:xfrm>
            <a:off x="793790" y="4039076"/>
            <a:ext cx="2890599" cy="301228"/>
          </a:xfrm>
          <a:prstGeom prst="rect">
            <a:avLst/>
          </a:prstGeom>
          <a:noFill/>
          <a:ln/>
        </p:spPr>
        <p:txBody>
          <a:bodyPr wrap="none" lIns="0" tIns="0" rIns="0" bIns="0" rtlCol="0" anchor="t"/>
          <a:lstStyle/>
          <a:p>
            <a:pPr algn="l" indent="0" marL="0">
              <a:lnSpc>
                <a:spcPts val="2350"/>
              </a:lnSpc>
              <a:buNone/>
            </a:pPr>
            <a:r>
              <a:rPr lang="en-US" sz="1850" dirty="0">
                <a:solidFill>
                  <a:srgbClr val="464646"/>
                </a:solidFill>
                <a:latin typeface="Montserrat Semi Bold" pitchFamily="34" charset="0"/>
                <a:ea typeface="Montserrat Semi Bold" pitchFamily="34" charset="-122"/>
                <a:cs typeface="Montserrat Semi Bold" pitchFamily="34" charset="-120"/>
              </a:rPr>
              <a:t>Hardware-Infrastruktur</a:t>
            </a:r>
            <a:endParaRPr lang="en-US" sz="1850" dirty="0"/>
          </a:p>
        </p:txBody>
      </p:sp>
      <p:sp>
        <p:nvSpPr>
          <p:cNvPr id="5" name="Text 2"/>
          <p:cNvSpPr/>
          <p:nvPr/>
        </p:nvSpPr>
        <p:spPr>
          <a:xfrm>
            <a:off x="793790" y="4455914"/>
            <a:ext cx="4186952" cy="1541859"/>
          </a:xfrm>
          <a:prstGeom prst="rect">
            <a:avLst/>
          </a:prstGeom>
          <a:noFill/>
          <a:ln/>
        </p:spPr>
        <p:txBody>
          <a:bodyPr wrap="square" lIns="0" tIns="0" rIns="0" bIns="0" rtlCol="0" anchor="t"/>
          <a:lstStyle/>
          <a:p>
            <a:pPr algn="l" indent="0" marL="0">
              <a:lnSpc>
                <a:spcPts val="2400"/>
              </a:lnSpc>
              <a:buNone/>
            </a:pPr>
            <a:r>
              <a:rPr lang="en-US" sz="1500" dirty="0">
                <a:solidFill>
                  <a:srgbClr val="464646"/>
                </a:solidFill>
                <a:latin typeface="PT Sans" pitchFamily="34" charset="0"/>
                <a:ea typeface="PT Sans" pitchFamily="34" charset="-122"/>
                <a:cs typeface="PT Sans" pitchFamily="34" charset="-120"/>
              </a:rPr>
              <a:t>Moderne KI-Systeme basieren auf leistungsstarken Prozessoren und spezialisierten Chips, die komplexe Berechnungen in Echtzeit durchführen können. Die Hardware-Entwicklung ist ein Schlüsselfaktor für KI-Fortschritte.</a:t>
            </a:r>
            <a:endParaRPr lang="en-US" sz="15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21724" y="3219688"/>
            <a:ext cx="578406" cy="578406"/>
          </a:xfrm>
          <a:prstGeom prst="rect">
            <a:avLst/>
          </a:prstGeom>
        </p:spPr>
      </p:pic>
      <p:sp>
        <p:nvSpPr>
          <p:cNvPr id="7" name="Text 3"/>
          <p:cNvSpPr/>
          <p:nvPr/>
        </p:nvSpPr>
        <p:spPr>
          <a:xfrm>
            <a:off x="5221724" y="4039076"/>
            <a:ext cx="2409944" cy="301228"/>
          </a:xfrm>
          <a:prstGeom prst="rect">
            <a:avLst/>
          </a:prstGeom>
          <a:noFill/>
          <a:ln/>
        </p:spPr>
        <p:txBody>
          <a:bodyPr wrap="none" lIns="0" tIns="0" rIns="0" bIns="0" rtlCol="0" anchor="t"/>
          <a:lstStyle/>
          <a:p>
            <a:pPr algn="l" indent="0" marL="0">
              <a:lnSpc>
                <a:spcPts val="2350"/>
              </a:lnSpc>
              <a:buNone/>
            </a:pPr>
            <a:r>
              <a:rPr lang="en-US" sz="1850" dirty="0">
                <a:solidFill>
                  <a:srgbClr val="464646"/>
                </a:solidFill>
                <a:latin typeface="Montserrat Semi Bold" pitchFamily="34" charset="0"/>
                <a:ea typeface="Montserrat Semi Bold" pitchFamily="34" charset="-122"/>
                <a:cs typeface="Montserrat Semi Bold" pitchFamily="34" charset="-120"/>
              </a:rPr>
              <a:t>Neuronale Netze</a:t>
            </a:r>
            <a:endParaRPr lang="en-US" sz="1850" dirty="0"/>
          </a:p>
        </p:txBody>
      </p:sp>
      <p:sp>
        <p:nvSpPr>
          <p:cNvPr id="8" name="Text 4"/>
          <p:cNvSpPr/>
          <p:nvPr/>
        </p:nvSpPr>
        <p:spPr>
          <a:xfrm>
            <a:off x="5221724" y="4455914"/>
            <a:ext cx="4186952" cy="1541859"/>
          </a:xfrm>
          <a:prstGeom prst="rect">
            <a:avLst/>
          </a:prstGeom>
          <a:noFill/>
          <a:ln/>
        </p:spPr>
        <p:txBody>
          <a:bodyPr wrap="square" lIns="0" tIns="0" rIns="0" bIns="0" rtlCol="0" anchor="t"/>
          <a:lstStyle/>
          <a:p>
            <a:pPr algn="l" indent="0" marL="0">
              <a:lnSpc>
                <a:spcPts val="2400"/>
              </a:lnSpc>
              <a:buNone/>
            </a:pPr>
            <a:r>
              <a:rPr lang="en-US" sz="1500" dirty="0">
                <a:solidFill>
                  <a:srgbClr val="464646"/>
                </a:solidFill>
                <a:latin typeface="PT Sans" pitchFamily="34" charset="0"/>
                <a:ea typeface="PT Sans" pitchFamily="34" charset="-122"/>
                <a:cs typeface="PT Sans" pitchFamily="34" charset="-120"/>
              </a:rPr>
              <a:t>Künstliche neuronale Netze bilden die Grundlage vieler KI-Anwendungen. Sie ahmen die Funktionsweise des menschlichen Gehirns nach und ermöglichen maschinelles Lernen durch Mustererkennung.</a:t>
            </a:r>
            <a:endParaRPr lang="en-US" sz="15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49658" y="3219688"/>
            <a:ext cx="578406" cy="578406"/>
          </a:xfrm>
          <a:prstGeom prst="rect">
            <a:avLst/>
          </a:prstGeom>
        </p:spPr>
      </p:pic>
      <p:sp>
        <p:nvSpPr>
          <p:cNvPr id="10" name="Text 5"/>
          <p:cNvSpPr/>
          <p:nvPr/>
        </p:nvSpPr>
        <p:spPr>
          <a:xfrm>
            <a:off x="9649658" y="4039076"/>
            <a:ext cx="3565088" cy="301228"/>
          </a:xfrm>
          <a:prstGeom prst="rect">
            <a:avLst/>
          </a:prstGeom>
          <a:noFill/>
          <a:ln/>
        </p:spPr>
        <p:txBody>
          <a:bodyPr wrap="none" lIns="0" tIns="0" rIns="0" bIns="0" rtlCol="0" anchor="t"/>
          <a:lstStyle/>
          <a:p>
            <a:pPr algn="l" indent="0" marL="0">
              <a:lnSpc>
                <a:spcPts val="2350"/>
              </a:lnSpc>
              <a:buNone/>
            </a:pPr>
            <a:r>
              <a:rPr lang="en-US" sz="1850" dirty="0">
                <a:solidFill>
                  <a:srgbClr val="464646"/>
                </a:solidFill>
                <a:latin typeface="Montserrat Semi Bold" pitchFamily="34" charset="0"/>
                <a:ea typeface="Montserrat Semi Bold" pitchFamily="34" charset="-122"/>
                <a:cs typeface="Montserrat Semi Bold" pitchFamily="34" charset="-120"/>
              </a:rPr>
              <a:t>Schaltkreise und Architektur</a:t>
            </a:r>
            <a:endParaRPr lang="en-US" sz="1850" dirty="0"/>
          </a:p>
        </p:txBody>
      </p:sp>
      <p:sp>
        <p:nvSpPr>
          <p:cNvPr id="11" name="Text 6"/>
          <p:cNvSpPr/>
          <p:nvPr/>
        </p:nvSpPr>
        <p:spPr>
          <a:xfrm>
            <a:off x="9649658" y="4455914"/>
            <a:ext cx="4186952" cy="1233487"/>
          </a:xfrm>
          <a:prstGeom prst="rect">
            <a:avLst/>
          </a:prstGeom>
          <a:noFill/>
          <a:ln/>
        </p:spPr>
        <p:txBody>
          <a:bodyPr wrap="square" lIns="0" tIns="0" rIns="0" bIns="0" rtlCol="0" anchor="t"/>
          <a:lstStyle/>
          <a:p>
            <a:pPr algn="l" indent="0" marL="0">
              <a:lnSpc>
                <a:spcPts val="2400"/>
              </a:lnSpc>
              <a:buNone/>
            </a:pPr>
            <a:r>
              <a:rPr lang="en-US" sz="1500" dirty="0">
                <a:solidFill>
                  <a:srgbClr val="464646"/>
                </a:solidFill>
                <a:latin typeface="PT Sans" pitchFamily="34" charset="0"/>
                <a:ea typeface="PT Sans" pitchFamily="34" charset="-122"/>
                <a:cs typeface="PT Sans" pitchFamily="34" charset="-120"/>
              </a:rPr>
              <a:t>Die Verbindung von Leiterbahnen, Pins und elektronischen Komponenten schafft die physische Basis für KI-Berechnungen. Moderne Architekturen optimieren Geschwindigkeit und Energieeffizienz.</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938695"/>
            <a:ext cx="7359729" cy="460772"/>
          </a:xfrm>
          <a:prstGeom prst="rect">
            <a:avLst/>
          </a:prstGeom>
          <a:noFill/>
          <a:ln/>
        </p:spPr>
        <p:txBody>
          <a:bodyPr wrap="none" lIns="0" tIns="0" rIns="0" bIns="0" rtlCol="0" anchor="t"/>
          <a:lstStyle/>
          <a:p>
            <a:pPr algn="l" indent="0" marL="0">
              <a:lnSpc>
                <a:spcPts val="3600"/>
              </a:lnSpc>
              <a:buNone/>
            </a:pPr>
            <a:r>
              <a:rPr lang="en-US" sz="2900" dirty="0">
                <a:solidFill>
                  <a:srgbClr val="030303"/>
                </a:solidFill>
                <a:latin typeface="Montserrat Semi Bold" pitchFamily="34" charset="0"/>
                <a:ea typeface="Montserrat Semi Bold" pitchFamily="34" charset="-122"/>
                <a:cs typeface="Montserrat Semi Bold" pitchFamily="34" charset="-120"/>
              </a:rPr>
              <a:t>Energie- und Ressourcenkosten von KI</a:t>
            </a:r>
            <a:endParaRPr lang="en-US" sz="2900" dirty="0"/>
          </a:p>
        </p:txBody>
      </p:sp>
      <p:sp>
        <p:nvSpPr>
          <p:cNvPr id="3" name="Text 1"/>
          <p:cNvSpPr/>
          <p:nvPr/>
        </p:nvSpPr>
        <p:spPr>
          <a:xfrm>
            <a:off x="793790" y="2694265"/>
            <a:ext cx="147399" cy="184190"/>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Montserrat Light" pitchFamily="34" charset="0"/>
                <a:ea typeface="Montserrat Light" pitchFamily="34" charset="-122"/>
                <a:cs typeface="Montserrat Light" pitchFamily="34" charset="-120"/>
              </a:rPr>
              <a:t>01</a:t>
            </a:r>
            <a:endParaRPr lang="en-US" sz="1150" dirty="0"/>
          </a:p>
        </p:txBody>
      </p:sp>
      <p:sp>
        <p:nvSpPr>
          <p:cNvPr id="4" name="Shape 2"/>
          <p:cNvSpPr/>
          <p:nvPr/>
        </p:nvSpPr>
        <p:spPr>
          <a:xfrm>
            <a:off x="793790" y="2929414"/>
            <a:ext cx="4249341" cy="15240"/>
          </a:xfrm>
          <a:prstGeom prst="rect">
            <a:avLst/>
          </a:prstGeom>
          <a:solidFill>
            <a:srgbClr val="1C9770"/>
          </a:solidFill>
          <a:ln/>
        </p:spPr>
      </p:sp>
      <p:sp>
        <p:nvSpPr>
          <p:cNvPr id="5" name="Text 3"/>
          <p:cNvSpPr/>
          <p:nvPr/>
        </p:nvSpPr>
        <p:spPr>
          <a:xfrm>
            <a:off x="793790" y="3033593"/>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Montserrat Semi Bold" pitchFamily="34" charset="0"/>
                <a:ea typeface="Montserrat Semi Bold" pitchFamily="34" charset="-122"/>
                <a:cs typeface="Montserrat Semi Bold" pitchFamily="34" charset="-120"/>
              </a:rPr>
              <a:t>Trainingsphase</a:t>
            </a:r>
            <a:endParaRPr lang="en-US" sz="1450" dirty="0"/>
          </a:p>
        </p:txBody>
      </p:sp>
      <p:sp>
        <p:nvSpPr>
          <p:cNvPr id="6" name="Text 4"/>
          <p:cNvSpPr/>
          <p:nvPr/>
        </p:nvSpPr>
        <p:spPr>
          <a:xfrm>
            <a:off x="793790" y="3352324"/>
            <a:ext cx="4249341" cy="707231"/>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Enorme Rechenleistung erforderlich für das Training großer Modelle. Hoher Energieverbrauch durch intensive GPU-Nutzung über Wochen oder Monate.</a:t>
            </a:r>
            <a:endParaRPr lang="en-US" sz="1150" dirty="0"/>
          </a:p>
        </p:txBody>
      </p:sp>
      <p:sp>
        <p:nvSpPr>
          <p:cNvPr id="7" name="Text 5"/>
          <p:cNvSpPr/>
          <p:nvPr/>
        </p:nvSpPr>
        <p:spPr>
          <a:xfrm>
            <a:off x="5190530" y="2694265"/>
            <a:ext cx="147399" cy="184190"/>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Montserrat Light" pitchFamily="34" charset="0"/>
                <a:ea typeface="Montserrat Light" pitchFamily="34" charset="-122"/>
                <a:cs typeface="Montserrat Light" pitchFamily="34" charset="-120"/>
              </a:rPr>
              <a:t>02</a:t>
            </a:r>
            <a:endParaRPr lang="en-US" sz="1150" dirty="0"/>
          </a:p>
        </p:txBody>
      </p:sp>
      <p:sp>
        <p:nvSpPr>
          <p:cNvPr id="8" name="Shape 6"/>
          <p:cNvSpPr/>
          <p:nvPr/>
        </p:nvSpPr>
        <p:spPr>
          <a:xfrm>
            <a:off x="5190530" y="2929414"/>
            <a:ext cx="4249341" cy="15240"/>
          </a:xfrm>
          <a:prstGeom prst="rect">
            <a:avLst/>
          </a:prstGeom>
          <a:solidFill>
            <a:srgbClr val="1C9770"/>
          </a:solidFill>
          <a:ln/>
        </p:spPr>
      </p:sp>
      <p:sp>
        <p:nvSpPr>
          <p:cNvPr id="9" name="Text 7"/>
          <p:cNvSpPr/>
          <p:nvPr/>
        </p:nvSpPr>
        <p:spPr>
          <a:xfrm>
            <a:off x="5190530" y="3033593"/>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Montserrat Semi Bold" pitchFamily="34" charset="0"/>
                <a:ea typeface="Montserrat Semi Bold" pitchFamily="34" charset="-122"/>
                <a:cs typeface="Montserrat Semi Bold" pitchFamily="34" charset="-120"/>
              </a:rPr>
              <a:t>Datenspeicherung</a:t>
            </a:r>
            <a:endParaRPr lang="en-US" sz="1450" dirty="0"/>
          </a:p>
        </p:txBody>
      </p:sp>
      <p:sp>
        <p:nvSpPr>
          <p:cNvPr id="10" name="Text 8"/>
          <p:cNvSpPr/>
          <p:nvPr/>
        </p:nvSpPr>
        <p:spPr>
          <a:xfrm>
            <a:off x="5190530" y="3352324"/>
            <a:ext cx="4249341" cy="707231"/>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Massive Datenmengen müssen gespeichert und verwaltet werden. Rechenzentren benötigen kontinuierliche Kühlung und Stromversorgung.</a:t>
            </a:r>
            <a:endParaRPr lang="en-US" sz="1150" dirty="0"/>
          </a:p>
        </p:txBody>
      </p:sp>
      <p:sp>
        <p:nvSpPr>
          <p:cNvPr id="11" name="Text 9"/>
          <p:cNvSpPr/>
          <p:nvPr/>
        </p:nvSpPr>
        <p:spPr>
          <a:xfrm>
            <a:off x="9587270" y="2694265"/>
            <a:ext cx="147399" cy="184190"/>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Montserrat Light" pitchFamily="34" charset="0"/>
                <a:ea typeface="Montserrat Light" pitchFamily="34" charset="-122"/>
                <a:cs typeface="Montserrat Light" pitchFamily="34" charset="-120"/>
              </a:rPr>
              <a:t>03</a:t>
            </a:r>
            <a:endParaRPr lang="en-US" sz="1150" dirty="0"/>
          </a:p>
        </p:txBody>
      </p:sp>
      <p:sp>
        <p:nvSpPr>
          <p:cNvPr id="12" name="Shape 10"/>
          <p:cNvSpPr/>
          <p:nvPr/>
        </p:nvSpPr>
        <p:spPr>
          <a:xfrm>
            <a:off x="9587270" y="2929414"/>
            <a:ext cx="4249341" cy="15240"/>
          </a:xfrm>
          <a:prstGeom prst="rect">
            <a:avLst/>
          </a:prstGeom>
          <a:solidFill>
            <a:srgbClr val="1C9770"/>
          </a:solidFill>
          <a:ln/>
        </p:spPr>
      </p:sp>
      <p:sp>
        <p:nvSpPr>
          <p:cNvPr id="13" name="Text 11"/>
          <p:cNvSpPr/>
          <p:nvPr/>
        </p:nvSpPr>
        <p:spPr>
          <a:xfrm>
            <a:off x="9587270" y="3033593"/>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Montserrat Semi Bold" pitchFamily="34" charset="0"/>
                <a:ea typeface="Montserrat Semi Bold" pitchFamily="34" charset="-122"/>
                <a:cs typeface="Montserrat Semi Bold" pitchFamily="34" charset="-120"/>
              </a:rPr>
              <a:t>Betriebsphase</a:t>
            </a:r>
            <a:endParaRPr lang="en-US" sz="1450" dirty="0"/>
          </a:p>
        </p:txBody>
      </p:sp>
      <p:sp>
        <p:nvSpPr>
          <p:cNvPr id="14" name="Text 12"/>
          <p:cNvSpPr/>
          <p:nvPr/>
        </p:nvSpPr>
        <p:spPr>
          <a:xfrm>
            <a:off x="9587270" y="3352324"/>
            <a:ext cx="4249341"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Kontinuierlicher Energieverbrauch während der Nutzung. Skalierung führt zu exponentiell steigendem Ressourcenbedarf.</a:t>
            </a:r>
            <a:endParaRPr lang="en-US" sz="1150" dirty="0"/>
          </a:p>
        </p:txBody>
      </p:sp>
      <p:sp>
        <p:nvSpPr>
          <p:cNvPr id="15" name="Text 13"/>
          <p:cNvSpPr/>
          <p:nvPr/>
        </p:nvSpPr>
        <p:spPr>
          <a:xfrm>
            <a:off x="793790" y="4317444"/>
            <a:ext cx="147399" cy="184190"/>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Montserrat Light" pitchFamily="34" charset="0"/>
                <a:ea typeface="Montserrat Light" pitchFamily="34" charset="-122"/>
                <a:cs typeface="Montserrat Light" pitchFamily="34" charset="-120"/>
              </a:rPr>
              <a:t>04</a:t>
            </a:r>
            <a:endParaRPr lang="en-US" sz="1150" dirty="0"/>
          </a:p>
        </p:txBody>
      </p:sp>
      <p:sp>
        <p:nvSpPr>
          <p:cNvPr id="16" name="Shape 14"/>
          <p:cNvSpPr/>
          <p:nvPr/>
        </p:nvSpPr>
        <p:spPr>
          <a:xfrm>
            <a:off x="793790" y="4552593"/>
            <a:ext cx="6447711" cy="15240"/>
          </a:xfrm>
          <a:prstGeom prst="rect">
            <a:avLst/>
          </a:prstGeom>
          <a:solidFill>
            <a:srgbClr val="1C9770"/>
          </a:solidFill>
          <a:ln/>
        </p:spPr>
      </p:sp>
      <p:sp>
        <p:nvSpPr>
          <p:cNvPr id="17" name="Text 15"/>
          <p:cNvSpPr/>
          <p:nvPr/>
        </p:nvSpPr>
        <p:spPr>
          <a:xfrm>
            <a:off x="793790" y="4656773"/>
            <a:ext cx="2534483" cy="2303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Montserrat Semi Bold" pitchFamily="34" charset="0"/>
                <a:ea typeface="Montserrat Semi Bold" pitchFamily="34" charset="-122"/>
                <a:cs typeface="Montserrat Semi Bold" pitchFamily="34" charset="-120"/>
              </a:rPr>
              <a:t>Entwicklung und Wartung</a:t>
            </a:r>
            <a:endParaRPr lang="en-US" sz="1450" dirty="0"/>
          </a:p>
        </p:txBody>
      </p:sp>
      <p:sp>
        <p:nvSpPr>
          <p:cNvPr id="18" name="Text 16"/>
          <p:cNvSpPr/>
          <p:nvPr/>
        </p:nvSpPr>
        <p:spPr>
          <a:xfrm>
            <a:off x="793790" y="4975503"/>
            <a:ext cx="6447711"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Laufende Optimierung und Aktualisierung der Modelle. Ressourcen für Testing, Deployment und Monitoring erforderlich.</a:t>
            </a:r>
            <a:endParaRPr lang="en-US" sz="1150" dirty="0"/>
          </a:p>
        </p:txBody>
      </p:sp>
      <p:sp>
        <p:nvSpPr>
          <p:cNvPr id="19" name="Text 17"/>
          <p:cNvSpPr/>
          <p:nvPr/>
        </p:nvSpPr>
        <p:spPr>
          <a:xfrm>
            <a:off x="7388900" y="4317444"/>
            <a:ext cx="147399" cy="184190"/>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Montserrat Light" pitchFamily="34" charset="0"/>
                <a:ea typeface="Montserrat Light" pitchFamily="34" charset="-122"/>
                <a:cs typeface="Montserrat Light" pitchFamily="34" charset="-120"/>
              </a:rPr>
              <a:t>05</a:t>
            </a:r>
            <a:endParaRPr lang="en-US" sz="1150" dirty="0"/>
          </a:p>
        </p:txBody>
      </p:sp>
      <p:sp>
        <p:nvSpPr>
          <p:cNvPr id="20" name="Shape 18"/>
          <p:cNvSpPr/>
          <p:nvPr/>
        </p:nvSpPr>
        <p:spPr>
          <a:xfrm>
            <a:off x="7388900" y="4552593"/>
            <a:ext cx="6447711" cy="15240"/>
          </a:xfrm>
          <a:prstGeom prst="rect">
            <a:avLst/>
          </a:prstGeom>
          <a:solidFill>
            <a:srgbClr val="1C9770"/>
          </a:solidFill>
          <a:ln/>
        </p:spPr>
      </p:sp>
      <p:sp>
        <p:nvSpPr>
          <p:cNvPr id="21" name="Text 19"/>
          <p:cNvSpPr/>
          <p:nvPr/>
        </p:nvSpPr>
        <p:spPr>
          <a:xfrm>
            <a:off x="7388900" y="4656773"/>
            <a:ext cx="2110859" cy="2303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Montserrat Semi Bold" pitchFamily="34" charset="0"/>
                <a:ea typeface="Montserrat Semi Bold" pitchFamily="34" charset="-122"/>
                <a:cs typeface="Montserrat Semi Bold" pitchFamily="34" charset="-120"/>
              </a:rPr>
              <a:t>Umweltauswirkungen</a:t>
            </a:r>
            <a:endParaRPr lang="en-US" sz="1450" dirty="0"/>
          </a:p>
        </p:txBody>
      </p:sp>
      <p:sp>
        <p:nvSpPr>
          <p:cNvPr id="22" name="Text 20"/>
          <p:cNvSpPr/>
          <p:nvPr/>
        </p:nvSpPr>
        <p:spPr>
          <a:xfrm>
            <a:off x="7388900" y="4975503"/>
            <a:ext cx="6447711" cy="471488"/>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CO₂-Fußabdruck durch Energieverbrauch. Notwendigkeit nachhaltiger Praktiken und grüner Energiequellen für langfristige Nutzung.</a:t>
            </a:r>
            <a:endParaRPr lang="en-US" sz="1150" dirty="0"/>
          </a:p>
        </p:txBody>
      </p:sp>
      <p:sp>
        <p:nvSpPr>
          <p:cNvPr id="23" name="Text 21"/>
          <p:cNvSpPr/>
          <p:nvPr/>
        </p:nvSpPr>
        <p:spPr>
          <a:xfrm>
            <a:off x="1014889" y="5889188"/>
            <a:ext cx="12821722" cy="235744"/>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PT Sans" pitchFamily="34" charset="0"/>
                <a:ea typeface="PT Sans" pitchFamily="34" charset="-122"/>
                <a:cs typeface="PT Sans" pitchFamily="34" charset="-120"/>
              </a:rPr>
              <a:t>Die Abwägung zwischen den Vorteilen von KI und ihren Energie- und Ressourcenkosten ist entscheidend für eine nachhaltige digitale Zukunft.</a:t>
            </a:r>
            <a:endParaRPr lang="en-US" sz="1150" dirty="0"/>
          </a:p>
        </p:txBody>
      </p:sp>
      <p:sp>
        <p:nvSpPr>
          <p:cNvPr id="24" name="Shape 22"/>
          <p:cNvSpPr/>
          <p:nvPr/>
        </p:nvSpPr>
        <p:spPr>
          <a:xfrm>
            <a:off x="793790" y="5723334"/>
            <a:ext cx="15240" cy="567452"/>
          </a:xfrm>
          <a:prstGeom prst="rect">
            <a:avLst/>
          </a:prstGeom>
          <a:solidFill>
            <a:srgbClr val="1C9770"/>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246233"/>
            <a:ext cx="3685937" cy="460772"/>
          </a:xfrm>
          <a:prstGeom prst="rect">
            <a:avLst/>
          </a:prstGeom>
          <a:noFill/>
          <a:ln/>
        </p:spPr>
        <p:txBody>
          <a:bodyPr wrap="none" lIns="0" tIns="0" rIns="0" bIns="0" rtlCol="0" anchor="t"/>
          <a:lstStyle/>
          <a:p>
            <a:pPr algn="l" indent="0" marL="0">
              <a:lnSpc>
                <a:spcPts val="3600"/>
              </a:lnSpc>
              <a:buNone/>
            </a:pPr>
            <a:r>
              <a:rPr lang="en-US" sz="2900" dirty="0">
                <a:solidFill>
                  <a:srgbClr val="030303"/>
                </a:solidFill>
                <a:latin typeface="Montserrat Semi Bold" pitchFamily="34" charset="0"/>
                <a:ea typeface="Montserrat Semi Bold" pitchFamily="34" charset="-122"/>
                <a:cs typeface="Montserrat Semi Bold" pitchFamily="34" charset="-120"/>
              </a:rPr>
              <a:t>Quellenverzeichnis</a:t>
            </a:r>
            <a:endParaRPr lang="en-US" sz="2900" dirty="0"/>
          </a:p>
        </p:txBody>
      </p:sp>
      <p:sp>
        <p:nvSpPr>
          <p:cNvPr id="3" name="Text 1"/>
          <p:cNvSpPr/>
          <p:nvPr/>
        </p:nvSpPr>
        <p:spPr>
          <a:xfrm>
            <a:off x="793790" y="3075503"/>
            <a:ext cx="3118009" cy="230386"/>
          </a:xfrm>
          <a:prstGeom prst="rect">
            <a:avLst/>
          </a:prstGeom>
          <a:noFill/>
          <a:ln/>
        </p:spPr>
        <p:txBody>
          <a:bodyPr wrap="none" lIns="0" tIns="0" rIns="0" bIns="0" rtlCol="0" anchor="t"/>
          <a:lstStyle/>
          <a:p>
            <a:pPr algn="l" indent="0" marL="0">
              <a:lnSpc>
                <a:spcPts val="1800"/>
              </a:lnSpc>
              <a:buNone/>
            </a:pPr>
            <a:r>
              <a:rPr lang="en-US" sz="1450" dirty="0">
                <a:solidFill>
                  <a:srgbClr val="030303"/>
                </a:solidFill>
                <a:latin typeface="Montserrat Semi Bold" pitchFamily="34" charset="0"/>
                <a:ea typeface="Montserrat Semi Bold" pitchFamily="34" charset="-122"/>
                <a:cs typeface="Montserrat Semi Bold" pitchFamily="34" charset="-120"/>
              </a:rPr>
              <a:t>Wissenschaftliche Publikationen</a:t>
            </a:r>
            <a:endParaRPr lang="en-US" sz="1450" dirty="0"/>
          </a:p>
        </p:txBody>
      </p:sp>
      <p:sp>
        <p:nvSpPr>
          <p:cNvPr id="4" name="Text 2"/>
          <p:cNvSpPr/>
          <p:nvPr/>
        </p:nvSpPr>
        <p:spPr>
          <a:xfrm>
            <a:off x="793790" y="3453289"/>
            <a:ext cx="6341626"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10.12688/f1000research.171494.1 — Seite 1</a:t>
            </a:r>
            <a:endParaRPr lang="en-US" sz="1150" dirty="0"/>
          </a:p>
        </p:txBody>
      </p:sp>
      <p:sp>
        <p:nvSpPr>
          <p:cNvPr id="5" name="Text 3"/>
          <p:cNvSpPr/>
          <p:nvPr/>
        </p:nvSpPr>
        <p:spPr>
          <a:xfrm>
            <a:off x="793790" y="3740587"/>
            <a:ext cx="6341626"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10.48620/76248 — Seite 3</a:t>
            </a:r>
            <a:endParaRPr lang="en-US" sz="1150" dirty="0"/>
          </a:p>
        </p:txBody>
      </p:sp>
      <p:sp>
        <p:nvSpPr>
          <p:cNvPr id="6" name="Text 4"/>
          <p:cNvSpPr/>
          <p:nvPr/>
        </p:nvSpPr>
        <p:spPr>
          <a:xfrm>
            <a:off x="793790" y="4027884"/>
            <a:ext cx="6341626"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10.34669/WI.WJDS/4.1.5 — Seite 8</a:t>
            </a:r>
            <a:endParaRPr lang="en-US" sz="1150" dirty="0"/>
          </a:p>
        </p:txBody>
      </p:sp>
      <p:sp>
        <p:nvSpPr>
          <p:cNvPr id="7" name="Text 5"/>
          <p:cNvSpPr/>
          <p:nvPr/>
        </p:nvSpPr>
        <p:spPr>
          <a:xfrm>
            <a:off x="793790" y="4411028"/>
            <a:ext cx="1904524" cy="230386"/>
          </a:xfrm>
          <a:prstGeom prst="rect">
            <a:avLst/>
          </a:prstGeom>
          <a:noFill/>
          <a:ln/>
        </p:spPr>
        <p:txBody>
          <a:bodyPr wrap="none" lIns="0" tIns="0" rIns="0" bIns="0" rtlCol="0" anchor="t"/>
          <a:lstStyle/>
          <a:p>
            <a:pPr algn="l" indent="0" marL="0">
              <a:lnSpc>
                <a:spcPts val="1800"/>
              </a:lnSpc>
              <a:buNone/>
            </a:pPr>
            <a:r>
              <a:rPr lang="en-US" sz="1450" dirty="0">
                <a:solidFill>
                  <a:srgbClr val="030303"/>
                </a:solidFill>
                <a:latin typeface="Montserrat Semi Bold" pitchFamily="34" charset="0"/>
                <a:ea typeface="Montserrat Semi Bold" pitchFamily="34" charset="-122"/>
                <a:cs typeface="Montserrat Semi Bold" pitchFamily="34" charset="-120"/>
              </a:rPr>
              <a:t>Forschungsberichte</a:t>
            </a:r>
            <a:endParaRPr lang="en-US" sz="1450" dirty="0"/>
          </a:p>
        </p:txBody>
      </p:sp>
      <p:sp>
        <p:nvSpPr>
          <p:cNvPr id="8" name="Text 6"/>
          <p:cNvSpPr/>
          <p:nvPr/>
        </p:nvSpPr>
        <p:spPr>
          <a:xfrm>
            <a:off x="793790" y="4788813"/>
            <a:ext cx="6341626"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0565029e-3657-458b-9d05-e4770d5b6deb — Seite 3</a:t>
            </a:r>
            <a:endParaRPr lang="en-US" sz="1150" dirty="0"/>
          </a:p>
        </p:txBody>
      </p:sp>
      <p:sp>
        <p:nvSpPr>
          <p:cNvPr id="9" name="Text 7"/>
          <p:cNvSpPr/>
          <p:nvPr/>
        </p:nvSpPr>
        <p:spPr>
          <a:xfrm>
            <a:off x="793790" y="5076111"/>
            <a:ext cx="6341626"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87a988d1-0115-4fff-8a8a-d080bee0ffb0 — Seite 14</a:t>
            </a:r>
            <a:endParaRPr lang="en-US" sz="1150" dirty="0"/>
          </a:p>
        </p:txBody>
      </p:sp>
      <p:sp>
        <p:nvSpPr>
          <p:cNvPr id="10" name="Text 8"/>
          <p:cNvSpPr/>
          <p:nvPr/>
        </p:nvSpPr>
        <p:spPr>
          <a:xfrm>
            <a:off x="7502604" y="3075503"/>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030303"/>
                </a:solidFill>
                <a:latin typeface="Montserrat Semi Bold" pitchFamily="34" charset="0"/>
                <a:ea typeface="Montserrat Semi Bold" pitchFamily="34" charset="-122"/>
                <a:cs typeface="Montserrat Semi Bold" pitchFamily="34" charset="-120"/>
              </a:rPr>
              <a:t>Fachliteratur</a:t>
            </a:r>
            <a:endParaRPr lang="en-US" sz="1450" dirty="0"/>
          </a:p>
        </p:txBody>
      </p:sp>
      <p:sp>
        <p:nvSpPr>
          <p:cNvPr id="11" name="Text 9"/>
          <p:cNvSpPr/>
          <p:nvPr/>
        </p:nvSpPr>
        <p:spPr>
          <a:xfrm>
            <a:off x="7502604" y="3453289"/>
            <a:ext cx="6341626"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Algorithmic literacy, AI literacy and responsible generative AI literacy — Seite 13</a:t>
            </a:r>
            <a:endParaRPr lang="en-US" sz="1150" dirty="0"/>
          </a:p>
        </p:txBody>
      </p:sp>
      <p:sp>
        <p:nvSpPr>
          <p:cNvPr id="12" name="Text 10"/>
          <p:cNvSpPr/>
          <p:nvPr/>
        </p:nvSpPr>
        <p:spPr>
          <a:xfrm>
            <a:off x="7502604" y="3836432"/>
            <a:ext cx="2195632" cy="230386"/>
          </a:xfrm>
          <a:prstGeom prst="rect">
            <a:avLst/>
          </a:prstGeom>
          <a:noFill/>
          <a:ln/>
        </p:spPr>
        <p:txBody>
          <a:bodyPr wrap="none" lIns="0" tIns="0" rIns="0" bIns="0" rtlCol="0" anchor="t"/>
          <a:lstStyle/>
          <a:p>
            <a:pPr algn="l" indent="0" marL="0">
              <a:lnSpc>
                <a:spcPts val="1800"/>
              </a:lnSpc>
              <a:buNone/>
            </a:pPr>
            <a:r>
              <a:rPr lang="en-US" sz="1450" dirty="0">
                <a:solidFill>
                  <a:srgbClr val="030303"/>
                </a:solidFill>
                <a:latin typeface="Montserrat Semi Bold" pitchFamily="34" charset="0"/>
                <a:ea typeface="Montserrat Semi Bold" pitchFamily="34" charset="-122"/>
                <a:cs typeface="Montserrat Semi Bold" pitchFamily="34" charset="-120"/>
              </a:rPr>
              <a:t>Rechtliche Grundlagen</a:t>
            </a:r>
            <a:endParaRPr lang="en-US" sz="1450" dirty="0"/>
          </a:p>
        </p:txBody>
      </p:sp>
      <p:sp>
        <p:nvSpPr>
          <p:cNvPr id="13" name="Text 11"/>
          <p:cNvSpPr/>
          <p:nvPr/>
        </p:nvSpPr>
        <p:spPr>
          <a:xfrm>
            <a:off x="7502604" y="4214217"/>
            <a:ext cx="6341626"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464646"/>
                </a:solidFill>
                <a:latin typeface="PT Sans" pitchFamily="34" charset="0"/>
                <a:ea typeface="PT Sans" pitchFamily="34" charset="-122"/>
                <a:cs typeface="PT Sans" pitchFamily="34" charset="-120"/>
              </a:rPr>
              <a:t>http://data.europa.eu/eli/dec/2011/833/oj — Seite 1</a:t>
            </a:r>
            <a:endParaRPr lang="en-US" sz="1150" dirty="0"/>
          </a:p>
        </p:txBody>
      </p:sp>
      <p:sp>
        <p:nvSpPr>
          <p:cNvPr id="14" name="Shape 12"/>
          <p:cNvSpPr/>
          <p:nvPr/>
        </p:nvSpPr>
        <p:spPr>
          <a:xfrm>
            <a:off x="793790" y="5602912"/>
            <a:ext cx="13042821" cy="25956"/>
          </a:xfrm>
          <a:prstGeom prst="rect">
            <a:avLst/>
          </a:prstGeom>
          <a:solidFill>
            <a:srgbClr val="464646">
              <a:alpha val="50000"/>
            </a:srgbClr>
          </a:solidFill>
          <a:ln/>
        </p:spPr>
      </p:sp>
      <p:sp>
        <p:nvSpPr>
          <p:cNvPr id="15" name="Text 13"/>
          <p:cNvSpPr/>
          <p:nvPr/>
        </p:nvSpPr>
        <p:spPr>
          <a:xfrm>
            <a:off x="793790" y="5794653"/>
            <a:ext cx="13042821" cy="188714"/>
          </a:xfrm>
          <a:prstGeom prst="rect">
            <a:avLst/>
          </a:prstGeom>
          <a:noFill/>
          <a:ln/>
        </p:spPr>
        <p:txBody>
          <a:bodyPr wrap="none" lIns="0" tIns="0" rIns="0" bIns="0" rtlCol="0" anchor="t"/>
          <a:lstStyle/>
          <a:p>
            <a:pPr algn="l" indent="0" marL="0">
              <a:lnSpc>
                <a:spcPts val="1450"/>
              </a:lnSpc>
              <a:buNone/>
            </a:pPr>
            <a:r>
              <a:rPr lang="en-US" sz="900" dirty="0">
                <a:solidFill>
                  <a:srgbClr val="464646"/>
                </a:solidFill>
                <a:latin typeface="PT Sans" pitchFamily="34" charset="0"/>
                <a:ea typeface="PT Sans" pitchFamily="34" charset="-122"/>
                <a:cs typeface="PT Sans" pitchFamily="34" charset="-120"/>
              </a:rPr>
              <a:t>Alle Quellen wurden sorgfältig recherchiert und dokumentiert, um die Qualität und Nachvollziehbarkeit der präsentierten Informationen zu gewährleisten.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2025-11-19T15:02:21Z</dcterms:created>
  <dcterms:modified xsi:type="dcterms:W3CDTF">2025-11-19T15:02:21Z</dcterms:modified>
</cp:coreProperties>
</file>
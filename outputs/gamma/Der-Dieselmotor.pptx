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Lst>
  <p:notesMasterIdLst>
    <p:notesMasterId r:id="rId6"/>
  </p:notesMasterIdLst>
  <p:sldSz cx="14630400" cy="8229600"/>
  <p:notesSz cx="8229600" cy="14630400"/>
  <p:embeddedFontLst>
    <p:embeddedFont>
      <p:font typeface="Bitter Medium"/>
      <p:regular r:id="rId11"/>
    </p:embeddedFont>
    <p:embeddedFont>
      <p:font typeface="Bitter Medium"/>
      <p:regular r:id="rId12"/>
    </p:embeddedFont>
    <p:embeddedFont>
      <p:font typeface="Bitter Medium"/>
      <p:regular r:id="rId13"/>
    </p:embeddedFont>
    <p:embeddedFont>
      <p:font typeface="Bitter Medium"/>
      <p:regular r:id="rId14"/>
    </p:embeddedFont>
    <p:embeddedFont>
      <p:font typeface="Open Sans"/>
      <p:regular r:id="rId15"/>
    </p:embeddedFont>
    <p:embeddedFont>
      <p:font typeface="Open Sans"/>
      <p:regular r:id="rId16"/>
    </p:embeddedFont>
    <p:embeddedFont>
      <p:font typeface="Open Sans"/>
      <p:regular r:id="rId17"/>
    </p:embeddedFont>
    <p:embeddedFont>
      <p:font typeface="Open Sans"/>
      <p:regular r:id="rId1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font" Target="fonts/font1.fntdata"/><Relationship Id="rId12" Type="http://schemas.openxmlformats.org/officeDocument/2006/relationships/font" Target="fonts/font2.fntdata"/><Relationship Id="rId13" Type="http://schemas.openxmlformats.org/officeDocument/2006/relationships/font" Target="fonts/font3.fntdata"/><Relationship Id="rId14" Type="http://schemas.openxmlformats.org/officeDocument/2006/relationships/font" Target="fonts/font4.fntdata"/><Relationship Id="rId15" Type="http://schemas.openxmlformats.org/officeDocument/2006/relationships/font" Target="fonts/font5.fntdata"/><Relationship Id="rId16" Type="http://schemas.openxmlformats.org/officeDocument/2006/relationships/font" Target="fonts/font6.fntdata"/><Relationship Id="rId17" Type="http://schemas.openxmlformats.org/officeDocument/2006/relationships/font" Target="fonts/font7.fntdata"/><Relationship Id="rId18"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170634"/>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C3F42"/>
                </a:solidFill>
                <a:latin typeface="Bitter Medium" pitchFamily="34" charset="0"/>
                <a:ea typeface="Bitter Medium" pitchFamily="34" charset="-122"/>
                <a:cs typeface="Bitter Medium" pitchFamily="34" charset="-120"/>
              </a:rPr>
              <a:t>Der Dieselmotor</a:t>
            </a:r>
            <a:endParaRPr lang="en-US" sz="4450" dirty="0"/>
          </a:p>
        </p:txBody>
      </p:sp>
      <p:sp>
        <p:nvSpPr>
          <p:cNvPr id="3" name="Text 1"/>
          <p:cNvSpPr/>
          <p:nvPr/>
        </p:nvSpPr>
        <p:spPr>
          <a:xfrm>
            <a:off x="793790" y="4333042"/>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Eine umfassende Betrachtung der Technologie, Geschichte und Anwendungen des Verbrennungsmotors nach dem Prinzip der Kompressionszündung</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246114"/>
            <a:ext cx="6292929" cy="566976"/>
          </a:xfrm>
          <a:prstGeom prst="rect">
            <a:avLst/>
          </a:prstGeom>
          <a:noFill/>
          <a:ln/>
        </p:spPr>
        <p:txBody>
          <a:bodyPr wrap="none" lIns="0" tIns="0" rIns="0" bIns="0" rtlCol="0" anchor="t"/>
          <a:lstStyle/>
          <a:p>
            <a:pPr algn="l" indent="0" marL="0">
              <a:lnSpc>
                <a:spcPts val="4450"/>
              </a:lnSpc>
              <a:buNone/>
            </a:pPr>
            <a:r>
              <a:rPr lang="en-US" sz="3550" dirty="0">
                <a:solidFill>
                  <a:srgbClr val="2C3F42"/>
                </a:solidFill>
                <a:latin typeface="Bitter Medium" pitchFamily="34" charset="0"/>
                <a:ea typeface="Bitter Medium" pitchFamily="34" charset="-122"/>
                <a:cs typeface="Bitter Medium" pitchFamily="34" charset="-120"/>
              </a:rPr>
              <a:t>Grundprinzip und Geschichte</a:t>
            </a:r>
            <a:endParaRPr lang="en-US" sz="3550" dirty="0"/>
          </a:p>
        </p:txBody>
      </p:sp>
      <p:sp>
        <p:nvSpPr>
          <p:cNvPr id="3" name="Text 1"/>
          <p:cNvSpPr/>
          <p:nvPr/>
        </p:nvSpPr>
        <p:spPr>
          <a:xfrm>
            <a:off x="793790" y="3266718"/>
            <a:ext cx="5718215" cy="340162"/>
          </a:xfrm>
          <a:prstGeom prst="rect">
            <a:avLst/>
          </a:prstGeom>
          <a:noFill/>
          <a:ln/>
        </p:spPr>
        <p:txBody>
          <a:bodyPr wrap="none" lIns="0" tIns="0" rIns="0" bIns="0" rtlCol="0" anchor="t"/>
          <a:lstStyle/>
          <a:p>
            <a:pPr algn="l" indent="0" marL="0">
              <a:lnSpc>
                <a:spcPts val="2650"/>
              </a:lnSpc>
              <a:buNone/>
            </a:pPr>
            <a:r>
              <a:rPr lang="en-US" sz="2100" dirty="0">
                <a:solidFill>
                  <a:srgbClr val="2C3F42"/>
                </a:solidFill>
                <a:latin typeface="Bitter Medium" pitchFamily="34" charset="0"/>
                <a:ea typeface="Bitter Medium" pitchFamily="34" charset="-122"/>
                <a:cs typeface="Bitter Medium" pitchFamily="34" charset="-120"/>
              </a:rPr>
              <a:t>Funktionsprinzip der Kompressionszündung</a:t>
            </a:r>
            <a:endParaRPr lang="en-US" sz="2100" dirty="0"/>
          </a:p>
        </p:txBody>
      </p:sp>
      <p:sp>
        <p:nvSpPr>
          <p:cNvPr id="4" name="Text 2"/>
          <p:cNvSpPr/>
          <p:nvPr/>
        </p:nvSpPr>
        <p:spPr>
          <a:xfrm>
            <a:off x="793790" y="3788331"/>
            <a:ext cx="6300073" cy="2031921"/>
          </a:xfrm>
          <a:prstGeom prst="rect">
            <a:avLst/>
          </a:prstGeom>
          <a:noFill/>
          <a:ln/>
        </p:spPr>
        <p:txBody>
          <a:bodyPr wrap="square" lIns="0" tIns="0" rIns="0" bIns="0" rtlCol="0" anchor="t"/>
          <a:lstStyle/>
          <a:p>
            <a:pPr algn="l" indent="0" marL="0">
              <a:lnSpc>
                <a:spcPts val="2250"/>
              </a:lnSpc>
              <a:buNone/>
            </a:pPr>
            <a:r>
              <a:rPr lang="en-US" sz="1400" dirty="0">
                <a:solidFill>
                  <a:srgbClr val="2B2E3C"/>
                </a:solidFill>
                <a:latin typeface="Open Sans" pitchFamily="34" charset="0"/>
                <a:ea typeface="Open Sans" pitchFamily="34" charset="-122"/>
                <a:cs typeface="Open Sans" pitchFamily="34" charset="-120"/>
              </a:rPr>
              <a:t>Der Dieselmotor ist ein Verbrennungsmotor, der nach dem Prinzip der Kompressionszündung arbeitet. Im Gegensatz zum Ottomotor, der Zündkerzen zur Entzündung des Kraftstoff-Luft-Gemischs verwendet, wird beim Dieselmotor die Luft im Zylinder stark komprimiert, wodurch sie sich auf mehrere hundert Grad Celsius erhitzt. Der eingespritzte Dieselkraftstoff entzündet sich dann aufgrund der hohen Temperatur der verdichteten Luft von selbst.</a:t>
            </a:r>
            <a:endParaRPr lang="en-US" sz="1400" dirty="0"/>
          </a:p>
        </p:txBody>
      </p:sp>
      <p:sp>
        <p:nvSpPr>
          <p:cNvPr id="5" name="Text 3"/>
          <p:cNvSpPr/>
          <p:nvPr/>
        </p:nvSpPr>
        <p:spPr>
          <a:xfrm>
            <a:off x="7544157" y="3266718"/>
            <a:ext cx="4313277" cy="340162"/>
          </a:xfrm>
          <a:prstGeom prst="rect">
            <a:avLst/>
          </a:prstGeom>
          <a:noFill/>
          <a:ln/>
        </p:spPr>
        <p:txBody>
          <a:bodyPr wrap="none" lIns="0" tIns="0" rIns="0" bIns="0" rtlCol="0" anchor="t"/>
          <a:lstStyle/>
          <a:p>
            <a:pPr algn="l" indent="0" marL="0">
              <a:lnSpc>
                <a:spcPts val="2650"/>
              </a:lnSpc>
              <a:buNone/>
            </a:pPr>
            <a:r>
              <a:rPr lang="en-US" sz="2100" dirty="0">
                <a:solidFill>
                  <a:srgbClr val="2C3F42"/>
                </a:solidFill>
                <a:latin typeface="Bitter Medium" pitchFamily="34" charset="0"/>
                <a:ea typeface="Bitter Medium" pitchFamily="34" charset="-122"/>
                <a:cs typeface="Bitter Medium" pitchFamily="34" charset="-120"/>
              </a:rPr>
              <a:t>Die Erfindung durch Rudolf Diesel</a:t>
            </a:r>
            <a:endParaRPr lang="en-US" sz="2100" dirty="0"/>
          </a:p>
        </p:txBody>
      </p:sp>
      <p:sp>
        <p:nvSpPr>
          <p:cNvPr id="6" name="Text 4"/>
          <p:cNvSpPr/>
          <p:nvPr/>
        </p:nvSpPr>
        <p:spPr>
          <a:xfrm>
            <a:off x="7544157" y="3788331"/>
            <a:ext cx="6300073" cy="2031921"/>
          </a:xfrm>
          <a:prstGeom prst="rect">
            <a:avLst/>
          </a:prstGeom>
          <a:noFill/>
          <a:ln/>
        </p:spPr>
        <p:txBody>
          <a:bodyPr wrap="square" lIns="0" tIns="0" rIns="0" bIns="0" rtlCol="0" anchor="t"/>
          <a:lstStyle/>
          <a:p>
            <a:pPr algn="l" indent="0" marL="0">
              <a:lnSpc>
                <a:spcPts val="2250"/>
              </a:lnSpc>
              <a:buNone/>
            </a:pPr>
            <a:r>
              <a:rPr lang="en-US" sz="1400" dirty="0">
                <a:solidFill>
                  <a:srgbClr val="2B2E3C"/>
                </a:solidFill>
                <a:latin typeface="Open Sans" pitchFamily="34" charset="0"/>
                <a:ea typeface="Open Sans" pitchFamily="34" charset="-122"/>
                <a:cs typeface="Open Sans" pitchFamily="34" charset="-120"/>
              </a:rPr>
              <a:t>Der Dieselmotor wurde Ende des 19. Jahrhunderts von dem deutschen Ingenieur Rudolf Diesel entwickelt. 1892 meldete er ein Patent für einen Motor an, der die Energie des Kraftstoffs effizienter nutzen sollte. 1897 baute er den ersten funktionstüchtigen Prototypen. Dieser Motor zeichnete sich durch einen hohen thermischen Wirkungsgrad und eine robuste Bauweise aus. Allerdings war er aufgrund seines Gewichts und seiner Größe zunächst nur für stationäre Anwendungen geeignet.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466374"/>
            <a:ext cx="5033010" cy="460772"/>
          </a:xfrm>
          <a:prstGeom prst="rect">
            <a:avLst/>
          </a:prstGeom>
          <a:noFill/>
          <a:ln/>
        </p:spPr>
        <p:txBody>
          <a:bodyPr wrap="none" lIns="0" tIns="0" rIns="0" bIns="0" rtlCol="0" anchor="t"/>
          <a:lstStyle/>
          <a:p>
            <a:pPr algn="l" indent="0" marL="0">
              <a:lnSpc>
                <a:spcPts val="3600"/>
              </a:lnSpc>
              <a:buNone/>
            </a:pPr>
            <a:r>
              <a:rPr lang="en-US" sz="2900" dirty="0">
                <a:solidFill>
                  <a:srgbClr val="2C3F42"/>
                </a:solidFill>
                <a:latin typeface="Bitter Medium" pitchFamily="34" charset="0"/>
                <a:ea typeface="Bitter Medium" pitchFamily="34" charset="-122"/>
                <a:cs typeface="Bitter Medium" pitchFamily="34" charset="-120"/>
              </a:rPr>
              <a:t>Der Viertakt-Zyklus im Detail</a:t>
            </a:r>
            <a:endParaRPr lang="en-US" sz="2900" dirty="0"/>
          </a:p>
        </p:txBody>
      </p:sp>
      <p:sp>
        <p:nvSpPr>
          <p:cNvPr id="3" name="Text 1"/>
          <p:cNvSpPr/>
          <p:nvPr/>
        </p:nvSpPr>
        <p:spPr>
          <a:xfrm>
            <a:off x="793790" y="2221944"/>
            <a:ext cx="13042821" cy="235744"/>
          </a:xfrm>
          <a:prstGeom prst="rect">
            <a:avLst/>
          </a:prstGeom>
          <a:noFill/>
          <a:ln/>
        </p:spPr>
        <p:txBody>
          <a:bodyPr wrap="non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In einem Viertakt-Dieselmotor durchläuft der Motor vier aufeinanderfolgende Phasen, die kontinuierlich wiederholt werden und mechanische Energie erzeugen:</a:t>
            </a:r>
            <a:endParaRPr lang="en-US" sz="1150" dirty="0"/>
          </a:p>
        </p:txBody>
      </p:sp>
      <p:pic>
        <p:nvPicPr>
          <p:cNvPr id="4" name="Image 0" descr="preencoded.png">    </p:cNvPr>
          <p:cNvPicPr>
            <a:picLocks noChangeAspect="1"/>
          </p:cNvPicPr>
          <p:nvPr/>
        </p:nvPicPr>
        <p:blipFill>
          <a:blip r:embed="rId1"/>
          <a:stretch>
            <a:fillRect/>
          </a:stretch>
        </p:blipFill>
        <p:spPr>
          <a:xfrm>
            <a:off x="793790" y="2623542"/>
            <a:ext cx="737116" cy="1085017"/>
          </a:xfrm>
          <a:prstGeom prst="rect">
            <a:avLst/>
          </a:prstGeom>
        </p:spPr>
      </p:pic>
      <p:sp>
        <p:nvSpPr>
          <p:cNvPr id="5" name="Text 2"/>
          <p:cNvSpPr/>
          <p:nvPr/>
        </p:nvSpPr>
        <p:spPr>
          <a:xfrm>
            <a:off x="1678305" y="2770942"/>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Ansaugtakt</a:t>
            </a:r>
            <a:endParaRPr lang="en-US" sz="1450" dirty="0"/>
          </a:p>
        </p:txBody>
      </p:sp>
      <p:sp>
        <p:nvSpPr>
          <p:cNvPr id="6" name="Text 3"/>
          <p:cNvSpPr/>
          <p:nvPr/>
        </p:nvSpPr>
        <p:spPr>
          <a:xfrm>
            <a:off x="1678305" y="3089672"/>
            <a:ext cx="12158305" cy="471488"/>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Die Einlassventile öffnen sich, und der Kolben bewegt sich nach unten, wodurch Luft in den Zylinder strömt. In dieser Phase wird ausschließlich Luft angesaugt, kein Kraftstoff-Luft-Gemisch.</a:t>
            </a:r>
            <a:endParaRPr lang="en-US" sz="1150" dirty="0"/>
          </a:p>
        </p:txBody>
      </p:sp>
      <p:pic>
        <p:nvPicPr>
          <p:cNvPr id="7" name="Image 1" descr="preencoded.png">    </p:cNvPr>
          <p:cNvPicPr>
            <a:picLocks noChangeAspect="1"/>
          </p:cNvPicPr>
          <p:nvPr/>
        </p:nvPicPr>
        <p:blipFill>
          <a:blip r:embed="rId2"/>
          <a:stretch>
            <a:fillRect/>
          </a:stretch>
        </p:blipFill>
        <p:spPr>
          <a:xfrm>
            <a:off x="793790" y="3708559"/>
            <a:ext cx="737116" cy="1085017"/>
          </a:xfrm>
          <a:prstGeom prst="rect">
            <a:avLst/>
          </a:prstGeom>
        </p:spPr>
      </p:pic>
      <p:sp>
        <p:nvSpPr>
          <p:cNvPr id="8" name="Text 4"/>
          <p:cNvSpPr/>
          <p:nvPr/>
        </p:nvSpPr>
        <p:spPr>
          <a:xfrm>
            <a:off x="1678305" y="3855958"/>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Verdichtungstakt</a:t>
            </a:r>
            <a:endParaRPr lang="en-US" sz="1450" dirty="0"/>
          </a:p>
        </p:txBody>
      </p:sp>
      <p:sp>
        <p:nvSpPr>
          <p:cNvPr id="9" name="Text 5"/>
          <p:cNvSpPr/>
          <p:nvPr/>
        </p:nvSpPr>
        <p:spPr>
          <a:xfrm>
            <a:off x="1678305" y="4174688"/>
            <a:ext cx="12158305" cy="471488"/>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Die Einlassventile schließen sich, und der Kolben bewegt sich nach oben, wobei die Luft stark komprimiert und auf hohe Temperaturen von mehreren hundert Grad Celsius erhitzt wird. Dies ist der entscheidende Unterschied zum Ottomotor.</a:t>
            </a:r>
            <a:endParaRPr lang="en-US" sz="1150" dirty="0"/>
          </a:p>
        </p:txBody>
      </p:sp>
      <p:pic>
        <p:nvPicPr>
          <p:cNvPr id="10" name="Image 2" descr="preencoded.png">    </p:cNvPr>
          <p:cNvPicPr>
            <a:picLocks noChangeAspect="1"/>
          </p:cNvPicPr>
          <p:nvPr/>
        </p:nvPicPr>
        <p:blipFill>
          <a:blip r:embed="rId3"/>
          <a:stretch>
            <a:fillRect/>
          </a:stretch>
        </p:blipFill>
        <p:spPr>
          <a:xfrm>
            <a:off x="793790" y="4793575"/>
            <a:ext cx="737116" cy="1085017"/>
          </a:xfrm>
          <a:prstGeom prst="rect">
            <a:avLst/>
          </a:prstGeom>
        </p:spPr>
      </p:pic>
      <p:sp>
        <p:nvSpPr>
          <p:cNvPr id="11" name="Text 6"/>
          <p:cNvSpPr/>
          <p:nvPr/>
        </p:nvSpPr>
        <p:spPr>
          <a:xfrm>
            <a:off x="1678305" y="4940975"/>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Arbeitstakt</a:t>
            </a:r>
            <a:endParaRPr lang="en-US" sz="1450" dirty="0"/>
          </a:p>
        </p:txBody>
      </p:sp>
      <p:sp>
        <p:nvSpPr>
          <p:cNvPr id="12" name="Text 7"/>
          <p:cNvSpPr/>
          <p:nvPr/>
        </p:nvSpPr>
        <p:spPr>
          <a:xfrm>
            <a:off x="1678305" y="5259705"/>
            <a:ext cx="12158305" cy="471488"/>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Kurz vor dem oberen Totpunkt wird der Dieselkraftstoff eingespritzt. Durch die hohe Temperatur der verdichteten Luft entzündet sich der Kraftstoff selbst, und die entstehende Verbrennungskraft drückt den Kolben nach unten.</a:t>
            </a:r>
            <a:endParaRPr lang="en-US" sz="1150" dirty="0"/>
          </a:p>
        </p:txBody>
      </p:sp>
      <p:pic>
        <p:nvPicPr>
          <p:cNvPr id="13" name="Image 3" descr="preencoded.png">    </p:cNvPr>
          <p:cNvPicPr>
            <a:picLocks noChangeAspect="1"/>
          </p:cNvPicPr>
          <p:nvPr/>
        </p:nvPicPr>
        <p:blipFill>
          <a:blip r:embed="rId4"/>
          <a:stretch>
            <a:fillRect/>
          </a:stretch>
        </p:blipFill>
        <p:spPr>
          <a:xfrm>
            <a:off x="793790" y="5878592"/>
            <a:ext cx="737116" cy="884515"/>
          </a:xfrm>
          <a:prstGeom prst="rect">
            <a:avLst/>
          </a:prstGeom>
        </p:spPr>
      </p:pic>
      <p:sp>
        <p:nvSpPr>
          <p:cNvPr id="14" name="Text 8"/>
          <p:cNvSpPr/>
          <p:nvPr/>
        </p:nvSpPr>
        <p:spPr>
          <a:xfrm>
            <a:off x="1678305" y="6025991"/>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Ausstoßtakt</a:t>
            </a:r>
            <a:endParaRPr lang="en-US" sz="1450" dirty="0"/>
          </a:p>
        </p:txBody>
      </p:sp>
      <p:sp>
        <p:nvSpPr>
          <p:cNvPr id="15" name="Text 9"/>
          <p:cNvSpPr/>
          <p:nvPr/>
        </p:nvSpPr>
        <p:spPr>
          <a:xfrm>
            <a:off x="1678305" y="6344722"/>
            <a:ext cx="12158305" cy="235744"/>
          </a:xfrm>
          <a:prstGeom prst="rect">
            <a:avLst/>
          </a:prstGeom>
          <a:noFill/>
          <a:ln/>
        </p:spPr>
        <p:txBody>
          <a:bodyPr wrap="non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Die Auslassventile öffnen sich, und der Kolben bewegt sich nach oben, um die Abgase aus dem Zylinder zu drücken. Danach beginnt der Zyklus von neuem.</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212419"/>
            <a:ext cx="9145786" cy="460772"/>
          </a:xfrm>
          <a:prstGeom prst="rect">
            <a:avLst/>
          </a:prstGeom>
          <a:noFill/>
          <a:ln/>
        </p:spPr>
        <p:txBody>
          <a:bodyPr wrap="none" lIns="0" tIns="0" rIns="0" bIns="0" rtlCol="0" anchor="t"/>
          <a:lstStyle/>
          <a:p>
            <a:pPr algn="l" indent="0" marL="0">
              <a:lnSpc>
                <a:spcPts val="3600"/>
              </a:lnSpc>
              <a:buNone/>
            </a:pPr>
            <a:r>
              <a:rPr lang="en-US" sz="2900" dirty="0">
                <a:solidFill>
                  <a:srgbClr val="2C3F42"/>
                </a:solidFill>
                <a:latin typeface="Bitter Medium" pitchFamily="34" charset="0"/>
                <a:ea typeface="Bitter Medium" pitchFamily="34" charset="-122"/>
                <a:cs typeface="Bitter Medium" pitchFamily="34" charset="-120"/>
              </a:rPr>
              <a:t>Anwendungen, Vorteile und moderne Entwicklungen</a:t>
            </a:r>
            <a:endParaRPr lang="en-US" sz="2900" dirty="0"/>
          </a:p>
        </p:txBody>
      </p:sp>
      <p:sp>
        <p:nvSpPr>
          <p:cNvPr id="3" name="Shape 1"/>
          <p:cNvSpPr/>
          <p:nvPr/>
        </p:nvSpPr>
        <p:spPr>
          <a:xfrm>
            <a:off x="793790" y="2967990"/>
            <a:ext cx="4249341" cy="1910596"/>
          </a:xfrm>
          <a:prstGeom prst="roundRect">
            <a:avLst>
              <a:gd name="adj" fmla="val 3241"/>
            </a:avLst>
          </a:prstGeom>
          <a:solidFill>
            <a:srgbClr val="FCE2CF"/>
          </a:solidFill>
          <a:ln w="7620">
            <a:solidFill>
              <a:srgbClr val="E2C8B5"/>
            </a:solidFill>
            <a:prstDash val="solid"/>
          </a:ln>
        </p:spPr>
      </p:sp>
      <p:sp>
        <p:nvSpPr>
          <p:cNvPr id="4" name="Text 2"/>
          <p:cNvSpPr/>
          <p:nvPr/>
        </p:nvSpPr>
        <p:spPr>
          <a:xfrm>
            <a:off x="948809" y="3123009"/>
            <a:ext cx="2804517"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Vielfältige Anwendungsbereiche</a:t>
            </a:r>
            <a:endParaRPr lang="en-US" sz="1450" dirty="0"/>
          </a:p>
        </p:txBody>
      </p:sp>
      <p:sp>
        <p:nvSpPr>
          <p:cNvPr id="5" name="Text 3"/>
          <p:cNvSpPr/>
          <p:nvPr/>
        </p:nvSpPr>
        <p:spPr>
          <a:xfrm>
            <a:off x="948809" y="3441740"/>
            <a:ext cx="3939302" cy="471488"/>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Fahrzeuge: Lastkraftwagen, Busse, Schiffe und Lokomotiven</a:t>
            </a:r>
            <a:endParaRPr lang="en-US" sz="1150" dirty="0"/>
          </a:p>
        </p:txBody>
      </p:sp>
      <p:sp>
        <p:nvSpPr>
          <p:cNvPr id="6" name="Text 4"/>
          <p:cNvSpPr/>
          <p:nvPr/>
        </p:nvSpPr>
        <p:spPr>
          <a:xfrm>
            <a:off x="948809" y="3964781"/>
            <a:ext cx="3939302"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Stationäre Maschinen: Generatoren und Pumpen</a:t>
            </a:r>
            <a:endParaRPr lang="en-US" sz="1150" dirty="0"/>
          </a:p>
        </p:txBody>
      </p:sp>
      <p:sp>
        <p:nvSpPr>
          <p:cNvPr id="7" name="Text 5"/>
          <p:cNvSpPr/>
          <p:nvPr/>
        </p:nvSpPr>
        <p:spPr>
          <a:xfrm>
            <a:off x="948809" y="4252079"/>
            <a:ext cx="3939302" cy="471488"/>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Landwirtschaft: Traktoren und landwirtschaftliche Maschinen</a:t>
            </a:r>
            <a:endParaRPr lang="en-US" sz="1150" dirty="0"/>
          </a:p>
        </p:txBody>
      </p:sp>
      <p:sp>
        <p:nvSpPr>
          <p:cNvPr id="8" name="Shape 6"/>
          <p:cNvSpPr/>
          <p:nvPr/>
        </p:nvSpPr>
        <p:spPr>
          <a:xfrm>
            <a:off x="5190530" y="2967990"/>
            <a:ext cx="4249341" cy="1910596"/>
          </a:xfrm>
          <a:prstGeom prst="roundRect">
            <a:avLst>
              <a:gd name="adj" fmla="val 3241"/>
            </a:avLst>
          </a:prstGeom>
          <a:solidFill>
            <a:srgbClr val="FCE2CF"/>
          </a:solidFill>
          <a:ln w="7620">
            <a:solidFill>
              <a:srgbClr val="E2C8B5"/>
            </a:solidFill>
            <a:prstDash val="solid"/>
          </a:ln>
        </p:spPr>
      </p:sp>
      <p:sp>
        <p:nvSpPr>
          <p:cNvPr id="9" name="Text 7"/>
          <p:cNvSpPr/>
          <p:nvPr/>
        </p:nvSpPr>
        <p:spPr>
          <a:xfrm>
            <a:off x="5345549" y="3123009"/>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Technische Vorteile</a:t>
            </a:r>
            <a:endParaRPr lang="en-US" sz="1450" dirty="0"/>
          </a:p>
        </p:txBody>
      </p:sp>
      <p:sp>
        <p:nvSpPr>
          <p:cNvPr id="10" name="Text 8"/>
          <p:cNvSpPr/>
          <p:nvPr/>
        </p:nvSpPr>
        <p:spPr>
          <a:xfrm>
            <a:off x="5345549" y="3441740"/>
            <a:ext cx="3939302" cy="471488"/>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Hoher Wirkungsgrad durch hohes Verdichtungsverhältnis</a:t>
            </a:r>
            <a:endParaRPr lang="en-US" sz="1150" dirty="0"/>
          </a:p>
        </p:txBody>
      </p:sp>
      <p:sp>
        <p:nvSpPr>
          <p:cNvPr id="11" name="Text 9"/>
          <p:cNvSpPr/>
          <p:nvPr/>
        </p:nvSpPr>
        <p:spPr>
          <a:xfrm>
            <a:off x="5345549" y="3964781"/>
            <a:ext cx="3939302"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Langlebigkeit durch robuste Bauweise</a:t>
            </a:r>
            <a:endParaRPr lang="en-US" sz="1150" dirty="0"/>
          </a:p>
        </p:txBody>
      </p:sp>
      <p:sp>
        <p:nvSpPr>
          <p:cNvPr id="12" name="Text 10"/>
          <p:cNvSpPr/>
          <p:nvPr/>
        </p:nvSpPr>
        <p:spPr>
          <a:xfrm>
            <a:off x="5345549" y="4252079"/>
            <a:ext cx="3939302"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Hohes Drehmoment für schwere Fahrzeuge</a:t>
            </a:r>
            <a:endParaRPr lang="en-US" sz="1150" dirty="0"/>
          </a:p>
        </p:txBody>
      </p:sp>
      <p:sp>
        <p:nvSpPr>
          <p:cNvPr id="13" name="Shape 11"/>
          <p:cNvSpPr/>
          <p:nvPr/>
        </p:nvSpPr>
        <p:spPr>
          <a:xfrm>
            <a:off x="9587270" y="2967990"/>
            <a:ext cx="4249341" cy="1910596"/>
          </a:xfrm>
          <a:prstGeom prst="roundRect">
            <a:avLst>
              <a:gd name="adj" fmla="val 3241"/>
            </a:avLst>
          </a:prstGeom>
          <a:solidFill>
            <a:srgbClr val="FCE2CF"/>
          </a:solidFill>
          <a:ln w="7620">
            <a:solidFill>
              <a:srgbClr val="E2C8B5"/>
            </a:solidFill>
            <a:prstDash val="solid"/>
          </a:ln>
        </p:spPr>
      </p:sp>
      <p:sp>
        <p:nvSpPr>
          <p:cNvPr id="14" name="Text 12"/>
          <p:cNvSpPr/>
          <p:nvPr/>
        </p:nvSpPr>
        <p:spPr>
          <a:xfrm>
            <a:off x="9742289" y="3123009"/>
            <a:ext cx="1980843"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Moderne Technologien</a:t>
            </a:r>
            <a:endParaRPr lang="en-US" sz="1450" dirty="0"/>
          </a:p>
        </p:txBody>
      </p:sp>
      <p:sp>
        <p:nvSpPr>
          <p:cNvPr id="15" name="Text 13"/>
          <p:cNvSpPr/>
          <p:nvPr/>
        </p:nvSpPr>
        <p:spPr>
          <a:xfrm>
            <a:off x="9742289" y="3441740"/>
            <a:ext cx="3939302" cy="471488"/>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Common-Rail-Einspritzung für präzise Kraftstoffdosierung</a:t>
            </a:r>
            <a:endParaRPr lang="en-US" sz="1150" dirty="0"/>
          </a:p>
        </p:txBody>
      </p:sp>
      <p:sp>
        <p:nvSpPr>
          <p:cNvPr id="16" name="Text 14"/>
          <p:cNvSpPr/>
          <p:nvPr/>
        </p:nvSpPr>
        <p:spPr>
          <a:xfrm>
            <a:off x="9742289" y="3964781"/>
            <a:ext cx="3939302"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Turbolader zur Leistungssteigerung</a:t>
            </a:r>
            <a:endParaRPr lang="en-US" sz="1150" dirty="0"/>
          </a:p>
        </p:txBody>
      </p:sp>
      <p:sp>
        <p:nvSpPr>
          <p:cNvPr id="17" name="Text 15"/>
          <p:cNvSpPr/>
          <p:nvPr/>
        </p:nvSpPr>
        <p:spPr>
          <a:xfrm>
            <a:off x="9742289" y="4252079"/>
            <a:ext cx="3939302" cy="471488"/>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Abgasnachbehandlung mit SCR-Katalysatoren und Partikelfiltern</a:t>
            </a:r>
            <a:endParaRPr lang="en-US" sz="1150" dirty="0"/>
          </a:p>
        </p:txBody>
      </p:sp>
      <p:sp>
        <p:nvSpPr>
          <p:cNvPr id="18" name="Shape 16"/>
          <p:cNvSpPr/>
          <p:nvPr/>
        </p:nvSpPr>
        <p:spPr>
          <a:xfrm>
            <a:off x="793790" y="5118090"/>
            <a:ext cx="13042821" cy="25956"/>
          </a:xfrm>
          <a:prstGeom prst="rect">
            <a:avLst/>
          </a:prstGeom>
          <a:solidFill>
            <a:srgbClr val="2B2E3C">
              <a:alpha val="50000"/>
            </a:srgbClr>
          </a:solidFill>
          <a:ln/>
        </p:spPr>
      </p:sp>
      <p:sp>
        <p:nvSpPr>
          <p:cNvPr id="19" name="Text 17"/>
          <p:cNvSpPr/>
          <p:nvPr/>
        </p:nvSpPr>
        <p:spPr>
          <a:xfrm>
            <a:off x="793790" y="5309830"/>
            <a:ext cx="13042821" cy="707231"/>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Trotz der Fortschritte in der Dieseltechnologie stehen Dieselmotoren aufgrund von Umweltbedenken und strengeren Emissionsvorschriften vor Herausforderungen. Dennoch bleiben sie aufgrund ihrer Effizienz und Leistungsfähigkeit in vielen Bereichen unverzichtbar. Für eine vertiefende Auseinandersetzung mit dem Thema sei das "Handbuch Dieselmotoren" empfohlen, das umfassende Informationen zur Konstruktion, Funktionsweise und Anwendung bietet.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2025-10-28T08:28:09Z</dcterms:created>
  <dcterms:modified xsi:type="dcterms:W3CDTF">2025-10-28T08:28:09Z</dcterms:modified>
</cp:coreProperties>
</file>
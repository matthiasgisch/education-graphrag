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Lst>
  <p:notesMasterIdLst>
    <p:notesMasterId r:id="rId5"/>
  </p:notesMasterIdLst>
  <p:sldSz cx="14630400" cy="8229600"/>
  <p:notesSz cx="8229600" cy="14630400"/>
  <p:embeddedFontLst>
    <p:embeddedFont>
      <p:font typeface="Montserrat Semi Bold"/>
      <p:regular r:id="rId10"/>
    </p:embeddedFont>
    <p:embeddedFont>
      <p:font typeface="Montserrat Semi Bold"/>
      <p:regular r:id="rId11"/>
    </p:embeddedFont>
    <p:embeddedFont>
      <p:font typeface="Montserrat Semi Bold"/>
      <p:regular r:id="rId12"/>
    </p:embeddedFont>
    <p:embeddedFont>
      <p:font typeface="Montserrat Semi Bold"/>
      <p:regular r:id="rId13"/>
    </p:embeddedFont>
    <p:embeddedFont>
      <p:font typeface="PT Sans"/>
      <p:regular r:id="rId14"/>
    </p:embeddedFont>
    <p:embeddedFont>
      <p:font typeface="PT Sans"/>
      <p:regular r:id="rId15"/>
    </p:embeddedFont>
    <p:embeddedFont>
      <p:font typeface="PT Sans"/>
      <p:regular r:id="rId16"/>
    </p:embeddedFont>
    <p:embeddedFont>
      <p:font typeface="PT Sans"/>
      <p:regular r:id="rId17"/>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 Id="rId10" Type="http://schemas.openxmlformats.org/officeDocument/2006/relationships/font" Target="fonts/font1.fntdata"/><Relationship Id="rId11" Type="http://schemas.openxmlformats.org/officeDocument/2006/relationships/font" Target="fonts/font2.fntdata"/><Relationship Id="rId12" Type="http://schemas.openxmlformats.org/officeDocument/2006/relationships/font" Target="fonts/font3.fntdata"/><Relationship Id="rId13" Type="http://schemas.openxmlformats.org/officeDocument/2006/relationships/font" Target="fonts/font4.fntdata"/><Relationship Id="rId14" Type="http://schemas.openxmlformats.org/officeDocument/2006/relationships/font" Target="fonts/font5.fntdata"/><Relationship Id="rId15" Type="http://schemas.openxmlformats.org/officeDocument/2006/relationships/font" Target="fonts/font6.fntdata"/><Relationship Id="rId16" Type="http://schemas.openxmlformats.org/officeDocument/2006/relationships/font" Target="fonts/font7.fntdata"/><Relationship Id="rId17" Type="http://schemas.openxmlformats.org/officeDocument/2006/relationships/font" Target="fonts/font8.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svg"/><Relationship Id="rId7" Type="http://schemas.openxmlformats.org/officeDocument/2006/relationships/image" Target="../media/image-2-7.png"/><Relationship Id="rId8" Type="http://schemas.openxmlformats.org/officeDocument/2006/relationships/image" Target="../media/image-2-8.svg"/><Relationship Id="rId9" Type="http://schemas.openxmlformats.org/officeDocument/2006/relationships/image" Target="../media/image-2-9.png"/><Relationship Id="rId10" Type="http://schemas.openxmlformats.org/officeDocument/2006/relationships/image" Target="../media/image-2-10.svg"/><Relationship Id="rId11" Type="http://schemas.openxmlformats.org/officeDocument/2006/relationships/slideLayout" Target="../slideLayouts/slideLayout3.xml"/><Relationship Id="rId1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4.xml"/><Relationship Id="rId8"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5760720" cy="8229600"/>
          </a:xfrm>
          <a:prstGeom prst="rect">
            <a:avLst/>
          </a:prstGeom>
          <a:solidFill>
            <a:srgbClr val="DFDFE0"/>
          </a:solidFill>
          <a:ln/>
        </p:spPr>
      </p:sp>
      <p:pic>
        <p:nvPicPr>
          <p:cNvPr id="3" name="Image 0" descr="preencoded.png">    </p:cNvPr>
          <p:cNvPicPr>
            <a:picLocks noChangeAspect="1"/>
          </p:cNvPicPr>
          <p:nvPr/>
        </p:nvPicPr>
        <p:blipFill>
          <a:blip r:embed="rId1"/>
          <a:stretch>
            <a:fillRect/>
          </a:stretch>
        </p:blipFill>
        <p:spPr>
          <a:xfrm>
            <a:off x="0" y="0"/>
            <a:ext cx="5760720" cy="8229600"/>
          </a:xfrm>
          <a:prstGeom prst="rect">
            <a:avLst/>
          </a:prstGeom>
        </p:spPr>
      </p:pic>
      <p:sp>
        <p:nvSpPr>
          <p:cNvPr id="4" name="Text 1"/>
          <p:cNvSpPr/>
          <p:nvPr/>
        </p:nvSpPr>
        <p:spPr>
          <a:xfrm>
            <a:off x="6280190" y="2337197"/>
            <a:ext cx="7556421" cy="2126337"/>
          </a:xfrm>
          <a:prstGeom prst="rect">
            <a:avLst/>
          </a:prstGeom>
          <a:noFill/>
          <a:ln/>
        </p:spPr>
        <p:txBody>
          <a:bodyPr wrap="square" lIns="0" tIns="0" rIns="0" bIns="0" rtlCol="0" anchor="t"/>
          <a:lstStyle/>
          <a:p>
            <a:pPr algn="l" indent="0" marL="0">
              <a:lnSpc>
                <a:spcPts val="5550"/>
              </a:lnSpc>
              <a:buNone/>
            </a:pPr>
            <a:r>
              <a:rPr lang="en-US" sz="4450" dirty="0">
                <a:solidFill>
                  <a:srgbClr val="030303"/>
                </a:solidFill>
                <a:latin typeface="Montserrat Semi Bold" pitchFamily="34" charset="0"/>
                <a:ea typeface="Montserrat Semi Bold" pitchFamily="34" charset="-122"/>
                <a:cs typeface="Montserrat Semi Bold" pitchFamily="34" charset="-120"/>
              </a:rPr>
              <a:t>Machine Learning: Grundlagen und Anwendungen</a:t>
            </a:r>
            <a:endParaRPr lang="en-US" sz="4450" dirty="0"/>
          </a:p>
        </p:txBody>
      </p:sp>
      <p:sp>
        <p:nvSpPr>
          <p:cNvPr id="5" name="Text 2"/>
          <p:cNvSpPr/>
          <p:nvPr/>
        </p:nvSpPr>
        <p:spPr>
          <a:xfrm>
            <a:off x="6280190" y="4803696"/>
            <a:ext cx="7556421" cy="1088708"/>
          </a:xfrm>
          <a:prstGeom prst="rect">
            <a:avLst/>
          </a:prstGeom>
          <a:noFill/>
          <a:ln/>
        </p:spPr>
        <p:txBody>
          <a:bodyPr wrap="square" lIns="0" tIns="0" rIns="0" bIns="0" rtlCol="0" anchor="t"/>
          <a:lstStyle/>
          <a:p>
            <a:pPr algn="l" indent="0" marL="0">
              <a:lnSpc>
                <a:spcPts val="2850"/>
              </a:lnSpc>
              <a:buNone/>
            </a:pPr>
            <a:r>
              <a:rPr lang="en-US" sz="1750" dirty="0">
                <a:solidFill>
                  <a:srgbClr val="464646"/>
                </a:solidFill>
                <a:latin typeface="PT Sans" pitchFamily="34" charset="0"/>
                <a:ea typeface="PT Sans" pitchFamily="34" charset="-122"/>
                <a:cs typeface="PT Sans" pitchFamily="34" charset="-120"/>
              </a:rPr>
              <a:t>Eine umfassende Betrachtung der wichtigsten Konzepte, Interaktionen und praktischen Anwendungen von Machine Learning-Systemen mit wissenschaftlichen Belegen.</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8869680" y="0"/>
            <a:ext cx="5760720" cy="8229600"/>
          </a:xfrm>
          <a:prstGeom prst="rect">
            <a:avLst/>
          </a:prstGeom>
          <a:solidFill>
            <a:srgbClr val="DFDFE0"/>
          </a:solidFill>
          <a:ln/>
        </p:spPr>
      </p:sp>
      <p:pic>
        <p:nvPicPr>
          <p:cNvPr id="3" name="Image 0" descr="preencoded.png">    </p:cNvPr>
          <p:cNvPicPr>
            <a:picLocks noChangeAspect="1"/>
          </p:cNvPicPr>
          <p:nvPr/>
        </p:nvPicPr>
        <p:blipFill>
          <a:blip r:embed="rId1"/>
          <a:stretch>
            <a:fillRect/>
          </a:stretch>
        </p:blipFill>
        <p:spPr>
          <a:xfrm>
            <a:off x="8869680" y="0"/>
            <a:ext cx="5760720" cy="8229600"/>
          </a:xfrm>
          <a:prstGeom prst="rect">
            <a:avLst/>
          </a:prstGeom>
        </p:spPr>
      </p:pic>
      <p:sp>
        <p:nvSpPr>
          <p:cNvPr id="4" name="Text 1"/>
          <p:cNvSpPr/>
          <p:nvPr/>
        </p:nvSpPr>
        <p:spPr>
          <a:xfrm>
            <a:off x="725567" y="600075"/>
            <a:ext cx="4670465" cy="421124"/>
          </a:xfrm>
          <a:prstGeom prst="rect">
            <a:avLst/>
          </a:prstGeom>
          <a:noFill/>
          <a:ln/>
        </p:spPr>
        <p:txBody>
          <a:bodyPr wrap="none" lIns="0" tIns="0" rIns="0" bIns="0" rtlCol="0" anchor="t"/>
          <a:lstStyle/>
          <a:p>
            <a:pPr algn="l" indent="0" marL="0">
              <a:lnSpc>
                <a:spcPts val="3300"/>
              </a:lnSpc>
              <a:buNone/>
            </a:pPr>
            <a:r>
              <a:rPr lang="en-US" sz="2650" dirty="0">
                <a:solidFill>
                  <a:srgbClr val="030303"/>
                </a:solidFill>
                <a:latin typeface="Montserrat Semi Bold" pitchFamily="34" charset="0"/>
                <a:ea typeface="Montserrat Semi Bold" pitchFamily="34" charset="-122"/>
                <a:cs typeface="Montserrat Semi Bold" pitchFamily="34" charset="-120"/>
              </a:rPr>
              <a:t>Was ist Machine Learning?</a:t>
            </a:r>
            <a:endParaRPr lang="en-US" sz="2650" dirty="0"/>
          </a:p>
        </p:txBody>
      </p:sp>
      <p:sp>
        <p:nvSpPr>
          <p:cNvPr id="5" name="Text 2"/>
          <p:cNvSpPr/>
          <p:nvPr/>
        </p:nvSpPr>
        <p:spPr>
          <a:xfrm>
            <a:off x="725567" y="1344454"/>
            <a:ext cx="4484251" cy="862489"/>
          </a:xfrm>
          <a:prstGeom prst="rect">
            <a:avLst/>
          </a:prstGeom>
          <a:noFill/>
          <a:ln/>
        </p:spPr>
        <p:txBody>
          <a:bodyPr wrap="square" lIns="0" tIns="0" rIns="0" bIns="0" rtlCol="0" anchor="t"/>
          <a:lstStyle/>
          <a:p>
            <a:pPr algn="l" indent="0" marL="0">
              <a:lnSpc>
                <a:spcPts val="1650"/>
              </a:lnSpc>
              <a:buNone/>
            </a:pPr>
            <a:r>
              <a:rPr lang="en-US" sz="1050" dirty="0">
                <a:solidFill>
                  <a:srgbClr val="464646"/>
                </a:solidFill>
                <a:latin typeface="PT Sans" pitchFamily="34" charset="0"/>
                <a:ea typeface="PT Sans" pitchFamily="34" charset="-122"/>
                <a:cs typeface="PT Sans" pitchFamily="34" charset="-120"/>
              </a:rPr>
              <a:t>Machine Learning (ML) ist ein Bereich der künstlichen Intelligenz, der sich mit der Entwicklung von Algorithmen und Modellen befasst, die es Computern ermöglichen, aus Daten zu lernen und Vorhersagen oder Entscheidungen zu treffen, ohne explizit programmiert zu sein.</a:t>
            </a:r>
            <a:endParaRPr lang="en-US" sz="1050" dirty="0"/>
          </a:p>
        </p:txBody>
      </p:sp>
      <p:sp>
        <p:nvSpPr>
          <p:cNvPr id="6" name="Text 3"/>
          <p:cNvSpPr/>
          <p:nvPr/>
        </p:nvSpPr>
        <p:spPr>
          <a:xfrm>
            <a:off x="725567" y="2341602"/>
            <a:ext cx="4167307" cy="252651"/>
          </a:xfrm>
          <a:prstGeom prst="rect">
            <a:avLst/>
          </a:prstGeom>
          <a:noFill/>
          <a:ln/>
        </p:spPr>
        <p:txBody>
          <a:bodyPr wrap="none" lIns="0" tIns="0" rIns="0" bIns="0" rtlCol="0" anchor="t"/>
          <a:lstStyle/>
          <a:p>
            <a:pPr algn="l" indent="0" marL="0">
              <a:lnSpc>
                <a:spcPts val="1950"/>
              </a:lnSpc>
              <a:buNone/>
            </a:pPr>
            <a:r>
              <a:rPr lang="en-US" sz="1550" dirty="0">
                <a:solidFill>
                  <a:srgbClr val="030303"/>
                </a:solidFill>
                <a:latin typeface="Montserrat Semi Bold" pitchFamily="34" charset="0"/>
                <a:ea typeface="Montserrat Semi Bold" pitchFamily="34" charset="-122"/>
                <a:cs typeface="Montserrat Semi Bold" pitchFamily="34" charset="-120"/>
              </a:rPr>
              <a:t>Gleichzeitige Entwicklung und Nutzung</a:t>
            </a:r>
            <a:endParaRPr lang="en-US" sz="1550" dirty="0"/>
          </a:p>
        </p:txBody>
      </p:sp>
      <p:sp>
        <p:nvSpPr>
          <p:cNvPr id="7" name="Text 4"/>
          <p:cNvSpPr/>
          <p:nvPr/>
        </p:nvSpPr>
        <p:spPr>
          <a:xfrm>
            <a:off x="725567" y="2728913"/>
            <a:ext cx="4484251" cy="646867"/>
          </a:xfrm>
          <a:prstGeom prst="rect">
            <a:avLst/>
          </a:prstGeom>
          <a:noFill/>
          <a:ln/>
        </p:spPr>
        <p:txBody>
          <a:bodyPr wrap="square" lIns="0" tIns="0" rIns="0" bIns="0" rtlCol="0" anchor="t"/>
          <a:lstStyle/>
          <a:p>
            <a:pPr algn="l" indent="0" marL="0">
              <a:lnSpc>
                <a:spcPts val="1650"/>
              </a:lnSpc>
              <a:buNone/>
            </a:pPr>
            <a:r>
              <a:rPr lang="en-US" sz="1050" dirty="0">
                <a:solidFill>
                  <a:srgbClr val="464646"/>
                </a:solidFill>
                <a:latin typeface="PT Sans" pitchFamily="34" charset="0"/>
                <a:ea typeface="PT Sans" pitchFamily="34" charset="-122"/>
                <a:cs typeface="PT Sans" pitchFamily="34" charset="-120"/>
              </a:rPr>
              <a:t>Ein wesentlicher Aspekt von ML ist die gleichzeitige Entwicklung und Nutzung von ML-Systemen, was bedeutet, dass diese Systeme kontinuierlich verbessert und angepasst werden können, während sie in Betrieb sind.</a:t>
            </a:r>
            <a:endParaRPr lang="en-US" sz="1050" dirty="0"/>
          </a:p>
        </p:txBody>
      </p:sp>
      <p:sp>
        <p:nvSpPr>
          <p:cNvPr id="8" name="Shape 5"/>
          <p:cNvSpPr/>
          <p:nvPr/>
        </p:nvSpPr>
        <p:spPr>
          <a:xfrm>
            <a:off x="725567" y="3527346"/>
            <a:ext cx="4484251" cy="787956"/>
          </a:xfrm>
          <a:prstGeom prst="roundRect">
            <a:avLst>
              <a:gd name="adj" fmla="val 1160"/>
            </a:avLst>
          </a:prstGeom>
          <a:solidFill>
            <a:srgbClr val="BEF3E2"/>
          </a:solidFill>
          <a:ln/>
        </p:spPr>
      </p:sp>
      <p:pic>
        <p:nvPicPr>
          <p:cNvPr id="9" name="Image 1" descr="preencoded.png">    </p:cNvPr>
          <p:cNvPicPr>
            <a:picLocks noChangeAspect="1"/>
          </p:cNvPicPr>
          <p:nvPr/>
        </p:nvPicPr>
        <p:blipFill>
          <a:blip r:embed="rId2"/>
          <a:stretch>
            <a:fillRect/>
          </a:stretch>
        </p:blipFill>
        <p:spPr>
          <a:xfrm>
            <a:off x="860227" y="3730109"/>
            <a:ext cx="168354" cy="134660"/>
          </a:xfrm>
          <a:prstGeom prst="rect">
            <a:avLst/>
          </a:prstGeom>
        </p:spPr>
      </p:pic>
      <p:sp>
        <p:nvSpPr>
          <p:cNvPr id="10" name="Text 6"/>
          <p:cNvSpPr/>
          <p:nvPr/>
        </p:nvSpPr>
        <p:spPr>
          <a:xfrm>
            <a:off x="1163241" y="3695581"/>
            <a:ext cx="3911918" cy="431244"/>
          </a:xfrm>
          <a:prstGeom prst="rect">
            <a:avLst/>
          </a:prstGeom>
          <a:noFill/>
          <a:ln/>
        </p:spPr>
        <p:txBody>
          <a:bodyPr wrap="square" lIns="0" tIns="0" rIns="0" bIns="0" rtlCol="0" anchor="t"/>
          <a:lstStyle/>
          <a:p>
            <a:pPr algn="l" indent="0" marL="0">
              <a:lnSpc>
                <a:spcPts val="1650"/>
              </a:lnSpc>
              <a:buNone/>
            </a:pPr>
            <a:r>
              <a:rPr lang="en-US" sz="1050" b="1" dirty="0">
                <a:solidFill>
                  <a:srgbClr val="000000"/>
                </a:solidFill>
                <a:latin typeface="PT Sans" pitchFamily="34" charset="0"/>
                <a:ea typeface="PT Sans" pitchFamily="34" charset="-122"/>
                <a:cs typeface="PT Sans" pitchFamily="34" charset="-120"/>
              </a:rPr>
              <a:t>Quelle:</a:t>
            </a:r>
            <a:pPr algn="l" indent="0" marL="0">
              <a:lnSpc>
                <a:spcPts val="1650"/>
              </a:lnSpc>
              <a:buNone/>
            </a:pPr>
            <a:r>
              <a:rPr lang="en-US" sz="1050" dirty="0">
                <a:solidFill>
                  <a:srgbClr val="000000"/>
                </a:solidFill>
                <a:latin typeface="PT Sans" pitchFamily="34" charset="0"/>
                <a:ea typeface="PT Sans" pitchFamily="34" charset="-122"/>
                <a:cs typeface="PT Sans" pitchFamily="34" charset="-120"/>
              </a:rPr>
              <a:t> F55696670-a8a5-4e8d-bada-bb15a0e3d8e1, Seite 4, Abschnitt: Interactive Machine Learning</a:t>
            </a:r>
            <a:endParaRPr lang="en-US" sz="1050" dirty="0"/>
          </a:p>
        </p:txBody>
      </p:sp>
      <p:pic>
        <p:nvPicPr>
          <p:cNvPr id="11" name="Image 2" descr="preencoded.png">    </p:cNvPr>
          <p:cNvPicPr>
            <a:picLocks noChangeAspect="1"/>
          </p:cNvPicPr>
          <p:nvPr/>
        </p:nvPicPr>
        <p:blipFill>
          <a:blip r:embed="rId3"/>
          <a:stretch>
            <a:fillRect/>
          </a:stretch>
        </p:blipFill>
        <p:spPr>
          <a:xfrm>
            <a:off x="5546050" y="1374815"/>
            <a:ext cx="2425541" cy="1347549"/>
          </a:xfrm>
          <a:prstGeom prst="rect">
            <a:avLst/>
          </a:prstGeom>
        </p:spPr>
      </p:pic>
      <p:pic>
        <p:nvPicPr>
          <p:cNvPr id="12" name="Image 3" descr="preencoded.png">    </p:cNvPr>
          <p:cNvPicPr>
            <a:picLocks noChangeAspect="1"/>
          </p:cNvPicPr>
          <p:nvPr/>
        </p:nvPicPr>
        <p:blipFill>
          <a:blip r:embed="rId4"/>
          <a:stretch>
            <a:fillRect/>
          </a:stretch>
        </p:blipFill>
        <p:spPr>
          <a:xfrm>
            <a:off x="5546050" y="2873931"/>
            <a:ext cx="2425541" cy="1347549"/>
          </a:xfrm>
          <a:prstGeom prst="rect">
            <a:avLst/>
          </a:prstGeom>
        </p:spPr>
      </p:pic>
      <p:sp>
        <p:nvSpPr>
          <p:cNvPr id="13" name="Shape 7"/>
          <p:cNvSpPr/>
          <p:nvPr/>
        </p:nvSpPr>
        <p:spPr>
          <a:xfrm>
            <a:off x="725567" y="4618434"/>
            <a:ext cx="3779044" cy="1546027"/>
          </a:xfrm>
          <a:prstGeom prst="roundRect">
            <a:avLst>
              <a:gd name="adj" fmla="val 591"/>
            </a:avLst>
          </a:prstGeom>
          <a:solidFill>
            <a:srgbClr val="F9F7F7"/>
          </a:solidFill>
          <a:ln w="7620">
            <a:solidFill>
              <a:srgbClr val="D8D4D4"/>
            </a:solidFill>
            <a:prstDash val="solid"/>
          </a:ln>
        </p:spPr>
      </p:sp>
      <p:sp>
        <p:nvSpPr>
          <p:cNvPr id="14" name="Shape 8"/>
          <p:cNvSpPr/>
          <p:nvPr/>
        </p:nvSpPr>
        <p:spPr>
          <a:xfrm>
            <a:off x="867847" y="4760714"/>
            <a:ext cx="404217" cy="404217"/>
          </a:xfrm>
          <a:prstGeom prst="roundRect">
            <a:avLst>
              <a:gd name="adj" fmla="val 22619251"/>
            </a:avLst>
          </a:prstGeom>
          <a:solidFill>
            <a:srgbClr val="1C9770"/>
          </a:solidFill>
          <a:ln/>
        </p:spPr>
      </p:sp>
      <p:pic>
        <p:nvPicPr>
          <p:cNvPr id="15" name="Image 4"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79051" y="4871918"/>
            <a:ext cx="181808" cy="181808"/>
          </a:xfrm>
          <a:prstGeom prst="rect">
            <a:avLst/>
          </a:prstGeom>
        </p:spPr>
      </p:pic>
      <p:sp>
        <p:nvSpPr>
          <p:cNvPr id="16" name="Text 9"/>
          <p:cNvSpPr/>
          <p:nvPr/>
        </p:nvSpPr>
        <p:spPr>
          <a:xfrm>
            <a:off x="867847" y="5299591"/>
            <a:ext cx="1684377" cy="210502"/>
          </a:xfrm>
          <a:prstGeom prst="rect">
            <a:avLst/>
          </a:prstGeom>
          <a:noFill/>
          <a:ln/>
        </p:spPr>
        <p:txBody>
          <a:bodyPr wrap="none" lIns="0" tIns="0" rIns="0" bIns="0" rtlCol="0" anchor="t"/>
          <a:lstStyle/>
          <a:p>
            <a:pPr algn="l" indent="0" marL="0">
              <a:lnSpc>
                <a:spcPts val="1650"/>
              </a:lnSpc>
              <a:buNone/>
            </a:pPr>
            <a:r>
              <a:rPr lang="en-US" sz="1300" dirty="0">
                <a:solidFill>
                  <a:srgbClr val="464646"/>
                </a:solidFill>
                <a:latin typeface="Montserrat Semi Bold" pitchFamily="34" charset="0"/>
                <a:ea typeface="Montserrat Semi Bold" pitchFamily="34" charset="-122"/>
                <a:cs typeface="Montserrat Semi Bold" pitchFamily="34" charset="-120"/>
              </a:rPr>
              <a:t>Lernen aus Daten</a:t>
            </a:r>
            <a:endParaRPr lang="en-US" sz="1300" dirty="0"/>
          </a:p>
        </p:txBody>
      </p:sp>
      <p:sp>
        <p:nvSpPr>
          <p:cNvPr id="17" name="Text 10"/>
          <p:cNvSpPr/>
          <p:nvPr/>
        </p:nvSpPr>
        <p:spPr>
          <a:xfrm>
            <a:off x="867847" y="5590937"/>
            <a:ext cx="3494484" cy="431244"/>
          </a:xfrm>
          <a:prstGeom prst="rect">
            <a:avLst/>
          </a:prstGeom>
          <a:noFill/>
          <a:ln/>
        </p:spPr>
        <p:txBody>
          <a:bodyPr wrap="square" lIns="0" tIns="0" rIns="0" bIns="0" rtlCol="0" anchor="t"/>
          <a:lstStyle/>
          <a:p>
            <a:pPr algn="l" indent="0" marL="0">
              <a:lnSpc>
                <a:spcPts val="1650"/>
              </a:lnSpc>
              <a:buNone/>
            </a:pPr>
            <a:r>
              <a:rPr lang="en-US" sz="1050" dirty="0">
                <a:solidFill>
                  <a:srgbClr val="464646"/>
                </a:solidFill>
                <a:latin typeface="PT Sans" pitchFamily="34" charset="0"/>
                <a:ea typeface="PT Sans" pitchFamily="34" charset="-122"/>
                <a:cs typeface="PT Sans" pitchFamily="34" charset="-120"/>
              </a:rPr>
              <a:t>Algorithmen analysieren große Datenmengen und erkennen Muster automatisch</a:t>
            </a:r>
            <a:endParaRPr lang="en-US" sz="1050" dirty="0"/>
          </a:p>
        </p:txBody>
      </p:sp>
      <p:sp>
        <p:nvSpPr>
          <p:cNvPr id="18" name="Shape 11"/>
          <p:cNvSpPr/>
          <p:nvPr/>
        </p:nvSpPr>
        <p:spPr>
          <a:xfrm>
            <a:off x="4639270" y="4618434"/>
            <a:ext cx="3779163" cy="1546027"/>
          </a:xfrm>
          <a:prstGeom prst="roundRect">
            <a:avLst>
              <a:gd name="adj" fmla="val 591"/>
            </a:avLst>
          </a:prstGeom>
          <a:solidFill>
            <a:srgbClr val="F9F7F7"/>
          </a:solidFill>
          <a:ln w="7620">
            <a:solidFill>
              <a:srgbClr val="D8D4D4"/>
            </a:solidFill>
            <a:prstDash val="solid"/>
          </a:ln>
        </p:spPr>
      </p:sp>
      <p:sp>
        <p:nvSpPr>
          <p:cNvPr id="19" name="Shape 12"/>
          <p:cNvSpPr/>
          <p:nvPr/>
        </p:nvSpPr>
        <p:spPr>
          <a:xfrm>
            <a:off x="4781550" y="4760714"/>
            <a:ext cx="404217" cy="404217"/>
          </a:xfrm>
          <a:prstGeom prst="roundRect">
            <a:avLst>
              <a:gd name="adj" fmla="val 22619251"/>
            </a:avLst>
          </a:prstGeom>
          <a:solidFill>
            <a:srgbClr val="1C9770"/>
          </a:solidFill>
          <a:ln/>
        </p:spPr>
      </p:sp>
      <p:pic>
        <p:nvPicPr>
          <p:cNvPr id="20" name="Image 5"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892754" y="4871918"/>
            <a:ext cx="181808" cy="181808"/>
          </a:xfrm>
          <a:prstGeom prst="rect">
            <a:avLst/>
          </a:prstGeom>
        </p:spPr>
      </p:pic>
      <p:sp>
        <p:nvSpPr>
          <p:cNvPr id="21" name="Text 13"/>
          <p:cNvSpPr/>
          <p:nvPr/>
        </p:nvSpPr>
        <p:spPr>
          <a:xfrm>
            <a:off x="4781550" y="5299591"/>
            <a:ext cx="1743908" cy="210502"/>
          </a:xfrm>
          <a:prstGeom prst="rect">
            <a:avLst/>
          </a:prstGeom>
          <a:noFill/>
          <a:ln/>
        </p:spPr>
        <p:txBody>
          <a:bodyPr wrap="none" lIns="0" tIns="0" rIns="0" bIns="0" rtlCol="0" anchor="t"/>
          <a:lstStyle/>
          <a:p>
            <a:pPr algn="l" indent="0" marL="0">
              <a:lnSpc>
                <a:spcPts val="1650"/>
              </a:lnSpc>
              <a:buNone/>
            </a:pPr>
            <a:r>
              <a:rPr lang="en-US" sz="1300" dirty="0">
                <a:solidFill>
                  <a:srgbClr val="464646"/>
                </a:solidFill>
                <a:latin typeface="Montserrat Semi Bold" pitchFamily="34" charset="0"/>
                <a:ea typeface="Montserrat Semi Bold" pitchFamily="34" charset="-122"/>
                <a:cs typeface="Montserrat Semi Bold" pitchFamily="34" charset="-120"/>
              </a:rPr>
              <a:t>Vorhersagen treffen</a:t>
            </a:r>
            <a:endParaRPr lang="en-US" sz="1300" dirty="0"/>
          </a:p>
        </p:txBody>
      </p:sp>
      <p:sp>
        <p:nvSpPr>
          <p:cNvPr id="22" name="Text 14"/>
          <p:cNvSpPr/>
          <p:nvPr/>
        </p:nvSpPr>
        <p:spPr>
          <a:xfrm>
            <a:off x="4781550" y="5590937"/>
            <a:ext cx="3494603" cy="431244"/>
          </a:xfrm>
          <a:prstGeom prst="rect">
            <a:avLst/>
          </a:prstGeom>
          <a:noFill/>
          <a:ln/>
        </p:spPr>
        <p:txBody>
          <a:bodyPr wrap="square" lIns="0" tIns="0" rIns="0" bIns="0" rtlCol="0" anchor="t"/>
          <a:lstStyle/>
          <a:p>
            <a:pPr algn="l" indent="0" marL="0">
              <a:lnSpc>
                <a:spcPts val="1650"/>
              </a:lnSpc>
              <a:buNone/>
            </a:pPr>
            <a:r>
              <a:rPr lang="en-US" sz="1050" dirty="0">
                <a:solidFill>
                  <a:srgbClr val="464646"/>
                </a:solidFill>
                <a:latin typeface="PT Sans" pitchFamily="34" charset="0"/>
                <a:ea typeface="PT Sans" pitchFamily="34" charset="-122"/>
                <a:cs typeface="PT Sans" pitchFamily="34" charset="-120"/>
              </a:rPr>
              <a:t>Systeme generieren präzise Vorhersagen basierend auf gelernten Mustern</a:t>
            </a:r>
            <a:endParaRPr lang="en-US" sz="1050" dirty="0"/>
          </a:p>
        </p:txBody>
      </p:sp>
      <p:sp>
        <p:nvSpPr>
          <p:cNvPr id="23" name="Shape 15"/>
          <p:cNvSpPr/>
          <p:nvPr/>
        </p:nvSpPr>
        <p:spPr>
          <a:xfrm>
            <a:off x="725567" y="6299121"/>
            <a:ext cx="7692866" cy="1330404"/>
          </a:xfrm>
          <a:prstGeom prst="roundRect">
            <a:avLst>
              <a:gd name="adj" fmla="val 687"/>
            </a:avLst>
          </a:prstGeom>
          <a:solidFill>
            <a:srgbClr val="F9F7F7"/>
          </a:solidFill>
          <a:ln w="7620">
            <a:solidFill>
              <a:srgbClr val="D8D4D4"/>
            </a:solidFill>
            <a:prstDash val="solid"/>
          </a:ln>
        </p:spPr>
      </p:sp>
      <p:sp>
        <p:nvSpPr>
          <p:cNvPr id="24" name="Shape 16"/>
          <p:cNvSpPr/>
          <p:nvPr/>
        </p:nvSpPr>
        <p:spPr>
          <a:xfrm>
            <a:off x="867847" y="6441400"/>
            <a:ext cx="404217" cy="404217"/>
          </a:xfrm>
          <a:prstGeom prst="roundRect">
            <a:avLst>
              <a:gd name="adj" fmla="val 22619251"/>
            </a:avLst>
          </a:prstGeom>
          <a:solidFill>
            <a:srgbClr val="1C9770"/>
          </a:solidFill>
          <a:ln/>
        </p:spPr>
      </p:sp>
      <p:pic>
        <p:nvPicPr>
          <p:cNvPr id="25" name="Image 6"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979051" y="6552605"/>
            <a:ext cx="181808" cy="181808"/>
          </a:xfrm>
          <a:prstGeom prst="rect">
            <a:avLst/>
          </a:prstGeom>
        </p:spPr>
      </p:pic>
      <p:sp>
        <p:nvSpPr>
          <p:cNvPr id="26" name="Text 17"/>
          <p:cNvSpPr/>
          <p:nvPr/>
        </p:nvSpPr>
        <p:spPr>
          <a:xfrm>
            <a:off x="867847" y="6980277"/>
            <a:ext cx="2581156" cy="210502"/>
          </a:xfrm>
          <a:prstGeom prst="rect">
            <a:avLst/>
          </a:prstGeom>
          <a:noFill/>
          <a:ln/>
        </p:spPr>
        <p:txBody>
          <a:bodyPr wrap="none" lIns="0" tIns="0" rIns="0" bIns="0" rtlCol="0" anchor="t"/>
          <a:lstStyle/>
          <a:p>
            <a:pPr algn="l" indent="0" marL="0">
              <a:lnSpc>
                <a:spcPts val="1650"/>
              </a:lnSpc>
              <a:buNone/>
            </a:pPr>
            <a:r>
              <a:rPr lang="en-US" sz="1300" dirty="0">
                <a:solidFill>
                  <a:srgbClr val="464646"/>
                </a:solidFill>
                <a:latin typeface="Montserrat Semi Bold" pitchFamily="34" charset="0"/>
                <a:ea typeface="Montserrat Semi Bold" pitchFamily="34" charset="-122"/>
                <a:cs typeface="Montserrat Semi Bold" pitchFamily="34" charset="-120"/>
              </a:rPr>
              <a:t>Kontinuierliche Verbesserung</a:t>
            </a:r>
            <a:endParaRPr lang="en-US" sz="1300" dirty="0"/>
          </a:p>
        </p:txBody>
      </p:sp>
      <p:sp>
        <p:nvSpPr>
          <p:cNvPr id="27" name="Text 18"/>
          <p:cNvSpPr/>
          <p:nvPr/>
        </p:nvSpPr>
        <p:spPr>
          <a:xfrm>
            <a:off x="867847" y="7271623"/>
            <a:ext cx="7408307" cy="215622"/>
          </a:xfrm>
          <a:prstGeom prst="rect">
            <a:avLst/>
          </a:prstGeom>
          <a:noFill/>
          <a:ln/>
        </p:spPr>
        <p:txBody>
          <a:bodyPr wrap="none" lIns="0" tIns="0" rIns="0" bIns="0" rtlCol="0" anchor="t"/>
          <a:lstStyle/>
          <a:p>
            <a:pPr algn="l" indent="0" marL="0">
              <a:lnSpc>
                <a:spcPts val="1650"/>
              </a:lnSpc>
              <a:buNone/>
            </a:pPr>
            <a:r>
              <a:rPr lang="en-US" sz="1050" dirty="0">
                <a:solidFill>
                  <a:srgbClr val="464646"/>
                </a:solidFill>
                <a:latin typeface="PT Sans" pitchFamily="34" charset="0"/>
                <a:ea typeface="PT Sans" pitchFamily="34" charset="-122"/>
                <a:cs typeface="PT Sans" pitchFamily="34" charset="-120"/>
              </a:rPr>
              <a:t>ML-Systeme werden während des Betriebs ständig optimiert und angepasst</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20779" y="484108"/>
            <a:ext cx="5557123" cy="302181"/>
          </a:xfrm>
          <a:prstGeom prst="rect">
            <a:avLst/>
          </a:prstGeom>
          <a:noFill/>
          <a:ln/>
        </p:spPr>
        <p:txBody>
          <a:bodyPr wrap="none" lIns="0" tIns="0" rIns="0" bIns="0" rtlCol="0" anchor="t"/>
          <a:lstStyle/>
          <a:p>
            <a:pPr algn="l" indent="0" marL="0">
              <a:lnSpc>
                <a:spcPts val="2350"/>
              </a:lnSpc>
              <a:buNone/>
            </a:pPr>
            <a:r>
              <a:rPr lang="en-US" sz="1900" dirty="0">
                <a:solidFill>
                  <a:srgbClr val="030303"/>
                </a:solidFill>
                <a:latin typeface="Montserrat Semi Bold" pitchFamily="34" charset="0"/>
                <a:ea typeface="Montserrat Semi Bold" pitchFamily="34" charset="-122"/>
                <a:cs typeface="Montserrat Semi Bold" pitchFamily="34" charset="-120"/>
              </a:rPr>
              <a:t>Interaktionen und praktische Anwendungen</a:t>
            </a:r>
            <a:endParaRPr lang="en-US" sz="1900" dirty="0"/>
          </a:p>
        </p:txBody>
      </p:sp>
      <p:sp>
        <p:nvSpPr>
          <p:cNvPr id="3" name="Text 1"/>
          <p:cNvSpPr/>
          <p:nvPr/>
        </p:nvSpPr>
        <p:spPr>
          <a:xfrm>
            <a:off x="520779" y="824865"/>
            <a:ext cx="3118723" cy="241816"/>
          </a:xfrm>
          <a:prstGeom prst="rect">
            <a:avLst/>
          </a:prstGeom>
          <a:noFill/>
          <a:ln/>
        </p:spPr>
        <p:txBody>
          <a:bodyPr wrap="none" lIns="0" tIns="0" rIns="0" bIns="0" rtlCol="0" anchor="t"/>
          <a:lstStyle/>
          <a:p>
            <a:pPr algn="l" indent="0" marL="0">
              <a:lnSpc>
                <a:spcPts val="1900"/>
              </a:lnSpc>
              <a:buNone/>
            </a:pPr>
            <a:r>
              <a:rPr lang="en-US" sz="1500" dirty="0">
                <a:solidFill>
                  <a:srgbClr val="030303"/>
                </a:solidFill>
                <a:latin typeface="Montserrat Semi Bold" pitchFamily="34" charset="0"/>
                <a:ea typeface="Montserrat Semi Bold" pitchFamily="34" charset="-122"/>
                <a:cs typeface="Montserrat Semi Bold" pitchFamily="34" charset="-120"/>
              </a:rPr>
              <a:t>Anforderungen an ML-Systeme</a:t>
            </a:r>
            <a:endParaRPr lang="en-US" sz="1500" dirty="0"/>
          </a:p>
        </p:txBody>
      </p:sp>
      <p:sp>
        <p:nvSpPr>
          <p:cNvPr id="4" name="Text 2"/>
          <p:cNvSpPr/>
          <p:nvPr/>
        </p:nvSpPr>
        <p:spPr>
          <a:xfrm>
            <a:off x="520779" y="1211699"/>
            <a:ext cx="13588841" cy="154662"/>
          </a:xfrm>
          <a:prstGeom prst="rect">
            <a:avLst/>
          </a:prstGeom>
          <a:noFill/>
          <a:ln/>
        </p:spPr>
        <p:txBody>
          <a:bodyPr wrap="none" lIns="0" tIns="0" rIns="0" bIns="0" rtlCol="0" anchor="t"/>
          <a:lstStyle/>
          <a:p>
            <a:pPr algn="l" indent="0" marL="0">
              <a:lnSpc>
                <a:spcPts val="1200"/>
              </a:lnSpc>
              <a:buNone/>
            </a:pPr>
            <a:r>
              <a:rPr lang="en-US" sz="750" dirty="0">
                <a:solidFill>
                  <a:srgbClr val="464646"/>
                </a:solidFill>
                <a:latin typeface="PT Sans" pitchFamily="34" charset="0"/>
                <a:ea typeface="PT Sans" pitchFamily="34" charset="-122"/>
                <a:cs typeface="PT Sans" pitchFamily="34" charset="-120"/>
              </a:rPr>
              <a:t>Ein weiteres wichtiges Konzept ist die Interaktion zwischen ML-Systemen und verschiedenen Anforderungen, wie Informationsbereitstellung, Unterstützung bei Aufgaben und Arbeitslastmanagement. Diese Interaktionen sind entscheidend, um die Effizienz und Effektivität von ML-Anwendungen zu maximieren.</a:t>
            </a:r>
            <a:endParaRPr lang="en-US" sz="750" dirty="0"/>
          </a:p>
        </p:txBody>
      </p:sp>
      <p:sp>
        <p:nvSpPr>
          <p:cNvPr id="5" name="Shape 3"/>
          <p:cNvSpPr/>
          <p:nvPr/>
        </p:nvSpPr>
        <p:spPr>
          <a:xfrm>
            <a:off x="520779" y="1475065"/>
            <a:ext cx="13588841" cy="410885"/>
          </a:xfrm>
          <a:prstGeom prst="roundRect">
            <a:avLst>
              <a:gd name="adj" fmla="val 2225"/>
            </a:avLst>
          </a:prstGeom>
          <a:solidFill>
            <a:srgbClr val="BEF3E2"/>
          </a:solidFill>
          <a:ln/>
        </p:spPr>
      </p:sp>
      <p:pic>
        <p:nvPicPr>
          <p:cNvPr id="6" name="Image 0" descr="preencoded.png">    </p:cNvPr>
          <p:cNvPicPr>
            <a:picLocks noChangeAspect="1"/>
          </p:cNvPicPr>
          <p:nvPr/>
        </p:nvPicPr>
        <p:blipFill>
          <a:blip r:embed="rId1"/>
          <a:stretch>
            <a:fillRect/>
          </a:stretch>
        </p:blipFill>
        <p:spPr>
          <a:xfrm>
            <a:off x="617458" y="1617940"/>
            <a:ext cx="120848" cy="96679"/>
          </a:xfrm>
          <a:prstGeom prst="rect">
            <a:avLst/>
          </a:prstGeom>
        </p:spPr>
      </p:pic>
      <p:sp>
        <p:nvSpPr>
          <p:cNvPr id="7" name="Text 4"/>
          <p:cNvSpPr/>
          <p:nvPr/>
        </p:nvSpPr>
        <p:spPr>
          <a:xfrm>
            <a:off x="834985" y="1595914"/>
            <a:ext cx="13177957" cy="154662"/>
          </a:xfrm>
          <a:prstGeom prst="rect">
            <a:avLst/>
          </a:prstGeom>
          <a:noFill/>
          <a:ln/>
        </p:spPr>
        <p:txBody>
          <a:bodyPr wrap="none" lIns="0" tIns="0" rIns="0" bIns="0" rtlCol="0" anchor="t"/>
          <a:lstStyle/>
          <a:p>
            <a:pPr algn="l" indent="0" marL="0">
              <a:lnSpc>
                <a:spcPts val="1200"/>
              </a:lnSpc>
              <a:buNone/>
            </a:pPr>
            <a:r>
              <a:rPr lang="en-US" sz="750" b="1" dirty="0">
                <a:solidFill>
                  <a:srgbClr val="000000"/>
                </a:solidFill>
                <a:latin typeface="PT Sans" pitchFamily="34" charset="0"/>
                <a:ea typeface="PT Sans" pitchFamily="34" charset="-122"/>
                <a:cs typeface="PT Sans" pitchFamily="34" charset="-120"/>
              </a:rPr>
              <a:t>Quelle:</a:t>
            </a:r>
            <a:pPr algn="l" indent="0" marL="0">
              <a:lnSpc>
                <a:spcPts val="1200"/>
              </a:lnSpc>
              <a:buNone/>
            </a:pPr>
            <a:r>
              <a:rPr lang="en-US" sz="750" dirty="0">
                <a:solidFill>
                  <a:srgbClr val="000000"/>
                </a:solidFill>
                <a:latin typeface="PT Sans" pitchFamily="34" charset="0"/>
                <a:ea typeface="PT Sans" pitchFamily="34" charset="-122"/>
                <a:cs typeface="PT Sans" pitchFamily="34" charset="-120"/>
              </a:rPr>
              <a:t> F7327250b-3976-4bc8-abde-259f8ce78e43, Seite 6, Abschnitt: Guidelines for Human-AI interaction</a:t>
            </a:r>
            <a:endParaRPr lang="en-US" sz="750" dirty="0"/>
          </a:p>
        </p:txBody>
      </p:sp>
      <p:pic>
        <p:nvPicPr>
          <p:cNvPr id="8" name="Image 1" descr="preencoded.png">    </p:cNvPr>
          <p:cNvPicPr>
            <a:picLocks noChangeAspect="1"/>
          </p:cNvPicPr>
          <p:nvPr/>
        </p:nvPicPr>
        <p:blipFill>
          <a:blip r:embed="rId2"/>
          <a:stretch>
            <a:fillRect/>
          </a:stretch>
        </p:blipFill>
        <p:spPr>
          <a:xfrm>
            <a:off x="520779" y="1994654"/>
            <a:ext cx="4529614" cy="386834"/>
          </a:xfrm>
          <a:prstGeom prst="rect">
            <a:avLst/>
          </a:prstGeom>
        </p:spPr>
      </p:pic>
      <p:sp>
        <p:nvSpPr>
          <p:cNvPr id="9" name="Text 5"/>
          <p:cNvSpPr/>
          <p:nvPr/>
        </p:nvSpPr>
        <p:spPr>
          <a:xfrm>
            <a:off x="617458" y="2478167"/>
            <a:ext cx="1677233" cy="150971"/>
          </a:xfrm>
          <a:prstGeom prst="rect">
            <a:avLst/>
          </a:prstGeom>
          <a:noFill/>
          <a:ln/>
        </p:spPr>
        <p:txBody>
          <a:bodyPr wrap="none" lIns="0" tIns="0" rIns="0" bIns="0" rtlCol="0" anchor="t"/>
          <a:lstStyle/>
          <a:p>
            <a:pPr algn="l" indent="0" marL="0">
              <a:lnSpc>
                <a:spcPts val="1150"/>
              </a:lnSpc>
              <a:buNone/>
            </a:pPr>
            <a:r>
              <a:rPr lang="en-US" sz="950" dirty="0">
                <a:solidFill>
                  <a:srgbClr val="464646"/>
                </a:solidFill>
                <a:latin typeface="Montserrat Semi Bold" pitchFamily="34" charset="0"/>
                <a:ea typeface="Montserrat Semi Bold" pitchFamily="34" charset="-122"/>
                <a:cs typeface="Montserrat Semi Bold" pitchFamily="34" charset="-120"/>
              </a:rPr>
              <a:t>Informationsbereitstellung</a:t>
            </a:r>
            <a:endParaRPr lang="en-US" sz="950" dirty="0"/>
          </a:p>
        </p:txBody>
      </p:sp>
      <p:sp>
        <p:nvSpPr>
          <p:cNvPr id="10" name="Text 6"/>
          <p:cNvSpPr/>
          <p:nvPr/>
        </p:nvSpPr>
        <p:spPr>
          <a:xfrm>
            <a:off x="617458" y="2687122"/>
            <a:ext cx="4336256" cy="154662"/>
          </a:xfrm>
          <a:prstGeom prst="rect">
            <a:avLst/>
          </a:prstGeom>
          <a:noFill/>
          <a:ln/>
        </p:spPr>
        <p:txBody>
          <a:bodyPr wrap="none" lIns="0" tIns="0" rIns="0" bIns="0" rtlCol="0" anchor="t"/>
          <a:lstStyle/>
          <a:p>
            <a:pPr algn="l" indent="0" marL="0">
              <a:lnSpc>
                <a:spcPts val="1200"/>
              </a:lnSpc>
              <a:buNone/>
            </a:pPr>
            <a:r>
              <a:rPr lang="en-US" sz="750" dirty="0">
                <a:solidFill>
                  <a:srgbClr val="464646"/>
                </a:solidFill>
                <a:latin typeface="PT Sans" pitchFamily="34" charset="0"/>
                <a:ea typeface="PT Sans" pitchFamily="34" charset="-122"/>
                <a:cs typeface="PT Sans" pitchFamily="34" charset="-120"/>
              </a:rPr>
              <a:t>RQ21: Systeme liefern relevante Informationen zur Entscheidungsunterstützung</a:t>
            </a:r>
            <a:endParaRPr lang="en-US" sz="750" dirty="0"/>
          </a:p>
        </p:txBody>
      </p:sp>
      <p:pic>
        <p:nvPicPr>
          <p:cNvPr id="11" name="Image 2" descr="preencoded.png">    </p:cNvPr>
          <p:cNvPicPr>
            <a:picLocks noChangeAspect="1"/>
          </p:cNvPicPr>
          <p:nvPr/>
        </p:nvPicPr>
        <p:blipFill>
          <a:blip r:embed="rId3"/>
          <a:stretch>
            <a:fillRect/>
          </a:stretch>
        </p:blipFill>
        <p:spPr>
          <a:xfrm>
            <a:off x="5050393" y="1994654"/>
            <a:ext cx="4529614" cy="386834"/>
          </a:xfrm>
          <a:prstGeom prst="rect">
            <a:avLst/>
          </a:prstGeom>
        </p:spPr>
      </p:pic>
      <p:sp>
        <p:nvSpPr>
          <p:cNvPr id="12" name="Text 7"/>
          <p:cNvSpPr/>
          <p:nvPr/>
        </p:nvSpPr>
        <p:spPr>
          <a:xfrm>
            <a:off x="5147072" y="2478167"/>
            <a:ext cx="1513761" cy="150971"/>
          </a:xfrm>
          <a:prstGeom prst="rect">
            <a:avLst/>
          </a:prstGeom>
          <a:noFill/>
          <a:ln/>
        </p:spPr>
        <p:txBody>
          <a:bodyPr wrap="none" lIns="0" tIns="0" rIns="0" bIns="0" rtlCol="0" anchor="t"/>
          <a:lstStyle/>
          <a:p>
            <a:pPr algn="l" indent="0" marL="0">
              <a:lnSpc>
                <a:spcPts val="1150"/>
              </a:lnSpc>
              <a:buNone/>
            </a:pPr>
            <a:r>
              <a:rPr lang="en-US" sz="950" dirty="0">
                <a:solidFill>
                  <a:srgbClr val="464646"/>
                </a:solidFill>
                <a:latin typeface="Montserrat Semi Bold" pitchFamily="34" charset="0"/>
                <a:ea typeface="Montserrat Semi Bold" pitchFamily="34" charset="-122"/>
                <a:cs typeface="Montserrat Semi Bold" pitchFamily="34" charset="-120"/>
              </a:rPr>
              <a:t>Aufgabenunterstützung</a:t>
            </a:r>
            <a:endParaRPr lang="en-US" sz="950" dirty="0"/>
          </a:p>
        </p:txBody>
      </p:sp>
      <p:sp>
        <p:nvSpPr>
          <p:cNvPr id="13" name="Text 8"/>
          <p:cNvSpPr/>
          <p:nvPr/>
        </p:nvSpPr>
        <p:spPr>
          <a:xfrm>
            <a:off x="5147072" y="2687122"/>
            <a:ext cx="4336256" cy="154662"/>
          </a:xfrm>
          <a:prstGeom prst="rect">
            <a:avLst/>
          </a:prstGeom>
          <a:noFill/>
          <a:ln/>
        </p:spPr>
        <p:txBody>
          <a:bodyPr wrap="none" lIns="0" tIns="0" rIns="0" bIns="0" rtlCol="0" anchor="t"/>
          <a:lstStyle/>
          <a:p>
            <a:pPr algn="l" indent="0" marL="0">
              <a:lnSpc>
                <a:spcPts val="1200"/>
              </a:lnSpc>
              <a:buNone/>
            </a:pPr>
            <a:r>
              <a:rPr lang="en-US" sz="750" dirty="0">
                <a:solidFill>
                  <a:srgbClr val="464646"/>
                </a:solidFill>
                <a:latin typeface="PT Sans" pitchFamily="34" charset="0"/>
                <a:ea typeface="PT Sans" pitchFamily="34" charset="-122"/>
                <a:cs typeface="PT Sans" pitchFamily="34" charset="-120"/>
              </a:rPr>
              <a:t>RQ22: Assistenz bei komplexen Aufgaben und Prozessen</a:t>
            </a:r>
            <a:endParaRPr lang="en-US" sz="750" dirty="0"/>
          </a:p>
        </p:txBody>
      </p:sp>
      <p:pic>
        <p:nvPicPr>
          <p:cNvPr id="14" name="Image 3" descr="preencoded.png">    </p:cNvPr>
          <p:cNvPicPr>
            <a:picLocks noChangeAspect="1"/>
          </p:cNvPicPr>
          <p:nvPr/>
        </p:nvPicPr>
        <p:blipFill>
          <a:blip r:embed="rId4"/>
          <a:stretch>
            <a:fillRect/>
          </a:stretch>
        </p:blipFill>
        <p:spPr>
          <a:xfrm>
            <a:off x="9580007" y="1994654"/>
            <a:ext cx="4529614" cy="386834"/>
          </a:xfrm>
          <a:prstGeom prst="rect">
            <a:avLst/>
          </a:prstGeom>
        </p:spPr>
      </p:pic>
      <p:sp>
        <p:nvSpPr>
          <p:cNvPr id="15" name="Text 9"/>
          <p:cNvSpPr/>
          <p:nvPr/>
        </p:nvSpPr>
        <p:spPr>
          <a:xfrm>
            <a:off x="9676686" y="2478167"/>
            <a:ext cx="1521381" cy="150971"/>
          </a:xfrm>
          <a:prstGeom prst="rect">
            <a:avLst/>
          </a:prstGeom>
          <a:noFill/>
          <a:ln/>
        </p:spPr>
        <p:txBody>
          <a:bodyPr wrap="none" lIns="0" tIns="0" rIns="0" bIns="0" rtlCol="0" anchor="t"/>
          <a:lstStyle/>
          <a:p>
            <a:pPr algn="l" indent="0" marL="0">
              <a:lnSpc>
                <a:spcPts val="1150"/>
              </a:lnSpc>
              <a:buNone/>
            </a:pPr>
            <a:r>
              <a:rPr lang="en-US" sz="950" dirty="0">
                <a:solidFill>
                  <a:srgbClr val="464646"/>
                </a:solidFill>
                <a:latin typeface="Montserrat Semi Bold" pitchFamily="34" charset="0"/>
                <a:ea typeface="Montserrat Semi Bold" pitchFamily="34" charset="-122"/>
                <a:cs typeface="Montserrat Semi Bold" pitchFamily="34" charset="-120"/>
              </a:rPr>
              <a:t>Arbeitslastmanagement</a:t>
            </a:r>
            <a:endParaRPr lang="en-US" sz="950" dirty="0"/>
          </a:p>
        </p:txBody>
      </p:sp>
      <p:sp>
        <p:nvSpPr>
          <p:cNvPr id="16" name="Text 10"/>
          <p:cNvSpPr/>
          <p:nvPr/>
        </p:nvSpPr>
        <p:spPr>
          <a:xfrm>
            <a:off x="9676686" y="2687122"/>
            <a:ext cx="4336256" cy="154662"/>
          </a:xfrm>
          <a:prstGeom prst="rect">
            <a:avLst/>
          </a:prstGeom>
          <a:noFill/>
          <a:ln/>
        </p:spPr>
        <p:txBody>
          <a:bodyPr wrap="none" lIns="0" tIns="0" rIns="0" bIns="0" rtlCol="0" anchor="t"/>
          <a:lstStyle/>
          <a:p>
            <a:pPr algn="l" indent="0" marL="0">
              <a:lnSpc>
                <a:spcPts val="1200"/>
              </a:lnSpc>
              <a:buNone/>
            </a:pPr>
            <a:r>
              <a:rPr lang="en-US" sz="750" dirty="0">
                <a:solidFill>
                  <a:srgbClr val="464646"/>
                </a:solidFill>
                <a:latin typeface="PT Sans" pitchFamily="34" charset="0"/>
                <a:ea typeface="PT Sans" pitchFamily="34" charset="-122"/>
                <a:cs typeface="PT Sans" pitchFamily="34" charset="-120"/>
              </a:rPr>
              <a:t>RQ11/RQ12: Optimierung von Tasks und Workload-Verteilung</a:t>
            </a:r>
            <a:endParaRPr lang="en-US" sz="750" dirty="0"/>
          </a:p>
        </p:txBody>
      </p:sp>
      <p:sp>
        <p:nvSpPr>
          <p:cNvPr id="17" name="Text 11"/>
          <p:cNvSpPr/>
          <p:nvPr/>
        </p:nvSpPr>
        <p:spPr>
          <a:xfrm>
            <a:off x="520779" y="3143845"/>
            <a:ext cx="2726888" cy="181332"/>
          </a:xfrm>
          <a:prstGeom prst="rect">
            <a:avLst/>
          </a:prstGeom>
          <a:noFill/>
          <a:ln/>
        </p:spPr>
        <p:txBody>
          <a:bodyPr wrap="none" lIns="0" tIns="0" rIns="0" bIns="0" rtlCol="0" anchor="t"/>
          <a:lstStyle/>
          <a:p>
            <a:pPr algn="l" indent="0" marL="0">
              <a:lnSpc>
                <a:spcPts val="1400"/>
              </a:lnSpc>
              <a:buNone/>
            </a:pPr>
            <a:r>
              <a:rPr lang="en-US" sz="1100" dirty="0">
                <a:solidFill>
                  <a:srgbClr val="030303"/>
                </a:solidFill>
                <a:latin typeface="Montserrat Semi Bold" pitchFamily="34" charset="0"/>
                <a:ea typeface="Montserrat Semi Bold" pitchFamily="34" charset="-122"/>
                <a:cs typeface="Montserrat Semi Bold" pitchFamily="34" charset="-120"/>
              </a:rPr>
              <a:t>Praxisbeispiel: Autonome Fahrzeuge</a:t>
            </a:r>
            <a:endParaRPr lang="en-US" sz="1100" dirty="0"/>
          </a:p>
        </p:txBody>
      </p:sp>
      <p:sp>
        <p:nvSpPr>
          <p:cNvPr id="18" name="Text 12"/>
          <p:cNvSpPr/>
          <p:nvPr/>
        </p:nvSpPr>
        <p:spPr>
          <a:xfrm>
            <a:off x="520779" y="3421856"/>
            <a:ext cx="6676430" cy="309324"/>
          </a:xfrm>
          <a:prstGeom prst="rect">
            <a:avLst/>
          </a:prstGeom>
          <a:noFill/>
          <a:ln/>
        </p:spPr>
        <p:txBody>
          <a:bodyPr wrap="square" lIns="0" tIns="0" rIns="0" bIns="0" rtlCol="0" anchor="t"/>
          <a:lstStyle/>
          <a:p>
            <a:pPr algn="l" indent="0" marL="0">
              <a:lnSpc>
                <a:spcPts val="1200"/>
              </a:lnSpc>
              <a:buNone/>
            </a:pPr>
            <a:r>
              <a:rPr lang="en-US" sz="750" dirty="0">
                <a:solidFill>
                  <a:srgbClr val="464646"/>
                </a:solidFill>
                <a:latin typeface="PT Sans" pitchFamily="34" charset="0"/>
                <a:ea typeface="PT Sans" pitchFamily="34" charset="-122"/>
                <a:cs typeface="PT Sans" pitchFamily="34" charset="-120"/>
              </a:rPr>
              <a:t>Ein Beispiel für die Anwendung von ML ist in autonomen Fahrzeugen zu finden, wo sowohl Software- als auch Hardwarekomponenten integriert werden, um Eingaben zu verarbeiten und entsprechende Ausgaben zu generieren.</a:t>
            </a:r>
            <a:endParaRPr lang="en-US" sz="750" dirty="0"/>
          </a:p>
        </p:txBody>
      </p:sp>
      <p:sp>
        <p:nvSpPr>
          <p:cNvPr id="19" name="Shape 13"/>
          <p:cNvSpPr/>
          <p:nvPr/>
        </p:nvSpPr>
        <p:spPr>
          <a:xfrm>
            <a:off x="520779" y="3839885"/>
            <a:ext cx="6676430" cy="410885"/>
          </a:xfrm>
          <a:prstGeom prst="roundRect">
            <a:avLst>
              <a:gd name="adj" fmla="val 2225"/>
            </a:avLst>
          </a:prstGeom>
          <a:solidFill>
            <a:srgbClr val="BEF3E2"/>
          </a:solidFill>
          <a:ln/>
        </p:spPr>
      </p:sp>
      <p:pic>
        <p:nvPicPr>
          <p:cNvPr id="20" name="Image 4" descr="preencoded.png">    </p:cNvPr>
          <p:cNvPicPr>
            <a:picLocks noChangeAspect="1"/>
          </p:cNvPicPr>
          <p:nvPr/>
        </p:nvPicPr>
        <p:blipFill>
          <a:blip r:embed="rId5"/>
          <a:stretch>
            <a:fillRect/>
          </a:stretch>
        </p:blipFill>
        <p:spPr>
          <a:xfrm>
            <a:off x="617458" y="3982760"/>
            <a:ext cx="120848" cy="96679"/>
          </a:xfrm>
          <a:prstGeom prst="rect">
            <a:avLst/>
          </a:prstGeom>
        </p:spPr>
      </p:pic>
      <p:sp>
        <p:nvSpPr>
          <p:cNvPr id="21" name="Text 14"/>
          <p:cNvSpPr/>
          <p:nvPr/>
        </p:nvSpPr>
        <p:spPr>
          <a:xfrm>
            <a:off x="834985" y="3960733"/>
            <a:ext cx="6265545" cy="154662"/>
          </a:xfrm>
          <a:prstGeom prst="rect">
            <a:avLst/>
          </a:prstGeom>
          <a:noFill/>
          <a:ln/>
        </p:spPr>
        <p:txBody>
          <a:bodyPr wrap="none" lIns="0" tIns="0" rIns="0" bIns="0" rtlCol="0" anchor="t"/>
          <a:lstStyle/>
          <a:p>
            <a:pPr algn="l" indent="0" marL="0">
              <a:lnSpc>
                <a:spcPts val="1200"/>
              </a:lnSpc>
              <a:buNone/>
            </a:pPr>
            <a:r>
              <a:rPr lang="en-US" sz="750" b="1" dirty="0">
                <a:solidFill>
                  <a:srgbClr val="000000"/>
                </a:solidFill>
                <a:latin typeface="PT Sans" pitchFamily="34" charset="0"/>
                <a:ea typeface="PT Sans" pitchFamily="34" charset="-122"/>
                <a:cs typeface="PT Sans" pitchFamily="34" charset="-120"/>
              </a:rPr>
              <a:t>Quelle:</a:t>
            </a:r>
            <a:pPr algn="l" indent="0" marL="0">
              <a:lnSpc>
                <a:spcPts val="1200"/>
              </a:lnSpc>
              <a:buNone/>
            </a:pPr>
            <a:r>
              <a:rPr lang="en-US" sz="750" dirty="0">
                <a:solidFill>
                  <a:srgbClr val="000000"/>
                </a:solidFill>
                <a:latin typeface="PT Sans" pitchFamily="34" charset="0"/>
                <a:ea typeface="PT Sans" pitchFamily="34" charset="-122"/>
                <a:cs typeface="PT Sans" pitchFamily="34" charset="-120"/>
              </a:rPr>
              <a:t> Fc2faf4ec-1690-485c-a0be-f6189f4e2f5c, Seite 1, Abschnitt: Introduction</a:t>
            </a:r>
            <a:endParaRPr lang="en-US" sz="750" dirty="0"/>
          </a:p>
        </p:txBody>
      </p:sp>
      <p:pic>
        <p:nvPicPr>
          <p:cNvPr id="22" name="Image 5" descr="preencoded.png">    </p:cNvPr>
          <p:cNvPicPr>
            <a:picLocks noChangeAspect="1"/>
          </p:cNvPicPr>
          <p:nvPr/>
        </p:nvPicPr>
        <p:blipFill>
          <a:blip r:embed="rId6"/>
          <a:stretch>
            <a:fillRect/>
          </a:stretch>
        </p:blipFill>
        <p:spPr>
          <a:xfrm>
            <a:off x="520779" y="4359473"/>
            <a:ext cx="1740932" cy="967145"/>
          </a:xfrm>
          <a:prstGeom prst="rect">
            <a:avLst/>
          </a:prstGeom>
        </p:spPr>
      </p:pic>
      <p:sp>
        <p:nvSpPr>
          <p:cNvPr id="23" name="Text 15"/>
          <p:cNvSpPr/>
          <p:nvPr/>
        </p:nvSpPr>
        <p:spPr>
          <a:xfrm>
            <a:off x="7440811" y="3155871"/>
            <a:ext cx="96679" cy="120848"/>
          </a:xfrm>
          <a:prstGeom prst="rect">
            <a:avLst/>
          </a:prstGeom>
          <a:noFill/>
          <a:ln/>
        </p:spPr>
        <p:txBody>
          <a:bodyPr wrap="none" lIns="0" tIns="0" rIns="0" bIns="0" rtlCol="0" anchor="t"/>
          <a:lstStyle/>
          <a:p>
            <a:pPr algn="l" indent="0" marL="0">
              <a:lnSpc>
                <a:spcPts val="1200"/>
              </a:lnSpc>
              <a:buNone/>
            </a:pPr>
            <a:r>
              <a:rPr lang="en-US" sz="750" dirty="0">
                <a:solidFill>
                  <a:srgbClr val="464646"/>
                </a:solidFill>
                <a:latin typeface="Montserrat Light" pitchFamily="34" charset="0"/>
                <a:ea typeface="Montserrat Light" pitchFamily="34" charset="-122"/>
                <a:cs typeface="Montserrat Light" pitchFamily="34" charset="-120"/>
              </a:rPr>
              <a:t>01</a:t>
            </a:r>
            <a:endParaRPr lang="en-US" sz="750" dirty="0"/>
          </a:p>
        </p:txBody>
      </p:sp>
      <p:sp>
        <p:nvSpPr>
          <p:cNvPr id="24" name="Shape 16"/>
          <p:cNvSpPr/>
          <p:nvPr/>
        </p:nvSpPr>
        <p:spPr>
          <a:xfrm>
            <a:off x="7440811" y="3304937"/>
            <a:ext cx="6676430" cy="15240"/>
          </a:xfrm>
          <a:prstGeom prst="rect">
            <a:avLst/>
          </a:prstGeom>
          <a:solidFill>
            <a:srgbClr val="1C9770"/>
          </a:solidFill>
          <a:ln/>
        </p:spPr>
      </p:sp>
      <p:sp>
        <p:nvSpPr>
          <p:cNvPr id="25" name="Text 17"/>
          <p:cNvSpPr/>
          <p:nvPr/>
        </p:nvSpPr>
        <p:spPr>
          <a:xfrm>
            <a:off x="7440811" y="3383756"/>
            <a:ext cx="1208961" cy="150971"/>
          </a:xfrm>
          <a:prstGeom prst="rect">
            <a:avLst/>
          </a:prstGeom>
          <a:noFill/>
          <a:ln/>
        </p:spPr>
        <p:txBody>
          <a:bodyPr wrap="none" lIns="0" tIns="0" rIns="0" bIns="0" rtlCol="0" anchor="t"/>
          <a:lstStyle/>
          <a:p>
            <a:pPr algn="l" indent="0" marL="0">
              <a:lnSpc>
                <a:spcPts val="1150"/>
              </a:lnSpc>
              <a:buNone/>
            </a:pPr>
            <a:r>
              <a:rPr lang="en-US" sz="950" dirty="0">
                <a:solidFill>
                  <a:srgbClr val="464646"/>
                </a:solidFill>
                <a:latin typeface="Montserrat Semi Bold" pitchFamily="34" charset="0"/>
                <a:ea typeface="Montserrat Semi Bold" pitchFamily="34" charset="-122"/>
                <a:cs typeface="Montserrat Semi Bold" pitchFamily="34" charset="-120"/>
              </a:rPr>
              <a:t>Input-Verarbeitung</a:t>
            </a:r>
            <a:endParaRPr lang="en-US" sz="950" dirty="0"/>
          </a:p>
        </p:txBody>
      </p:sp>
      <p:sp>
        <p:nvSpPr>
          <p:cNvPr id="26" name="Text 18"/>
          <p:cNvSpPr/>
          <p:nvPr/>
        </p:nvSpPr>
        <p:spPr>
          <a:xfrm>
            <a:off x="7440811" y="3631406"/>
            <a:ext cx="6676430" cy="154662"/>
          </a:xfrm>
          <a:prstGeom prst="rect">
            <a:avLst/>
          </a:prstGeom>
          <a:noFill/>
          <a:ln/>
        </p:spPr>
        <p:txBody>
          <a:bodyPr wrap="none" lIns="0" tIns="0" rIns="0" bIns="0" rtlCol="0" anchor="t"/>
          <a:lstStyle/>
          <a:p>
            <a:pPr algn="l" indent="0" marL="0">
              <a:lnSpc>
                <a:spcPts val="1200"/>
              </a:lnSpc>
              <a:buNone/>
            </a:pPr>
            <a:r>
              <a:rPr lang="en-US" sz="750" dirty="0">
                <a:solidFill>
                  <a:srgbClr val="464646"/>
                </a:solidFill>
                <a:latin typeface="PT Sans" pitchFamily="34" charset="0"/>
                <a:ea typeface="PT Sans" pitchFamily="34" charset="-122"/>
                <a:cs typeface="PT Sans" pitchFamily="34" charset="-120"/>
              </a:rPr>
              <a:t>Sensoren erfassen Umgebungsdaten in Echtzeit</a:t>
            </a:r>
            <a:endParaRPr lang="en-US" sz="750" dirty="0"/>
          </a:p>
        </p:txBody>
      </p:sp>
      <p:sp>
        <p:nvSpPr>
          <p:cNvPr id="27" name="Text 19"/>
          <p:cNvSpPr/>
          <p:nvPr/>
        </p:nvSpPr>
        <p:spPr>
          <a:xfrm>
            <a:off x="7440811" y="3955256"/>
            <a:ext cx="96679" cy="120848"/>
          </a:xfrm>
          <a:prstGeom prst="rect">
            <a:avLst/>
          </a:prstGeom>
          <a:noFill/>
          <a:ln/>
        </p:spPr>
        <p:txBody>
          <a:bodyPr wrap="none" lIns="0" tIns="0" rIns="0" bIns="0" rtlCol="0" anchor="t"/>
          <a:lstStyle/>
          <a:p>
            <a:pPr algn="l" indent="0" marL="0">
              <a:lnSpc>
                <a:spcPts val="1200"/>
              </a:lnSpc>
              <a:buNone/>
            </a:pPr>
            <a:r>
              <a:rPr lang="en-US" sz="750" dirty="0">
                <a:solidFill>
                  <a:srgbClr val="464646"/>
                </a:solidFill>
                <a:latin typeface="Montserrat Light" pitchFamily="34" charset="0"/>
                <a:ea typeface="Montserrat Light" pitchFamily="34" charset="-122"/>
                <a:cs typeface="Montserrat Light" pitchFamily="34" charset="-120"/>
              </a:rPr>
              <a:t>02</a:t>
            </a:r>
            <a:endParaRPr lang="en-US" sz="750" dirty="0"/>
          </a:p>
        </p:txBody>
      </p:sp>
      <p:sp>
        <p:nvSpPr>
          <p:cNvPr id="28" name="Shape 20"/>
          <p:cNvSpPr/>
          <p:nvPr/>
        </p:nvSpPr>
        <p:spPr>
          <a:xfrm>
            <a:off x="7440811" y="4104323"/>
            <a:ext cx="6676430" cy="15240"/>
          </a:xfrm>
          <a:prstGeom prst="rect">
            <a:avLst/>
          </a:prstGeom>
          <a:solidFill>
            <a:srgbClr val="1C9770"/>
          </a:solidFill>
          <a:ln/>
        </p:spPr>
      </p:sp>
      <p:sp>
        <p:nvSpPr>
          <p:cNvPr id="29" name="Text 21"/>
          <p:cNvSpPr/>
          <p:nvPr/>
        </p:nvSpPr>
        <p:spPr>
          <a:xfrm>
            <a:off x="7440811" y="4183142"/>
            <a:ext cx="1208961" cy="150971"/>
          </a:xfrm>
          <a:prstGeom prst="rect">
            <a:avLst/>
          </a:prstGeom>
          <a:noFill/>
          <a:ln/>
        </p:spPr>
        <p:txBody>
          <a:bodyPr wrap="none" lIns="0" tIns="0" rIns="0" bIns="0" rtlCol="0" anchor="t"/>
          <a:lstStyle/>
          <a:p>
            <a:pPr algn="l" indent="0" marL="0">
              <a:lnSpc>
                <a:spcPts val="1150"/>
              </a:lnSpc>
              <a:buNone/>
            </a:pPr>
            <a:r>
              <a:rPr lang="en-US" sz="950" dirty="0">
                <a:solidFill>
                  <a:srgbClr val="464646"/>
                </a:solidFill>
                <a:latin typeface="Montserrat Semi Bold" pitchFamily="34" charset="0"/>
                <a:ea typeface="Montserrat Semi Bold" pitchFamily="34" charset="-122"/>
                <a:cs typeface="Montserrat Semi Bold" pitchFamily="34" charset="-120"/>
              </a:rPr>
              <a:t>ML-Analyse</a:t>
            </a:r>
            <a:endParaRPr lang="en-US" sz="950" dirty="0"/>
          </a:p>
        </p:txBody>
      </p:sp>
      <p:sp>
        <p:nvSpPr>
          <p:cNvPr id="30" name="Text 22"/>
          <p:cNvSpPr/>
          <p:nvPr/>
        </p:nvSpPr>
        <p:spPr>
          <a:xfrm>
            <a:off x="7440811" y="4430792"/>
            <a:ext cx="6676430" cy="154662"/>
          </a:xfrm>
          <a:prstGeom prst="rect">
            <a:avLst/>
          </a:prstGeom>
          <a:noFill/>
          <a:ln/>
        </p:spPr>
        <p:txBody>
          <a:bodyPr wrap="none" lIns="0" tIns="0" rIns="0" bIns="0" rtlCol="0" anchor="t"/>
          <a:lstStyle/>
          <a:p>
            <a:pPr algn="l" indent="0" marL="0">
              <a:lnSpc>
                <a:spcPts val="1200"/>
              </a:lnSpc>
              <a:buNone/>
            </a:pPr>
            <a:r>
              <a:rPr lang="en-US" sz="750" dirty="0">
                <a:solidFill>
                  <a:srgbClr val="464646"/>
                </a:solidFill>
                <a:latin typeface="PT Sans" pitchFamily="34" charset="0"/>
                <a:ea typeface="PT Sans" pitchFamily="34" charset="-122"/>
                <a:cs typeface="PT Sans" pitchFamily="34" charset="-120"/>
              </a:rPr>
              <a:t>Algorithmen interpretieren und verarbeiten die Daten</a:t>
            </a:r>
            <a:endParaRPr lang="en-US" sz="750" dirty="0"/>
          </a:p>
        </p:txBody>
      </p:sp>
      <p:sp>
        <p:nvSpPr>
          <p:cNvPr id="31" name="Text 23"/>
          <p:cNvSpPr/>
          <p:nvPr/>
        </p:nvSpPr>
        <p:spPr>
          <a:xfrm>
            <a:off x="7440811" y="4754642"/>
            <a:ext cx="96679" cy="120848"/>
          </a:xfrm>
          <a:prstGeom prst="rect">
            <a:avLst/>
          </a:prstGeom>
          <a:noFill/>
          <a:ln/>
        </p:spPr>
        <p:txBody>
          <a:bodyPr wrap="none" lIns="0" tIns="0" rIns="0" bIns="0" rtlCol="0" anchor="t"/>
          <a:lstStyle/>
          <a:p>
            <a:pPr algn="l" indent="0" marL="0">
              <a:lnSpc>
                <a:spcPts val="1200"/>
              </a:lnSpc>
              <a:buNone/>
            </a:pPr>
            <a:r>
              <a:rPr lang="en-US" sz="750" dirty="0">
                <a:solidFill>
                  <a:srgbClr val="464646"/>
                </a:solidFill>
                <a:latin typeface="Montserrat Light" pitchFamily="34" charset="0"/>
                <a:ea typeface="Montserrat Light" pitchFamily="34" charset="-122"/>
                <a:cs typeface="Montserrat Light" pitchFamily="34" charset="-120"/>
              </a:rPr>
              <a:t>03</a:t>
            </a:r>
            <a:endParaRPr lang="en-US" sz="750" dirty="0"/>
          </a:p>
        </p:txBody>
      </p:sp>
      <p:sp>
        <p:nvSpPr>
          <p:cNvPr id="32" name="Shape 24"/>
          <p:cNvSpPr/>
          <p:nvPr/>
        </p:nvSpPr>
        <p:spPr>
          <a:xfrm>
            <a:off x="7440811" y="4903708"/>
            <a:ext cx="6676430" cy="15240"/>
          </a:xfrm>
          <a:prstGeom prst="rect">
            <a:avLst/>
          </a:prstGeom>
          <a:solidFill>
            <a:srgbClr val="1C9770"/>
          </a:solidFill>
          <a:ln/>
        </p:spPr>
      </p:sp>
      <p:sp>
        <p:nvSpPr>
          <p:cNvPr id="33" name="Text 25"/>
          <p:cNvSpPr/>
          <p:nvPr/>
        </p:nvSpPr>
        <p:spPr>
          <a:xfrm>
            <a:off x="7440811" y="4982528"/>
            <a:ext cx="1428869" cy="150971"/>
          </a:xfrm>
          <a:prstGeom prst="rect">
            <a:avLst/>
          </a:prstGeom>
          <a:noFill/>
          <a:ln/>
        </p:spPr>
        <p:txBody>
          <a:bodyPr wrap="none" lIns="0" tIns="0" rIns="0" bIns="0" rtlCol="0" anchor="t"/>
          <a:lstStyle/>
          <a:p>
            <a:pPr algn="l" indent="0" marL="0">
              <a:lnSpc>
                <a:spcPts val="1150"/>
              </a:lnSpc>
              <a:buNone/>
            </a:pPr>
            <a:r>
              <a:rPr lang="en-US" sz="950" dirty="0">
                <a:solidFill>
                  <a:srgbClr val="464646"/>
                </a:solidFill>
                <a:latin typeface="Montserrat Semi Bold" pitchFamily="34" charset="0"/>
                <a:ea typeface="Montserrat Semi Bold" pitchFamily="34" charset="-122"/>
                <a:cs typeface="Montserrat Semi Bold" pitchFamily="34" charset="-120"/>
              </a:rPr>
              <a:t>Entscheidungsfindung</a:t>
            </a:r>
            <a:endParaRPr lang="en-US" sz="950" dirty="0"/>
          </a:p>
        </p:txBody>
      </p:sp>
      <p:sp>
        <p:nvSpPr>
          <p:cNvPr id="34" name="Text 26"/>
          <p:cNvSpPr/>
          <p:nvPr/>
        </p:nvSpPr>
        <p:spPr>
          <a:xfrm>
            <a:off x="7440811" y="5230178"/>
            <a:ext cx="6676430" cy="154662"/>
          </a:xfrm>
          <a:prstGeom prst="rect">
            <a:avLst/>
          </a:prstGeom>
          <a:noFill/>
          <a:ln/>
        </p:spPr>
        <p:txBody>
          <a:bodyPr wrap="none" lIns="0" tIns="0" rIns="0" bIns="0" rtlCol="0" anchor="t"/>
          <a:lstStyle/>
          <a:p>
            <a:pPr algn="l" indent="0" marL="0">
              <a:lnSpc>
                <a:spcPts val="1200"/>
              </a:lnSpc>
              <a:buNone/>
            </a:pPr>
            <a:r>
              <a:rPr lang="en-US" sz="750" dirty="0">
                <a:solidFill>
                  <a:srgbClr val="464646"/>
                </a:solidFill>
                <a:latin typeface="PT Sans" pitchFamily="34" charset="0"/>
                <a:ea typeface="PT Sans" pitchFamily="34" charset="-122"/>
                <a:cs typeface="PT Sans" pitchFamily="34" charset="-120"/>
              </a:rPr>
              <a:t>System trifft autonome Fahrentscheidungen</a:t>
            </a:r>
            <a:endParaRPr lang="en-US" sz="750" dirty="0"/>
          </a:p>
        </p:txBody>
      </p:sp>
      <p:sp>
        <p:nvSpPr>
          <p:cNvPr id="35" name="Text 27"/>
          <p:cNvSpPr/>
          <p:nvPr/>
        </p:nvSpPr>
        <p:spPr>
          <a:xfrm>
            <a:off x="7440811" y="5554028"/>
            <a:ext cx="96679" cy="120848"/>
          </a:xfrm>
          <a:prstGeom prst="rect">
            <a:avLst/>
          </a:prstGeom>
          <a:noFill/>
          <a:ln/>
        </p:spPr>
        <p:txBody>
          <a:bodyPr wrap="none" lIns="0" tIns="0" rIns="0" bIns="0" rtlCol="0" anchor="t"/>
          <a:lstStyle/>
          <a:p>
            <a:pPr algn="l" indent="0" marL="0">
              <a:lnSpc>
                <a:spcPts val="1200"/>
              </a:lnSpc>
              <a:buNone/>
            </a:pPr>
            <a:r>
              <a:rPr lang="en-US" sz="750" dirty="0">
                <a:solidFill>
                  <a:srgbClr val="464646"/>
                </a:solidFill>
                <a:latin typeface="Montserrat Light" pitchFamily="34" charset="0"/>
                <a:ea typeface="Montserrat Light" pitchFamily="34" charset="-122"/>
                <a:cs typeface="Montserrat Light" pitchFamily="34" charset="-120"/>
              </a:rPr>
              <a:t>04</a:t>
            </a:r>
            <a:endParaRPr lang="en-US" sz="750" dirty="0"/>
          </a:p>
        </p:txBody>
      </p:sp>
      <p:sp>
        <p:nvSpPr>
          <p:cNvPr id="36" name="Shape 28"/>
          <p:cNvSpPr/>
          <p:nvPr/>
        </p:nvSpPr>
        <p:spPr>
          <a:xfrm>
            <a:off x="7440811" y="5703094"/>
            <a:ext cx="6676430" cy="15240"/>
          </a:xfrm>
          <a:prstGeom prst="rect">
            <a:avLst/>
          </a:prstGeom>
          <a:solidFill>
            <a:srgbClr val="1C9770"/>
          </a:solidFill>
          <a:ln/>
        </p:spPr>
      </p:sp>
      <p:sp>
        <p:nvSpPr>
          <p:cNvPr id="37" name="Text 29"/>
          <p:cNvSpPr/>
          <p:nvPr/>
        </p:nvSpPr>
        <p:spPr>
          <a:xfrm>
            <a:off x="7440811" y="5781913"/>
            <a:ext cx="1284327" cy="150971"/>
          </a:xfrm>
          <a:prstGeom prst="rect">
            <a:avLst/>
          </a:prstGeom>
          <a:noFill/>
          <a:ln/>
        </p:spPr>
        <p:txBody>
          <a:bodyPr wrap="none" lIns="0" tIns="0" rIns="0" bIns="0" rtlCol="0" anchor="t"/>
          <a:lstStyle/>
          <a:p>
            <a:pPr algn="l" indent="0" marL="0">
              <a:lnSpc>
                <a:spcPts val="1150"/>
              </a:lnSpc>
              <a:buNone/>
            </a:pPr>
            <a:r>
              <a:rPr lang="en-US" sz="950" dirty="0">
                <a:solidFill>
                  <a:srgbClr val="464646"/>
                </a:solidFill>
                <a:latin typeface="Montserrat Semi Bold" pitchFamily="34" charset="0"/>
                <a:ea typeface="Montserrat Semi Bold" pitchFamily="34" charset="-122"/>
                <a:cs typeface="Montserrat Semi Bold" pitchFamily="34" charset="-120"/>
              </a:rPr>
              <a:t>Output-Generierung</a:t>
            </a:r>
            <a:endParaRPr lang="en-US" sz="950" dirty="0"/>
          </a:p>
        </p:txBody>
      </p:sp>
      <p:sp>
        <p:nvSpPr>
          <p:cNvPr id="38" name="Text 30"/>
          <p:cNvSpPr/>
          <p:nvPr/>
        </p:nvSpPr>
        <p:spPr>
          <a:xfrm>
            <a:off x="7440811" y="6029563"/>
            <a:ext cx="6676430" cy="154662"/>
          </a:xfrm>
          <a:prstGeom prst="rect">
            <a:avLst/>
          </a:prstGeom>
          <a:noFill/>
          <a:ln/>
        </p:spPr>
        <p:txBody>
          <a:bodyPr wrap="none" lIns="0" tIns="0" rIns="0" bIns="0" rtlCol="0" anchor="t"/>
          <a:lstStyle/>
          <a:p>
            <a:pPr algn="l" indent="0" marL="0">
              <a:lnSpc>
                <a:spcPts val="1200"/>
              </a:lnSpc>
              <a:buNone/>
            </a:pPr>
            <a:r>
              <a:rPr lang="en-US" sz="750" dirty="0">
                <a:solidFill>
                  <a:srgbClr val="464646"/>
                </a:solidFill>
                <a:latin typeface="PT Sans" pitchFamily="34" charset="0"/>
                <a:ea typeface="PT Sans" pitchFamily="34" charset="-122"/>
                <a:cs typeface="PT Sans" pitchFamily="34" charset="-120"/>
              </a:rPr>
              <a:t>Steuerungsbefehle werden an Hardware übermittelt</a:t>
            </a:r>
            <a:endParaRPr lang="en-US" sz="750" dirty="0"/>
          </a:p>
        </p:txBody>
      </p:sp>
      <p:sp>
        <p:nvSpPr>
          <p:cNvPr id="39" name="Text 31"/>
          <p:cNvSpPr/>
          <p:nvPr/>
        </p:nvSpPr>
        <p:spPr>
          <a:xfrm>
            <a:off x="520779" y="6510457"/>
            <a:ext cx="1985724" cy="181332"/>
          </a:xfrm>
          <a:prstGeom prst="rect">
            <a:avLst/>
          </a:prstGeom>
          <a:noFill/>
          <a:ln/>
        </p:spPr>
        <p:txBody>
          <a:bodyPr wrap="none" lIns="0" tIns="0" rIns="0" bIns="0" rtlCol="0" anchor="t"/>
          <a:lstStyle/>
          <a:p>
            <a:pPr algn="l" indent="0" marL="0">
              <a:lnSpc>
                <a:spcPts val="1400"/>
              </a:lnSpc>
              <a:buNone/>
            </a:pPr>
            <a:r>
              <a:rPr lang="en-US" sz="1100" dirty="0">
                <a:solidFill>
                  <a:srgbClr val="030303"/>
                </a:solidFill>
                <a:latin typeface="Montserrat Semi Bold" pitchFamily="34" charset="0"/>
                <a:ea typeface="Montserrat Semi Bold" pitchFamily="34" charset="-122"/>
                <a:cs typeface="Montserrat Semi Bold" pitchFamily="34" charset="-120"/>
              </a:rPr>
              <a:t>Wissenschaftliche Quellen</a:t>
            </a:r>
            <a:endParaRPr lang="en-US" sz="1100" dirty="0"/>
          </a:p>
        </p:txBody>
      </p:sp>
      <p:sp>
        <p:nvSpPr>
          <p:cNvPr id="40" name="Text 32"/>
          <p:cNvSpPr/>
          <p:nvPr/>
        </p:nvSpPr>
        <p:spPr>
          <a:xfrm>
            <a:off x="520779" y="6836807"/>
            <a:ext cx="13588841" cy="154662"/>
          </a:xfrm>
          <a:prstGeom prst="rect">
            <a:avLst/>
          </a:prstGeom>
          <a:noFill/>
          <a:ln/>
        </p:spPr>
        <p:txBody>
          <a:bodyPr wrap="none" lIns="0" tIns="0" rIns="0" bIns="0" rtlCol="0" anchor="t"/>
          <a:lstStyle/>
          <a:p>
            <a:pPr algn="l" marL="342900" indent="-342900">
              <a:lnSpc>
                <a:spcPts val="1200"/>
              </a:lnSpc>
              <a:buSzPct val="100000"/>
              <a:buChar char="•"/>
            </a:pPr>
            <a:r>
              <a:rPr lang="en-US" sz="750" dirty="0">
                <a:solidFill>
                  <a:srgbClr val="464646"/>
                </a:solidFill>
                <a:latin typeface="PT Sans" pitchFamily="34" charset="0"/>
                <a:ea typeface="PT Sans" pitchFamily="34" charset="-122"/>
                <a:cs typeface="PT Sans" pitchFamily="34" charset="-120"/>
              </a:rPr>
              <a:t>Improving citizen-government interactions with generative artificial intelligence: Novel human-computer interaction strategies for policy understanding through large language models — DOI: 10.1371/journal.pone.0311410 — Seite 17</a:t>
            </a:r>
            <a:endParaRPr lang="en-US" sz="750" dirty="0"/>
          </a:p>
        </p:txBody>
      </p:sp>
      <p:sp>
        <p:nvSpPr>
          <p:cNvPr id="41" name="Text 33"/>
          <p:cNvSpPr/>
          <p:nvPr/>
        </p:nvSpPr>
        <p:spPr>
          <a:xfrm>
            <a:off x="520779" y="7025283"/>
            <a:ext cx="13588841" cy="154662"/>
          </a:xfrm>
          <a:prstGeom prst="rect">
            <a:avLst/>
          </a:prstGeom>
          <a:noFill/>
          <a:ln/>
        </p:spPr>
        <p:txBody>
          <a:bodyPr wrap="none" lIns="0" tIns="0" rIns="0" bIns="0" rtlCol="0" anchor="t"/>
          <a:lstStyle/>
          <a:p>
            <a:pPr algn="l" marL="342900" indent="-342900">
              <a:lnSpc>
                <a:spcPts val="1200"/>
              </a:lnSpc>
              <a:buSzPct val="100000"/>
              <a:buChar char="•"/>
            </a:pPr>
            <a:r>
              <a:rPr lang="en-US" sz="750" dirty="0">
                <a:solidFill>
                  <a:srgbClr val="464646"/>
                </a:solidFill>
                <a:latin typeface="PT Sans" pitchFamily="34" charset="0"/>
                <a:ea typeface="PT Sans" pitchFamily="34" charset="-122"/>
                <a:cs typeface="PT Sans" pitchFamily="34" charset="-120"/>
              </a:rPr>
              <a:t>Interactive Machine Learning — Seite 4</a:t>
            </a:r>
            <a:endParaRPr lang="en-US" sz="750" dirty="0"/>
          </a:p>
        </p:txBody>
      </p:sp>
      <p:sp>
        <p:nvSpPr>
          <p:cNvPr id="42" name="Text 34"/>
          <p:cNvSpPr/>
          <p:nvPr/>
        </p:nvSpPr>
        <p:spPr>
          <a:xfrm>
            <a:off x="520779" y="7213759"/>
            <a:ext cx="13588841" cy="154662"/>
          </a:xfrm>
          <a:prstGeom prst="rect">
            <a:avLst/>
          </a:prstGeom>
          <a:noFill/>
          <a:ln/>
        </p:spPr>
        <p:txBody>
          <a:bodyPr wrap="none" lIns="0" tIns="0" rIns="0" bIns="0" rtlCol="0" anchor="t"/>
          <a:lstStyle/>
          <a:p>
            <a:pPr algn="l" marL="342900" indent="-342900">
              <a:lnSpc>
                <a:spcPts val="1200"/>
              </a:lnSpc>
              <a:buSzPct val="100000"/>
              <a:buChar char="•"/>
            </a:pPr>
            <a:r>
              <a:rPr lang="en-US" sz="750" dirty="0">
                <a:solidFill>
                  <a:srgbClr val="464646"/>
                </a:solidFill>
                <a:latin typeface="PT Sans" pitchFamily="34" charset="0"/>
                <a:ea typeface="PT Sans" pitchFamily="34" charset="-122"/>
                <a:cs typeface="PT Sans" pitchFamily="34" charset="-120"/>
              </a:rPr>
              <a:t>Guidelines for Human-AI interaction — Seite 6</a:t>
            </a:r>
            <a:endParaRPr lang="en-US" sz="750" dirty="0"/>
          </a:p>
        </p:txBody>
      </p:sp>
      <p:sp>
        <p:nvSpPr>
          <p:cNvPr id="43" name="Text 35"/>
          <p:cNvSpPr/>
          <p:nvPr/>
        </p:nvSpPr>
        <p:spPr>
          <a:xfrm>
            <a:off x="520779" y="7402235"/>
            <a:ext cx="13588841" cy="154662"/>
          </a:xfrm>
          <a:prstGeom prst="rect">
            <a:avLst/>
          </a:prstGeom>
          <a:noFill/>
          <a:ln/>
        </p:spPr>
        <p:txBody>
          <a:bodyPr wrap="none" lIns="0" tIns="0" rIns="0" bIns="0" rtlCol="0" anchor="t"/>
          <a:lstStyle/>
          <a:p>
            <a:pPr algn="l" marL="342900" indent="-342900">
              <a:lnSpc>
                <a:spcPts val="1200"/>
              </a:lnSpc>
              <a:buSzPct val="100000"/>
              <a:buChar char="•"/>
            </a:pPr>
            <a:r>
              <a:rPr lang="en-US" sz="750" dirty="0">
                <a:solidFill>
                  <a:srgbClr val="464646"/>
                </a:solidFill>
                <a:latin typeface="PT Sans" pitchFamily="34" charset="0"/>
                <a:ea typeface="PT Sans" pitchFamily="34" charset="-122"/>
                <a:cs typeface="PT Sans" pitchFamily="34" charset="-120"/>
              </a:rPr>
              <a:t>Introduction to Autonomous Systems — Seite 1</a:t>
            </a:r>
            <a:endParaRPr lang="en-US" sz="750" dirty="0"/>
          </a:p>
        </p:txBody>
      </p:sp>
      <p:sp>
        <p:nvSpPr>
          <p:cNvPr id="44" name="Text 36"/>
          <p:cNvSpPr/>
          <p:nvPr/>
        </p:nvSpPr>
        <p:spPr>
          <a:xfrm>
            <a:off x="520779" y="7590711"/>
            <a:ext cx="13588841" cy="154662"/>
          </a:xfrm>
          <a:prstGeom prst="rect">
            <a:avLst/>
          </a:prstGeom>
          <a:noFill/>
          <a:ln/>
        </p:spPr>
        <p:txBody>
          <a:bodyPr wrap="none" lIns="0" tIns="0" rIns="0" bIns="0" rtlCol="0" anchor="t"/>
          <a:lstStyle/>
          <a:p>
            <a:pPr algn="l" marL="342900" indent="-342900">
              <a:lnSpc>
                <a:spcPts val="1200"/>
              </a:lnSpc>
              <a:buSzPct val="100000"/>
              <a:buChar char="•"/>
            </a:pPr>
            <a:r>
              <a:rPr lang="en-US" sz="750" dirty="0">
                <a:solidFill>
                  <a:srgbClr val="464646"/>
                </a:solidFill>
                <a:latin typeface="PT Sans" pitchFamily="34" charset="0"/>
                <a:ea typeface="PT Sans" pitchFamily="34" charset="-122"/>
                <a:cs typeface="PT Sans" pitchFamily="34" charset="-120"/>
              </a:rPr>
              <a:t>Decision Trees and State Transitions — Seite 10</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2025-10-29T13:32:27Z</dcterms:created>
  <dcterms:modified xsi:type="dcterms:W3CDTF">2025-10-29T13:32:27Z</dcterms:modified>
</cp:coreProperties>
</file>
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embeddedFontLst>
    <p:embeddedFont>
      <p:font typeface="Montserrat Semi Bold"/>
      <p:regular r:id="rId16"/>
    </p:embeddedFont>
    <p:embeddedFont>
      <p:font typeface="Montserrat Semi Bold"/>
      <p:regular r:id="rId17"/>
    </p:embeddedFont>
    <p:embeddedFont>
      <p:font typeface="Montserrat Semi Bold"/>
      <p:regular r:id="rId18"/>
    </p:embeddedFont>
    <p:embeddedFont>
      <p:font typeface="Montserrat Semi Bold"/>
      <p:regular r:id="rId19"/>
    </p:embeddedFont>
    <p:embeddedFont>
      <p:font typeface="PT Sans"/>
      <p:regular r:id="rId20"/>
    </p:embeddedFont>
    <p:embeddedFont>
      <p:font typeface="PT Sans"/>
      <p:regular r:id="rId21"/>
    </p:embeddedFont>
    <p:embeddedFont>
      <p:font typeface="PT Sans"/>
      <p:regular r:id="rId22"/>
    </p:embeddedFont>
    <p:embeddedFont>
      <p:font typeface="PT Sans"/>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font" Target="fonts/font6.fntdata"/><Relationship Id="rId22" Type="http://schemas.openxmlformats.org/officeDocument/2006/relationships/font" Target="fonts/font7.fntdata"/><Relationship Id="rId23"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5.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svg"/><Relationship Id="rId10" Type="http://schemas.openxmlformats.org/officeDocument/2006/relationships/slideLayout" Target="../slideLayouts/slideLayout9.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github.com/HKUDS/RAG-Anything" TargetMode="External"/><Relationship Id="rId2" Type="http://schemas.openxmlformats.org/officeDocument/2006/relationships/hyperlink" Target="https://doi.org/10.1145/3711896.3737012" TargetMode="External"/><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280190" y="3054429"/>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030303"/>
                </a:solidFill>
                <a:latin typeface="Montserrat Semi Bold" pitchFamily="34" charset="0"/>
                <a:ea typeface="Montserrat Semi Bold" pitchFamily="34" charset="-122"/>
                <a:cs typeface="Montserrat Semi Bold" pitchFamily="34" charset="-120"/>
              </a:rPr>
              <a:t>Grundlegende Sachen zu RAG</a:t>
            </a:r>
            <a:endParaRPr lang="en-US" sz="4450" dirty="0"/>
          </a:p>
        </p:txBody>
      </p:sp>
      <p:sp>
        <p:nvSpPr>
          <p:cNvPr id="4" name="Text 1"/>
          <p:cNvSpPr/>
          <p:nvPr/>
        </p:nvSpPr>
        <p:spPr>
          <a:xfrm>
            <a:off x="6280190" y="4812149"/>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464646"/>
                </a:solidFill>
                <a:latin typeface="PT Sans" pitchFamily="34" charset="0"/>
                <a:ea typeface="PT Sans" pitchFamily="34" charset="-122"/>
                <a:cs typeface="PT Sans" pitchFamily="34" charset="-120"/>
              </a:rPr>
              <a:t>Überblick der wichtigsten Ergebnisse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462445"/>
            <a:ext cx="3685937" cy="460772"/>
          </a:xfrm>
          <a:prstGeom prst="rect">
            <a:avLst/>
          </a:prstGeom>
          <a:noFill/>
          <a:ln/>
        </p:spPr>
        <p:txBody>
          <a:bodyPr wrap="none" lIns="0" tIns="0" rIns="0" bIns="0" rtlCol="0" anchor="t"/>
          <a:lstStyle/>
          <a:p>
            <a:pPr algn="l" indent="0" marL="0">
              <a:lnSpc>
                <a:spcPts val="3600"/>
              </a:lnSpc>
              <a:buNone/>
            </a:pPr>
            <a:r>
              <a:rPr lang="en-US" sz="2900" dirty="0">
                <a:solidFill>
                  <a:srgbClr val="030303"/>
                </a:solidFill>
                <a:latin typeface="Montserrat Semi Bold" pitchFamily="34" charset="0"/>
                <a:ea typeface="Montserrat Semi Bold" pitchFamily="34" charset="-122"/>
                <a:cs typeface="Montserrat Semi Bold" pitchFamily="34" charset="-120"/>
              </a:rPr>
              <a:t>Einführung in RAG</a:t>
            </a:r>
            <a:endParaRPr lang="en-US" sz="2900" dirty="0"/>
          </a:p>
        </p:txBody>
      </p:sp>
      <p:sp>
        <p:nvSpPr>
          <p:cNvPr id="3" name="Shape 1"/>
          <p:cNvSpPr/>
          <p:nvPr/>
        </p:nvSpPr>
        <p:spPr>
          <a:xfrm>
            <a:off x="793790" y="2218015"/>
            <a:ext cx="6447711" cy="1971556"/>
          </a:xfrm>
          <a:prstGeom prst="roundRect">
            <a:avLst>
              <a:gd name="adj" fmla="val 464"/>
            </a:avLst>
          </a:prstGeom>
          <a:solidFill>
            <a:srgbClr val="F9F7F7"/>
          </a:solidFill>
          <a:ln w="7620">
            <a:solidFill>
              <a:srgbClr val="D8D4D4"/>
            </a:solidFill>
            <a:prstDash val="solid"/>
          </a:ln>
        </p:spPr>
      </p:sp>
      <p:sp>
        <p:nvSpPr>
          <p:cNvPr id="4" name="Shape 2"/>
          <p:cNvSpPr/>
          <p:nvPr/>
        </p:nvSpPr>
        <p:spPr>
          <a:xfrm>
            <a:off x="948809" y="2373035"/>
            <a:ext cx="442198" cy="442198"/>
          </a:xfrm>
          <a:prstGeom prst="roundRect">
            <a:avLst>
              <a:gd name="adj" fmla="val 20676452"/>
            </a:avLst>
          </a:prstGeom>
          <a:solidFill>
            <a:srgbClr val="1C9770"/>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70372" y="2494598"/>
            <a:ext cx="198953" cy="198953"/>
          </a:xfrm>
          <a:prstGeom prst="rect">
            <a:avLst/>
          </a:prstGeom>
        </p:spPr>
      </p:pic>
      <p:sp>
        <p:nvSpPr>
          <p:cNvPr id="6" name="Text 3"/>
          <p:cNvSpPr/>
          <p:nvPr/>
        </p:nvSpPr>
        <p:spPr>
          <a:xfrm>
            <a:off x="948809" y="2962632"/>
            <a:ext cx="2211467" cy="276344"/>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Montserrat Semi Bold" pitchFamily="34" charset="0"/>
                <a:ea typeface="Montserrat Semi Bold" pitchFamily="34" charset="-122"/>
                <a:cs typeface="Montserrat Semi Bold" pitchFamily="34" charset="-120"/>
              </a:rPr>
              <a:t>Definition</a:t>
            </a:r>
            <a:endParaRPr lang="en-US" sz="1700" dirty="0"/>
          </a:p>
        </p:txBody>
      </p:sp>
      <p:sp>
        <p:nvSpPr>
          <p:cNvPr id="7" name="Text 4"/>
          <p:cNvSpPr/>
          <p:nvPr/>
        </p:nvSpPr>
        <p:spPr>
          <a:xfrm>
            <a:off x="948809" y="3327321"/>
            <a:ext cx="6137672" cy="707231"/>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RAG steht für "Retrieval-Augmented Generation". Es handelt sich um ein Framework, das darauf abzielt, Informationen effizient zu organisieren und abzurufen, um sie in generativen Prozessen zu nutzen.</a:t>
            </a:r>
            <a:endParaRPr lang="en-US" sz="1150" dirty="0"/>
          </a:p>
        </p:txBody>
      </p:sp>
      <p:sp>
        <p:nvSpPr>
          <p:cNvPr id="8" name="Shape 5"/>
          <p:cNvSpPr/>
          <p:nvPr/>
        </p:nvSpPr>
        <p:spPr>
          <a:xfrm>
            <a:off x="7388900" y="2218015"/>
            <a:ext cx="6447711" cy="1971556"/>
          </a:xfrm>
          <a:prstGeom prst="roundRect">
            <a:avLst>
              <a:gd name="adj" fmla="val 464"/>
            </a:avLst>
          </a:prstGeom>
          <a:solidFill>
            <a:srgbClr val="F9F7F7"/>
          </a:solidFill>
          <a:ln w="7620">
            <a:solidFill>
              <a:srgbClr val="D8D4D4"/>
            </a:solidFill>
            <a:prstDash val="solid"/>
          </a:ln>
        </p:spPr>
      </p:sp>
      <p:sp>
        <p:nvSpPr>
          <p:cNvPr id="9" name="Shape 6"/>
          <p:cNvSpPr/>
          <p:nvPr/>
        </p:nvSpPr>
        <p:spPr>
          <a:xfrm>
            <a:off x="7543919" y="2373035"/>
            <a:ext cx="442198" cy="442198"/>
          </a:xfrm>
          <a:prstGeom prst="roundRect">
            <a:avLst>
              <a:gd name="adj" fmla="val 20676452"/>
            </a:avLst>
          </a:prstGeom>
          <a:solidFill>
            <a:srgbClr val="1C9770"/>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65482" y="2494598"/>
            <a:ext cx="198953" cy="198953"/>
          </a:xfrm>
          <a:prstGeom prst="rect">
            <a:avLst/>
          </a:prstGeom>
        </p:spPr>
      </p:pic>
      <p:sp>
        <p:nvSpPr>
          <p:cNvPr id="11" name="Text 7"/>
          <p:cNvSpPr/>
          <p:nvPr/>
        </p:nvSpPr>
        <p:spPr>
          <a:xfrm>
            <a:off x="7543919" y="2962632"/>
            <a:ext cx="2523292" cy="276344"/>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Montserrat Semi Bold" pitchFamily="34" charset="0"/>
                <a:ea typeface="Montserrat Semi Bold" pitchFamily="34" charset="-122"/>
                <a:cs typeface="Montserrat Semi Bold" pitchFamily="34" charset="-120"/>
              </a:rPr>
              <a:t>Anwendungsbereiche</a:t>
            </a:r>
            <a:endParaRPr lang="en-US" sz="1700" dirty="0"/>
          </a:p>
        </p:txBody>
      </p:sp>
      <p:sp>
        <p:nvSpPr>
          <p:cNvPr id="12" name="Text 8"/>
          <p:cNvSpPr/>
          <p:nvPr/>
        </p:nvSpPr>
        <p:spPr>
          <a:xfrm>
            <a:off x="7543919" y="3327321"/>
            <a:ext cx="6137672"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Diese Technologie wird häufig in Bereichen eingesetzt, in denen große Datenmengen verarbeitet werden müssen, wie z.B. in der künstlichen Intelligenz und im maschinellen Lernen.</a:t>
            </a:r>
            <a:endParaRPr lang="en-US" sz="1150" dirty="0"/>
          </a:p>
        </p:txBody>
      </p:sp>
      <p:sp>
        <p:nvSpPr>
          <p:cNvPr id="13" name="Text 9"/>
          <p:cNvSpPr/>
          <p:nvPr/>
        </p:nvSpPr>
        <p:spPr>
          <a:xfrm>
            <a:off x="793790" y="4410670"/>
            <a:ext cx="3776424" cy="368618"/>
          </a:xfrm>
          <a:prstGeom prst="rect">
            <a:avLst/>
          </a:prstGeom>
          <a:noFill/>
          <a:ln/>
        </p:spPr>
        <p:txBody>
          <a:bodyPr wrap="none" lIns="0" tIns="0" rIns="0" bIns="0" rtlCol="0" anchor="t"/>
          <a:lstStyle/>
          <a:p>
            <a:pPr algn="l" indent="0" marL="0">
              <a:lnSpc>
                <a:spcPts val="2900"/>
              </a:lnSpc>
              <a:buNone/>
            </a:pPr>
            <a:r>
              <a:rPr lang="en-US" sz="2300" dirty="0">
                <a:solidFill>
                  <a:srgbClr val="030303"/>
                </a:solidFill>
                <a:latin typeface="Montserrat Semi Bold" pitchFamily="34" charset="0"/>
                <a:ea typeface="Montserrat Semi Bold" pitchFamily="34" charset="-122"/>
                <a:cs typeface="Montserrat Semi Bold" pitchFamily="34" charset="-120"/>
              </a:rPr>
              <a:t>Funktionsweise von RAG</a:t>
            </a:r>
            <a:endParaRPr lang="en-US" sz="2300" dirty="0"/>
          </a:p>
        </p:txBody>
      </p:sp>
      <p:sp>
        <p:nvSpPr>
          <p:cNvPr id="14" name="Text 10"/>
          <p:cNvSpPr/>
          <p:nvPr/>
        </p:nvSpPr>
        <p:spPr>
          <a:xfrm>
            <a:off x="793790" y="5147786"/>
            <a:ext cx="3435429" cy="230386"/>
          </a:xfrm>
          <a:prstGeom prst="rect">
            <a:avLst/>
          </a:prstGeom>
          <a:noFill/>
          <a:ln/>
        </p:spPr>
        <p:txBody>
          <a:bodyPr wrap="none" lIns="0" tIns="0" rIns="0" bIns="0" rtlCol="0" anchor="t"/>
          <a:lstStyle/>
          <a:p>
            <a:pPr algn="l" indent="0" marL="0">
              <a:lnSpc>
                <a:spcPts val="1800"/>
              </a:lnSpc>
              <a:buNone/>
            </a:pPr>
            <a:r>
              <a:rPr lang="en-US" sz="1450" dirty="0">
                <a:solidFill>
                  <a:srgbClr val="030303"/>
                </a:solidFill>
                <a:latin typeface="Montserrat Semi Bold" pitchFamily="34" charset="0"/>
                <a:ea typeface="Montserrat Semi Bold" pitchFamily="34" charset="-122"/>
                <a:cs typeface="Montserrat Semi Bold" pitchFamily="34" charset="-120"/>
              </a:rPr>
              <a:t>Informationsbeschaffung (Retrieval)</a:t>
            </a:r>
            <a:endParaRPr lang="en-US" sz="1450" dirty="0"/>
          </a:p>
        </p:txBody>
      </p:sp>
      <p:sp>
        <p:nvSpPr>
          <p:cNvPr id="15" name="Text 11"/>
          <p:cNvSpPr/>
          <p:nvPr/>
        </p:nvSpPr>
        <p:spPr>
          <a:xfrm>
            <a:off x="793790" y="5525572"/>
            <a:ext cx="6341626"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RAG-Frameworks kombinieren zwei Hauptkomponenten. Die Informationsbeschaffung bezieht sich auf das Abrufen relevanter Daten aus einer großen Datenbank oder einem Datensatz.</a:t>
            </a:r>
            <a:endParaRPr lang="en-US" sz="1150" dirty="0"/>
          </a:p>
        </p:txBody>
      </p:sp>
      <p:sp>
        <p:nvSpPr>
          <p:cNvPr id="16" name="Text 12"/>
          <p:cNvSpPr/>
          <p:nvPr/>
        </p:nvSpPr>
        <p:spPr>
          <a:xfrm>
            <a:off x="7502604" y="5147786"/>
            <a:ext cx="2433042" cy="230386"/>
          </a:xfrm>
          <a:prstGeom prst="rect">
            <a:avLst/>
          </a:prstGeom>
          <a:noFill/>
          <a:ln/>
        </p:spPr>
        <p:txBody>
          <a:bodyPr wrap="none" lIns="0" tIns="0" rIns="0" bIns="0" rtlCol="0" anchor="t"/>
          <a:lstStyle/>
          <a:p>
            <a:pPr algn="l" indent="0" marL="0">
              <a:lnSpc>
                <a:spcPts val="1800"/>
              </a:lnSpc>
              <a:buNone/>
            </a:pPr>
            <a:r>
              <a:rPr lang="en-US" sz="1450" dirty="0">
                <a:solidFill>
                  <a:srgbClr val="030303"/>
                </a:solidFill>
                <a:latin typeface="Montserrat Semi Bold" pitchFamily="34" charset="0"/>
                <a:ea typeface="Montserrat Semi Bold" pitchFamily="34" charset="-122"/>
                <a:cs typeface="Montserrat Semi Bold" pitchFamily="34" charset="-120"/>
              </a:rPr>
              <a:t>Generierung (Generation)</a:t>
            </a:r>
            <a:endParaRPr lang="en-US" sz="1450" dirty="0"/>
          </a:p>
        </p:txBody>
      </p:sp>
      <p:sp>
        <p:nvSpPr>
          <p:cNvPr id="17" name="Text 13"/>
          <p:cNvSpPr/>
          <p:nvPr/>
        </p:nvSpPr>
        <p:spPr>
          <a:xfrm>
            <a:off x="7502604" y="5525572"/>
            <a:ext cx="6341626"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Die Generierung bezieht sich auf die Erstellung neuer Inhalte oder Antworten basierend auf den abgerufenen Informationen.</a:t>
            </a:r>
            <a:endParaRPr lang="en-US" sz="1150" dirty="0"/>
          </a:p>
        </p:txBody>
      </p:sp>
      <p:sp>
        <p:nvSpPr>
          <p:cNvPr id="18" name="Text 14"/>
          <p:cNvSpPr/>
          <p:nvPr/>
        </p:nvSpPr>
        <p:spPr>
          <a:xfrm>
            <a:off x="793790" y="6295549"/>
            <a:ext cx="13042821"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Ein Beispiel für die Anwendung eines RAG-Frameworks ist die Erstellung von Texten, die auf spezifischen, abgerufenen Informationen basieren. Dies kann in der automatischen Beantwortung von Fragen oder in der Erstellung von Berichten nützlich sein.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280190" y="2054185"/>
            <a:ext cx="6652974" cy="460772"/>
          </a:xfrm>
          <a:prstGeom prst="rect">
            <a:avLst/>
          </a:prstGeom>
          <a:noFill/>
          <a:ln/>
        </p:spPr>
        <p:txBody>
          <a:bodyPr wrap="none" lIns="0" tIns="0" rIns="0" bIns="0" rtlCol="0" anchor="t"/>
          <a:lstStyle/>
          <a:p>
            <a:pPr algn="l" indent="0" marL="0">
              <a:lnSpc>
                <a:spcPts val="3600"/>
              </a:lnSpc>
              <a:buNone/>
            </a:pPr>
            <a:r>
              <a:rPr lang="en-US" sz="2900" dirty="0">
                <a:solidFill>
                  <a:srgbClr val="030303"/>
                </a:solidFill>
                <a:latin typeface="Montserrat Semi Bold" pitchFamily="34" charset="0"/>
                <a:ea typeface="Montserrat Semi Bold" pitchFamily="34" charset="-122"/>
                <a:cs typeface="Montserrat Semi Bold" pitchFamily="34" charset="-120"/>
              </a:rPr>
              <a:t>Visualisierung: Stilisierte Schichten</a:t>
            </a:r>
            <a:endParaRPr lang="en-US" sz="2900" dirty="0"/>
          </a:p>
        </p:txBody>
      </p:sp>
      <p:sp>
        <p:nvSpPr>
          <p:cNvPr id="4" name="Shape 1"/>
          <p:cNvSpPr/>
          <p:nvPr/>
        </p:nvSpPr>
        <p:spPr>
          <a:xfrm>
            <a:off x="6280190" y="2736056"/>
            <a:ext cx="7556421" cy="1161455"/>
          </a:xfrm>
          <a:prstGeom prst="roundRect">
            <a:avLst>
              <a:gd name="adj" fmla="val 787"/>
            </a:avLst>
          </a:prstGeom>
          <a:solidFill>
            <a:srgbClr val="FFFFFF"/>
          </a:solidFill>
          <a:ln w="15240">
            <a:solidFill>
              <a:srgbClr val="D8D4D4"/>
            </a:solidFill>
            <a:prstDash val="solid"/>
          </a:ln>
        </p:spPr>
      </p:sp>
      <p:sp>
        <p:nvSpPr>
          <p:cNvPr id="5" name="Text 2"/>
          <p:cNvSpPr/>
          <p:nvPr/>
        </p:nvSpPr>
        <p:spPr>
          <a:xfrm>
            <a:off x="6442829" y="2898696"/>
            <a:ext cx="4493657" cy="276344"/>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Montserrat Semi Bold" pitchFamily="34" charset="0"/>
                <a:ea typeface="Montserrat Semi Bold" pitchFamily="34" charset="-122"/>
                <a:cs typeface="Montserrat Semi Bold" pitchFamily="34" charset="-120"/>
              </a:rPr>
              <a:t>Metapher für Informationsverarbeitung</a:t>
            </a:r>
            <a:endParaRPr lang="en-US" sz="1700" dirty="0"/>
          </a:p>
        </p:txBody>
      </p:sp>
      <p:sp>
        <p:nvSpPr>
          <p:cNvPr id="6" name="Text 3"/>
          <p:cNvSpPr/>
          <p:nvPr/>
        </p:nvSpPr>
        <p:spPr>
          <a:xfrm>
            <a:off x="6442829" y="3263384"/>
            <a:ext cx="7231142"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Ein Bild mit fünf übereinanderliegenden, unterschiedlich farbigen Schichten kann als Metapher für die verschiedenen Ebenen der Informationsverarbeitung in einem RAG-Framework dienen.</a:t>
            </a:r>
            <a:endParaRPr lang="en-US" sz="1150" dirty="0"/>
          </a:p>
        </p:txBody>
      </p:sp>
      <p:sp>
        <p:nvSpPr>
          <p:cNvPr id="7" name="Shape 4"/>
          <p:cNvSpPr/>
          <p:nvPr/>
        </p:nvSpPr>
        <p:spPr>
          <a:xfrm>
            <a:off x="6280190" y="4044910"/>
            <a:ext cx="7556421" cy="1161455"/>
          </a:xfrm>
          <a:prstGeom prst="roundRect">
            <a:avLst>
              <a:gd name="adj" fmla="val 787"/>
            </a:avLst>
          </a:prstGeom>
          <a:solidFill>
            <a:srgbClr val="FFFFFF"/>
          </a:solidFill>
          <a:ln w="15240">
            <a:solidFill>
              <a:srgbClr val="D8D4D4"/>
            </a:solidFill>
            <a:prstDash val="solid"/>
          </a:ln>
        </p:spPr>
      </p:sp>
      <p:sp>
        <p:nvSpPr>
          <p:cNvPr id="8" name="Text 5"/>
          <p:cNvSpPr/>
          <p:nvPr/>
        </p:nvSpPr>
        <p:spPr>
          <a:xfrm>
            <a:off x="6442829" y="4207550"/>
            <a:ext cx="2211467" cy="276344"/>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Montserrat Semi Bold" pitchFamily="34" charset="0"/>
                <a:ea typeface="Montserrat Semi Bold" pitchFamily="34" charset="-122"/>
                <a:cs typeface="Montserrat Semi Bold" pitchFamily="34" charset="-120"/>
              </a:rPr>
              <a:t>Prozessdarstellung</a:t>
            </a:r>
            <a:endParaRPr lang="en-US" sz="1700" dirty="0"/>
          </a:p>
        </p:txBody>
      </p:sp>
      <p:sp>
        <p:nvSpPr>
          <p:cNvPr id="9" name="Text 6"/>
          <p:cNvSpPr/>
          <p:nvPr/>
        </p:nvSpPr>
        <p:spPr>
          <a:xfrm>
            <a:off x="6442829" y="4572238"/>
            <a:ext cx="7231142"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Jede Schicht könnte eine andere Phase des Prozesses darstellen, von der Datensammlung bis zur endgültigen Ausgabe.</a:t>
            </a:r>
            <a:endParaRPr lang="en-US" sz="1150" dirty="0"/>
          </a:p>
        </p:txBody>
      </p:sp>
      <p:sp>
        <p:nvSpPr>
          <p:cNvPr id="10" name="Text 7"/>
          <p:cNvSpPr/>
          <p:nvPr/>
        </p:nvSpPr>
        <p:spPr>
          <a:xfrm>
            <a:off x="6501289" y="5538073"/>
            <a:ext cx="7335322"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Die verschiedenen Schichten symbolisieren die komplexen Verarbeitungsebenen in einem RAG-System - von der Rohdatenerfassung bis zur intelligenten Ausgabe.</a:t>
            </a:r>
            <a:endParaRPr lang="en-US" sz="1150" dirty="0"/>
          </a:p>
        </p:txBody>
      </p:sp>
      <p:sp>
        <p:nvSpPr>
          <p:cNvPr id="11" name="Shape 8"/>
          <p:cNvSpPr/>
          <p:nvPr/>
        </p:nvSpPr>
        <p:spPr>
          <a:xfrm>
            <a:off x="6280190" y="5372219"/>
            <a:ext cx="15240" cy="803196"/>
          </a:xfrm>
          <a:prstGeom prst="rect">
            <a:avLst/>
          </a:prstGeom>
          <a:solidFill>
            <a:srgbClr val="1C9770"/>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8892" y="517684"/>
            <a:ext cx="4145518" cy="382429"/>
          </a:xfrm>
          <a:prstGeom prst="rect">
            <a:avLst/>
          </a:prstGeom>
          <a:noFill/>
          <a:ln/>
        </p:spPr>
        <p:txBody>
          <a:bodyPr wrap="none" lIns="0" tIns="0" rIns="0" bIns="0" rtlCol="0" anchor="t"/>
          <a:lstStyle/>
          <a:p>
            <a:pPr algn="l" indent="0" marL="0">
              <a:lnSpc>
                <a:spcPts val="3000"/>
              </a:lnSpc>
              <a:buNone/>
            </a:pPr>
            <a:r>
              <a:rPr lang="en-US" sz="2400" dirty="0">
                <a:solidFill>
                  <a:srgbClr val="030303"/>
                </a:solidFill>
                <a:latin typeface="Montserrat Semi Bold" pitchFamily="34" charset="0"/>
                <a:ea typeface="Montserrat Semi Bold" pitchFamily="34" charset="-122"/>
                <a:cs typeface="Montserrat Semi Bold" pitchFamily="34" charset="-120"/>
              </a:rPr>
              <a:t>Geometrische Darstellung</a:t>
            </a:r>
            <a:endParaRPr lang="en-US" sz="2400" dirty="0"/>
          </a:p>
        </p:txBody>
      </p:sp>
      <p:pic>
        <p:nvPicPr>
          <p:cNvPr id="3" name="Image 0" descr="preencoded.png">    </p:cNvPr>
          <p:cNvPicPr>
            <a:picLocks noChangeAspect="1"/>
          </p:cNvPicPr>
          <p:nvPr/>
        </p:nvPicPr>
        <p:blipFill>
          <a:blip r:embed="rId1"/>
          <a:stretch>
            <a:fillRect/>
          </a:stretch>
        </p:blipFill>
        <p:spPr>
          <a:xfrm>
            <a:off x="658892" y="1221224"/>
            <a:ext cx="4229457" cy="4697730"/>
          </a:xfrm>
          <a:prstGeom prst="rect">
            <a:avLst/>
          </a:prstGeom>
        </p:spPr>
      </p:pic>
      <p:sp>
        <p:nvSpPr>
          <p:cNvPr id="4" name="Text 1"/>
          <p:cNvSpPr/>
          <p:nvPr/>
        </p:nvSpPr>
        <p:spPr>
          <a:xfrm>
            <a:off x="658892" y="6056590"/>
            <a:ext cx="1738551" cy="191214"/>
          </a:xfrm>
          <a:prstGeom prst="rect">
            <a:avLst/>
          </a:prstGeom>
          <a:noFill/>
          <a:ln/>
        </p:spPr>
        <p:txBody>
          <a:bodyPr wrap="none" lIns="0" tIns="0" rIns="0" bIns="0" rtlCol="0" anchor="t"/>
          <a:lstStyle/>
          <a:p>
            <a:pPr algn="l" indent="0" marL="0">
              <a:lnSpc>
                <a:spcPts val="1500"/>
              </a:lnSpc>
              <a:buNone/>
            </a:pPr>
            <a:r>
              <a:rPr lang="en-US" sz="1200" dirty="0">
                <a:solidFill>
                  <a:srgbClr val="030303"/>
                </a:solidFill>
                <a:latin typeface="Montserrat Semi Bold" pitchFamily="34" charset="0"/>
                <a:ea typeface="Montserrat Semi Bold" pitchFamily="34" charset="-122"/>
                <a:cs typeface="Montserrat Semi Bold" pitchFamily="34" charset="-120"/>
              </a:rPr>
              <a:t>Strukturelle Elemente</a:t>
            </a:r>
            <a:endParaRPr lang="en-US" sz="1200" dirty="0"/>
          </a:p>
        </p:txBody>
      </p:sp>
      <p:sp>
        <p:nvSpPr>
          <p:cNvPr id="5" name="Text 2"/>
          <p:cNvSpPr/>
          <p:nvPr/>
        </p:nvSpPr>
        <p:spPr>
          <a:xfrm>
            <a:off x="658892" y="6370082"/>
            <a:ext cx="6507004" cy="195739"/>
          </a:xfrm>
          <a:prstGeom prst="rect">
            <a:avLst/>
          </a:prstGeom>
          <a:noFill/>
          <a:ln/>
        </p:spPr>
        <p:txBody>
          <a:bodyPr wrap="none" lIns="0" tIns="0" rIns="0" bIns="0" rtlCol="0" anchor="t"/>
          <a:lstStyle/>
          <a:p>
            <a:pPr algn="l" indent="0" marL="0">
              <a:lnSpc>
                <a:spcPts val="1500"/>
              </a:lnSpc>
              <a:buNone/>
            </a:pPr>
            <a:r>
              <a:rPr lang="en-US" sz="950" dirty="0">
                <a:solidFill>
                  <a:srgbClr val="464646"/>
                </a:solidFill>
                <a:latin typeface="PT Sans" pitchFamily="34" charset="0"/>
                <a:ea typeface="PT Sans" pitchFamily="34" charset="-122"/>
                <a:cs typeface="PT Sans" pitchFamily="34" charset="-120"/>
              </a:rPr>
              <a:t>Einfarbige, vertikale Rechtecke mit abgerundeten Ecken repräsentieren die modularen Bausteine eines RAG-Systems.</a:t>
            </a:r>
            <a:endParaRPr lang="en-US" sz="950" dirty="0"/>
          </a:p>
        </p:txBody>
      </p:sp>
      <p:pic>
        <p:nvPicPr>
          <p:cNvPr id="6" name="Image 1" descr="preencoded.png">    </p:cNvPr>
          <p:cNvPicPr>
            <a:picLocks noChangeAspect="1"/>
          </p:cNvPicPr>
          <p:nvPr/>
        </p:nvPicPr>
        <p:blipFill>
          <a:blip r:embed="rId2"/>
          <a:stretch>
            <a:fillRect/>
          </a:stretch>
        </p:blipFill>
        <p:spPr>
          <a:xfrm>
            <a:off x="7472124" y="1221224"/>
            <a:ext cx="4229457" cy="2993827"/>
          </a:xfrm>
          <a:prstGeom prst="rect">
            <a:avLst/>
          </a:prstGeom>
        </p:spPr>
      </p:pic>
      <p:sp>
        <p:nvSpPr>
          <p:cNvPr id="7" name="Text 3"/>
          <p:cNvSpPr/>
          <p:nvPr/>
        </p:nvSpPr>
        <p:spPr>
          <a:xfrm>
            <a:off x="7472124" y="4352687"/>
            <a:ext cx="1692235" cy="191214"/>
          </a:xfrm>
          <a:prstGeom prst="rect">
            <a:avLst/>
          </a:prstGeom>
          <a:noFill/>
          <a:ln/>
        </p:spPr>
        <p:txBody>
          <a:bodyPr wrap="none" lIns="0" tIns="0" rIns="0" bIns="0" rtlCol="0" anchor="t"/>
          <a:lstStyle/>
          <a:p>
            <a:pPr algn="l" indent="0" marL="0">
              <a:lnSpc>
                <a:spcPts val="1500"/>
              </a:lnSpc>
              <a:buNone/>
            </a:pPr>
            <a:r>
              <a:rPr lang="en-US" sz="1200" dirty="0">
                <a:solidFill>
                  <a:srgbClr val="030303"/>
                </a:solidFill>
                <a:latin typeface="Montserrat Semi Bold" pitchFamily="34" charset="0"/>
                <a:ea typeface="Montserrat Semi Bold" pitchFamily="34" charset="-122"/>
                <a:cs typeface="Montserrat Semi Bold" pitchFamily="34" charset="-120"/>
              </a:rPr>
              <a:t>Modulare Architektur</a:t>
            </a:r>
            <a:endParaRPr lang="en-US" sz="1200" dirty="0"/>
          </a:p>
        </p:txBody>
      </p:sp>
      <p:sp>
        <p:nvSpPr>
          <p:cNvPr id="8" name="Text 4"/>
          <p:cNvSpPr/>
          <p:nvPr/>
        </p:nvSpPr>
        <p:spPr>
          <a:xfrm>
            <a:off x="7472124" y="4666178"/>
            <a:ext cx="6507004" cy="195739"/>
          </a:xfrm>
          <a:prstGeom prst="rect">
            <a:avLst/>
          </a:prstGeom>
          <a:noFill/>
          <a:ln/>
        </p:spPr>
        <p:txBody>
          <a:bodyPr wrap="none" lIns="0" tIns="0" rIns="0" bIns="0" rtlCol="0" anchor="t"/>
          <a:lstStyle/>
          <a:p>
            <a:pPr algn="l" indent="0" marL="0">
              <a:lnSpc>
                <a:spcPts val="1500"/>
              </a:lnSpc>
              <a:buNone/>
            </a:pPr>
            <a:r>
              <a:rPr lang="en-US" sz="950" dirty="0">
                <a:solidFill>
                  <a:srgbClr val="464646"/>
                </a:solidFill>
                <a:latin typeface="PT Sans" pitchFamily="34" charset="0"/>
                <a:ea typeface="PT Sans" pitchFamily="34" charset="-122"/>
                <a:cs typeface="PT Sans" pitchFamily="34" charset="-120"/>
              </a:rPr>
              <a:t>Diese geometrischen Formen symbolisieren die flexible und erweiterbare Architektur von RAG-Frameworks.</a:t>
            </a:r>
            <a:endParaRPr lang="en-US" sz="950" dirty="0"/>
          </a:p>
        </p:txBody>
      </p:sp>
      <p:pic>
        <p:nvPicPr>
          <p:cNvPr id="9" name="Image 2" descr="preencoded.png">    </p:cNvPr>
          <p:cNvPicPr>
            <a:picLocks noChangeAspect="1"/>
          </p:cNvPicPr>
          <p:nvPr/>
        </p:nvPicPr>
        <p:blipFill>
          <a:blip r:embed="rId3"/>
          <a:stretch>
            <a:fillRect/>
          </a:stretch>
        </p:blipFill>
        <p:spPr>
          <a:xfrm>
            <a:off x="658892" y="6813590"/>
            <a:ext cx="4437459" cy="489466"/>
          </a:xfrm>
          <a:prstGeom prst="rect">
            <a:avLst/>
          </a:prstGeom>
        </p:spPr>
      </p:pic>
      <p:sp>
        <p:nvSpPr>
          <p:cNvPr id="10" name="Text 5"/>
          <p:cNvSpPr/>
          <p:nvPr/>
        </p:nvSpPr>
        <p:spPr>
          <a:xfrm>
            <a:off x="781169" y="7425333"/>
            <a:ext cx="1529715" cy="191214"/>
          </a:xfrm>
          <a:prstGeom prst="rect">
            <a:avLst/>
          </a:prstGeom>
          <a:noFill/>
          <a:ln/>
        </p:spPr>
        <p:txBody>
          <a:bodyPr wrap="none" lIns="0" tIns="0" rIns="0" bIns="0" rtlCol="0" anchor="t"/>
          <a:lstStyle/>
          <a:p>
            <a:pPr algn="l" indent="0" marL="0">
              <a:lnSpc>
                <a:spcPts val="1500"/>
              </a:lnSpc>
              <a:buNone/>
            </a:pPr>
            <a:r>
              <a:rPr lang="en-US" sz="1200" dirty="0">
                <a:solidFill>
                  <a:srgbClr val="464646"/>
                </a:solidFill>
                <a:latin typeface="Montserrat Semi Bold" pitchFamily="34" charset="0"/>
                <a:ea typeface="Montserrat Semi Bold" pitchFamily="34" charset="-122"/>
                <a:cs typeface="Montserrat Semi Bold" pitchFamily="34" charset="-120"/>
              </a:rPr>
              <a:t>Dateneingang</a:t>
            </a:r>
            <a:endParaRPr lang="en-US" sz="1200" dirty="0"/>
          </a:p>
        </p:txBody>
      </p:sp>
      <p:sp>
        <p:nvSpPr>
          <p:cNvPr id="11" name="Text 6"/>
          <p:cNvSpPr/>
          <p:nvPr/>
        </p:nvSpPr>
        <p:spPr>
          <a:xfrm>
            <a:off x="781169" y="7689890"/>
            <a:ext cx="4192905" cy="195739"/>
          </a:xfrm>
          <a:prstGeom prst="rect">
            <a:avLst/>
          </a:prstGeom>
          <a:noFill/>
          <a:ln/>
        </p:spPr>
        <p:txBody>
          <a:bodyPr wrap="none" lIns="0" tIns="0" rIns="0" bIns="0" rtlCol="0" anchor="t"/>
          <a:lstStyle/>
          <a:p>
            <a:pPr algn="l" indent="0" marL="0">
              <a:lnSpc>
                <a:spcPts val="1500"/>
              </a:lnSpc>
              <a:buNone/>
            </a:pPr>
            <a:r>
              <a:rPr lang="en-US" sz="950" dirty="0">
                <a:solidFill>
                  <a:srgbClr val="464646"/>
                </a:solidFill>
                <a:latin typeface="PT Sans" pitchFamily="34" charset="0"/>
                <a:ea typeface="PT Sans" pitchFamily="34" charset="-122"/>
                <a:cs typeface="PT Sans" pitchFamily="34" charset="-120"/>
              </a:rPr>
              <a:t>Strukturierte Eingabe von Informationen</a:t>
            </a:r>
            <a:endParaRPr lang="en-US" sz="950" dirty="0"/>
          </a:p>
        </p:txBody>
      </p:sp>
      <p:pic>
        <p:nvPicPr>
          <p:cNvPr id="12" name="Image 3" descr="preencoded.png">    </p:cNvPr>
          <p:cNvPicPr>
            <a:picLocks noChangeAspect="1"/>
          </p:cNvPicPr>
          <p:nvPr/>
        </p:nvPicPr>
        <p:blipFill>
          <a:blip r:embed="rId4"/>
          <a:stretch>
            <a:fillRect/>
          </a:stretch>
        </p:blipFill>
        <p:spPr>
          <a:xfrm>
            <a:off x="5096351" y="6813590"/>
            <a:ext cx="4437578" cy="489466"/>
          </a:xfrm>
          <a:prstGeom prst="rect">
            <a:avLst/>
          </a:prstGeom>
        </p:spPr>
      </p:pic>
      <p:sp>
        <p:nvSpPr>
          <p:cNvPr id="13" name="Text 7"/>
          <p:cNvSpPr/>
          <p:nvPr/>
        </p:nvSpPr>
        <p:spPr>
          <a:xfrm>
            <a:off x="5218628" y="7425333"/>
            <a:ext cx="1529715" cy="191214"/>
          </a:xfrm>
          <a:prstGeom prst="rect">
            <a:avLst/>
          </a:prstGeom>
          <a:noFill/>
          <a:ln/>
        </p:spPr>
        <p:txBody>
          <a:bodyPr wrap="none" lIns="0" tIns="0" rIns="0" bIns="0" rtlCol="0" anchor="t"/>
          <a:lstStyle/>
          <a:p>
            <a:pPr algn="l" indent="0" marL="0">
              <a:lnSpc>
                <a:spcPts val="1500"/>
              </a:lnSpc>
              <a:buNone/>
            </a:pPr>
            <a:r>
              <a:rPr lang="en-US" sz="1200" dirty="0">
                <a:solidFill>
                  <a:srgbClr val="464646"/>
                </a:solidFill>
                <a:latin typeface="Montserrat Semi Bold" pitchFamily="34" charset="0"/>
                <a:ea typeface="Montserrat Semi Bold" pitchFamily="34" charset="-122"/>
                <a:cs typeface="Montserrat Semi Bold" pitchFamily="34" charset="-120"/>
              </a:rPr>
              <a:t>Verarbeitung</a:t>
            </a:r>
            <a:endParaRPr lang="en-US" sz="1200" dirty="0"/>
          </a:p>
        </p:txBody>
      </p:sp>
      <p:sp>
        <p:nvSpPr>
          <p:cNvPr id="14" name="Text 8"/>
          <p:cNvSpPr/>
          <p:nvPr/>
        </p:nvSpPr>
        <p:spPr>
          <a:xfrm>
            <a:off x="5218628" y="7689890"/>
            <a:ext cx="4193024" cy="195739"/>
          </a:xfrm>
          <a:prstGeom prst="rect">
            <a:avLst/>
          </a:prstGeom>
          <a:noFill/>
          <a:ln/>
        </p:spPr>
        <p:txBody>
          <a:bodyPr wrap="none" lIns="0" tIns="0" rIns="0" bIns="0" rtlCol="0" anchor="t"/>
          <a:lstStyle/>
          <a:p>
            <a:pPr algn="l" indent="0" marL="0">
              <a:lnSpc>
                <a:spcPts val="1500"/>
              </a:lnSpc>
              <a:buNone/>
            </a:pPr>
            <a:r>
              <a:rPr lang="en-US" sz="950" dirty="0">
                <a:solidFill>
                  <a:srgbClr val="464646"/>
                </a:solidFill>
                <a:latin typeface="PT Sans" pitchFamily="34" charset="0"/>
                <a:ea typeface="PT Sans" pitchFamily="34" charset="-122"/>
                <a:cs typeface="PT Sans" pitchFamily="34" charset="-120"/>
              </a:rPr>
              <a:t>Transformation und Analyse</a:t>
            </a:r>
            <a:endParaRPr lang="en-US" sz="950" dirty="0"/>
          </a:p>
        </p:txBody>
      </p:sp>
      <p:pic>
        <p:nvPicPr>
          <p:cNvPr id="15" name="Image 4" descr="preencoded.png">    </p:cNvPr>
          <p:cNvPicPr>
            <a:picLocks noChangeAspect="1"/>
          </p:cNvPicPr>
          <p:nvPr/>
        </p:nvPicPr>
        <p:blipFill>
          <a:blip r:embed="rId5"/>
          <a:stretch>
            <a:fillRect/>
          </a:stretch>
        </p:blipFill>
        <p:spPr>
          <a:xfrm>
            <a:off x="9533930" y="6813590"/>
            <a:ext cx="4437578" cy="489466"/>
          </a:xfrm>
          <a:prstGeom prst="rect">
            <a:avLst/>
          </a:prstGeom>
        </p:spPr>
      </p:pic>
      <p:sp>
        <p:nvSpPr>
          <p:cNvPr id="16" name="Text 9"/>
          <p:cNvSpPr/>
          <p:nvPr/>
        </p:nvSpPr>
        <p:spPr>
          <a:xfrm>
            <a:off x="9656207" y="7425333"/>
            <a:ext cx="1529715" cy="191214"/>
          </a:xfrm>
          <a:prstGeom prst="rect">
            <a:avLst/>
          </a:prstGeom>
          <a:noFill/>
          <a:ln/>
        </p:spPr>
        <p:txBody>
          <a:bodyPr wrap="none" lIns="0" tIns="0" rIns="0" bIns="0" rtlCol="0" anchor="t"/>
          <a:lstStyle/>
          <a:p>
            <a:pPr algn="l" indent="0" marL="0">
              <a:lnSpc>
                <a:spcPts val="1500"/>
              </a:lnSpc>
              <a:buNone/>
            </a:pPr>
            <a:r>
              <a:rPr lang="en-US" sz="1200" dirty="0">
                <a:solidFill>
                  <a:srgbClr val="464646"/>
                </a:solidFill>
                <a:latin typeface="Montserrat Semi Bold" pitchFamily="34" charset="0"/>
                <a:ea typeface="Montserrat Semi Bold" pitchFamily="34" charset="-122"/>
                <a:cs typeface="Montserrat Semi Bold" pitchFamily="34" charset="-120"/>
              </a:rPr>
              <a:t>Ausgabe</a:t>
            </a:r>
            <a:endParaRPr lang="en-US" sz="1200" dirty="0"/>
          </a:p>
        </p:txBody>
      </p:sp>
      <p:sp>
        <p:nvSpPr>
          <p:cNvPr id="17" name="Text 10"/>
          <p:cNvSpPr/>
          <p:nvPr/>
        </p:nvSpPr>
        <p:spPr>
          <a:xfrm>
            <a:off x="9656207" y="7689890"/>
            <a:ext cx="4193024" cy="195739"/>
          </a:xfrm>
          <a:prstGeom prst="rect">
            <a:avLst/>
          </a:prstGeom>
          <a:noFill/>
          <a:ln/>
        </p:spPr>
        <p:txBody>
          <a:bodyPr wrap="none" lIns="0" tIns="0" rIns="0" bIns="0" rtlCol="0" anchor="t"/>
          <a:lstStyle/>
          <a:p>
            <a:pPr algn="l" indent="0" marL="0">
              <a:lnSpc>
                <a:spcPts val="1500"/>
              </a:lnSpc>
              <a:buNone/>
            </a:pPr>
            <a:r>
              <a:rPr lang="en-US" sz="950" dirty="0">
                <a:solidFill>
                  <a:srgbClr val="464646"/>
                </a:solidFill>
                <a:latin typeface="PT Sans" pitchFamily="34" charset="0"/>
                <a:ea typeface="PT Sans" pitchFamily="34" charset="-122"/>
                <a:cs typeface="PT Sans" pitchFamily="34" charset="-120"/>
              </a:rPr>
              <a:t>Generierte Ergebnisse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216944"/>
            <a:ext cx="4106585" cy="460772"/>
          </a:xfrm>
          <a:prstGeom prst="rect">
            <a:avLst/>
          </a:prstGeom>
          <a:noFill/>
          <a:ln/>
        </p:spPr>
        <p:txBody>
          <a:bodyPr wrap="none" lIns="0" tIns="0" rIns="0" bIns="0" rtlCol="0" anchor="t"/>
          <a:lstStyle/>
          <a:p>
            <a:pPr algn="l" indent="0" marL="0">
              <a:lnSpc>
                <a:spcPts val="3600"/>
              </a:lnSpc>
              <a:buNone/>
            </a:pPr>
            <a:r>
              <a:rPr lang="en-US" sz="2900" dirty="0">
                <a:solidFill>
                  <a:srgbClr val="030303"/>
                </a:solidFill>
                <a:latin typeface="Montserrat Semi Bold" pitchFamily="34" charset="0"/>
                <a:ea typeface="Montserrat Semi Bold" pitchFamily="34" charset="-122"/>
                <a:cs typeface="Montserrat Semi Bold" pitchFamily="34" charset="-120"/>
              </a:rPr>
              <a:t>Systemkomponenten</a:t>
            </a:r>
            <a:endParaRPr lang="en-US" sz="2900" dirty="0"/>
          </a:p>
        </p:txBody>
      </p:sp>
      <p:sp>
        <p:nvSpPr>
          <p:cNvPr id="3" name="Text 1"/>
          <p:cNvSpPr/>
          <p:nvPr/>
        </p:nvSpPr>
        <p:spPr>
          <a:xfrm>
            <a:off x="793790" y="2972514"/>
            <a:ext cx="147399" cy="184190"/>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Montserrat Light" pitchFamily="34" charset="0"/>
                <a:ea typeface="Montserrat Light" pitchFamily="34" charset="-122"/>
                <a:cs typeface="Montserrat Light" pitchFamily="34" charset="-120"/>
              </a:rPr>
              <a:t>01</a:t>
            </a:r>
            <a:endParaRPr lang="en-US" sz="1150" dirty="0"/>
          </a:p>
        </p:txBody>
      </p:sp>
      <p:sp>
        <p:nvSpPr>
          <p:cNvPr id="4" name="Shape 2"/>
          <p:cNvSpPr/>
          <p:nvPr/>
        </p:nvSpPr>
        <p:spPr>
          <a:xfrm>
            <a:off x="793790" y="3207663"/>
            <a:ext cx="4249341" cy="15240"/>
          </a:xfrm>
          <a:prstGeom prst="rect">
            <a:avLst/>
          </a:prstGeom>
          <a:solidFill>
            <a:srgbClr val="1C9770"/>
          </a:solidFill>
          <a:ln/>
        </p:spPr>
      </p:sp>
      <p:sp>
        <p:nvSpPr>
          <p:cNvPr id="5" name="Text 3"/>
          <p:cNvSpPr/>
          <p:nvPr/>
        </p:nvSpPr>
        <p:spPr>
          <a:xfrm>
            <a:off x="793790" y="3311843"/>
            <a:ext cx="2211467" cy="276344"/>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Montserrat Semi Bold" pitchFamily="34" charset="0"/>
                <a:ea typeface="Montserrat Semi Bold" pitchFamily="34" charset="-122"/>
                <a:cs typeface="Montserrat Semi Bold" pitchFamily="34" charset="-120"/>
              </a:rPr>
              <a:t>Datenerfassung</a:t>
            </a:r>
            <a:endParaRPr lang="en-US" sz="1700" dirty="0"/>
          </a:p>
        </p:txBody>
      </p:sp>
      <p:sp>
        <p:nvSpPr>
          <p:cNvPr id="6" name="Text 4"/>
          <p:cNvSpPr/>
          <p:nvPr/>
        </p:nvSpPr>
        <p:spPr>
          <a:xfrm>
            <a:off x="793790" y="3676531"/>
            <a:ext cx="4249341" cy="235744"/>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Sammlung relevanter Informationen aus verschiedenen Quellen</a:t>
            </a:r>
            <a:endParaRPr lang="en-US" sz="1150" dirty="0"/>
          </a:p>
        </p:txBody>
      </p:sp>
      <p:sp>
        <p:nvSpPr>
          <p:cNvPr id="7" name="Text 5"/>
          <p:cNvSpPr/>
          <p:nvPr/>
        </p:nvSpPr>
        <p:spPr>
          <a:xfrm>
            <a:off x="5190530" y="2972514"/>
            <a:ext cx="147399" cy="184190"/>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Montserrat Light" pitchFamily="34" charset="0"/>
                <a:ea typeface="Montserrat Light" pitchFamily="34" charset="-122"/>
                <a:cs typeface="Montserrat Light" pitchFamily="34" charset="-120"/>
              </a:rPr>
              <a:t>02</a:t>
            </a:r>
            <a:endParaRPr lang="en-US" sz="1150" dirty="0"/>
          </a:p>
        </p:txBody>
      </p:sp>
      <p:sp>
        <p:nvSpPr>
          <p:cNvPr id="8" name="Shape 6"/>
          <p:cNvSpPr/>
          <p:nvPr/>
        </p:nvSpPr>
        <p:spPr>
          <a:xfrm>
            <a:off x="5190530" y="3207663"/>
            <a:ext cx="4249341" cy="15240"/>
          </a:xfrm>
          <a:prstGeom prst="rect">
            <a:avLst/>
          </a:prstGeom>
          <a:solidFill>
            <a:srgbClr val="1C9770"/>
          </a:solidFill>
          <a:ln/>
        </p:spPr>
      </p:sp>
      <p:sp>
        <p:nvSpPr>
          <p:cNvPr id="9" name="Text 7"/>
          <p:cNvSpPr/>
          <p:nvPr/>
        </p:nvSpPr>
        <p:spPr>
          <a:xfrm>
            <a:off x="5190530" y="3311843"/>
            <a:ext cx="2211467" cy="276344"/>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Montserrat Semi Bold" pitchFamily="34" charset="0"/>
                <a:ea typeface="Montserrat Semi Bold" pitchFamily="34" charset="-122"/>
                <a:cs typeface="Montserrat Semi Bold" pitchFamily="34" charset="-120"/>
              </a:rPr>
              <a:t>Indexierung</a:t>
            </a:r>
            <a:endParaRPr lang="en-US" sz="1700" dirty="0"/>
          </a:p>
        </p:txBody>
      </p:sp>
      <p:sp>
        <p:nvSpPr>
          <p:cNvPr id="10" name="Text 8"/>
          <p:cNvSpPr/>
          <p:nvPr/>
        </p:nvSpPr>
        <p:spPr>
          <a:xfrm>
            <a:off x="5190530" y="3676531"/>
            <a:ext cx="4249341" cy="235744"/>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Organisation und Strukturierung der gesammelten Daten</a:t>
            </a:r>
            <a:endParaRPr lang="en-US" sz="1150" dirty="0"/>
          </a:p>
        </p:txBody>
      </p:sp>
      <p:sp>
        <p:nvSpPr>
          <p:cNvPr id="11" name="Text 9"/>
          <p:cNvSpPr/>
          <p:nvPr/>
        </p:nvSpPr>
        <p:spPr>
          <a:xfrm>
            <a:off x="9587270" y="2972514"/>
            <a:ext cx="147399" cy="184190"/>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Montserrat Light" pitchFamily="34" charset="0"/>
                <a:ea typeface="Montserrat Light" pitchFamily="34" charset="-122"/>
                <a:cs typeface="Montserrat Light" pitchFamily="34" charset="-120"/>
              </a:rPr>
              <a:t>03</a:t>
            </a:r>
            <a:endParaRPr lang="en-US" sz="1150" dirty="0"/>
          </a:p>
        </p:txBody>
      </p:sp>
      <p:sp>
        <p:nvSpPr>
          <p:cNvPr id="12" name="Shape 10"/>
          <p:cNvSpPr/>
          <p:nvPr/>
        </p:nvSpPr>
        <p:spPr>
          <a:xfrm>
            <a:off x="9587270" y="3207663"/>
            <a:ext cx="4249341" cy="15240"/>
          </a:xfrm>
          <a:prstGeom prst="rect">
            <a:avLst/>
          </a:prstGeom>
          <a:solidFill>
            <a:srgbClr val="1C9770"/>
          </a:solidFill>
          <a:ln/>
        </p:spPr>
      </p:sp>
      <p:sp>
        <p:nvSpPr>
          <p:cNvPr id="13" name="Text 11"/>
          <p:cNvSpPr/>
          <p:nvPr/>
        </p:nvSpPr>
        <p:spPr>
          <a:xfrm>
            <a:off x="9587270" y="3311843"/>
            <a:ext cx="2211467" cy="276344"/>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Montserrat Semi Bold" pitchFamily="34" charset="0"/>
                <a:ea typeface="Montserrat Semi Bold" pitchFamily="34" charset="-122"/>
                <a:cs typeface="Montserrat Semi Bold" pitchFamily="34" charset="-120"/>
              </a:rPr>
              <a:t>Retrieval</a:t>
            </a:r>
            <a:endParaRPr lang="en-US" sz="1700" dirty="0"/>
          </a:p>
        </p:txBody>
      </p:sp>
      <p:sp>
        <p:nvSpPr>
          <p:cNvPr id="14" name="Text 12"/>
          <p:cNvSpPr/>
          <p:nvPr/>
        </p:nvSpPr>
        <p:spPr>
          <a:xfrm>
            <a:off x="9587270" y="3676531"/>
            <a:ext cx="4249341" cy="235744"/>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Abruf der relevantesten Informationen basierend auf Anfragen</a:t>
            </a:r>
            <a:endParaRPr lang="en-US" sz="1150" dirty="0"/>
          </a:p>
        </p:txBody>
      </p:sp>
      <p:sp>
        <p:nvSpPr>
          <p:cNvPr id="15" name="Text 13"/>
          <p:cNvSpPr/>
          <p:nvPr/>
        </p:nvSpPr>
        <p:spPr>
          <a:xfrm>
            <a:off x="793790" y="4170164"/>
            <a:ext cx="147399" cy="184190"/>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Montserrat Light" pitchFamily="34" charset="0"/>
                <a:ea typeface="Montserrat Light" pitchFamily="34" charset="-122"/>
                <a:cs typeface="Montserrat Light" pitchFamily="34" charset="-120"/>
              </a:rPr>
              <a:t>04</a:t>
            </a:r>
            <a:endParaRPr lang="en-US" sz="1150" dirty="0"/>
          </a:p>
        </p:txBody>
      </p:sp>
      <p:sp>
        <p:nvSpPr>
          <p:cNvPr id="16" name="Shape 14"/>
          <p:cNvSpPr/>
          <p:nvPr/>
        </p:nvSpPr>
        <p:spPr>
          <a:xfrm>
            <a:off x="793790" y="4405313"/>
            <a:ext cx="6447711" cy="15240"/>
          </a:xfrm>
          <a:prstGeom prst="rect">
            <a:avLst/>
          </a:prstGeom>
          <a:solidFill>
            <a:srgbClr val="1C9770"/>
          </a:solidFill>
          <a:ln/>
        </p:spPr>
      </p:sp>
      <p:sp>
        <p:nvSpPr>
          <p:cNvPr id="17" name="Text 15"/>
          <p:cNvSpPr/>
          <p:nvPr/>
        </p:nvSpPr>
        <p:spPr>
          <a:xfrm>
            <a:off x="793790" y="4509492"/>
            <a:ext cx="2211467" cy="276344"/>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Montserrat Semi Bold" pitchFamily="34" charset="0"/>
                <a:ea typeface="Montserrat Semi Bold" pitchFamily="34" charset="-122"/>
                <a:cs typeface="Montserrat Semi Bold" pitchFamily="34" charset="-120"/>
              </a:rPr>
              <a:t>Generierung</a:t>
            </a:r>
            <a:endParaRPr lang="en-US" sz="1700" dirty="0"/>
          </a:p>
        </p:txBody>
      </p:sp>
      <p:sp>
        <p:nvSpPr>
          <p:cNvPr id="18" name="Text 16"/>
          <p:cNvSpPr/>
          <p:nvPr/>
        </p:nvSpPr>
        <p:spPr>
          <a:xfrm>
            <a:off x="793790" y="4874181"/>
            <a:ext cx="6447711" cy="235744"/>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Erstellung neuer Inhalte unter Verwendung der abgerufenen Daten</a:t>
            </a:r>
            <a:endParaRPr lang="en-US" sz="1150" dirty="0"/>
          </a:p>
        </p:txBody>
      </p:sp>
      <p:sp>
        <p:nvSpPr>
          <p:cNvPr id="19" name="Text 17"/>
          <p:cNvSpPr/>
          <p:nvPr/>
        </p:nvSpPr>
        <p:spPr>
          <a:xfrm>
            <a:off x="7388900" y="4170164"/>
            <a:ext cx="147399" cy="184190"/>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Montserrat Light" pitchFamily="34" charset="0"/>
                <a:ea typeface="Montserrat Light" pitchFamily="34" charset="-122"/>
                <a:cs typeface="Montserrat Light" pitchFamily="34" charset="-120"/>
              </a:rPr>
              <a:t>05</a:t>
            </a:r>
            <a:endParaRPr lang="en-US" sz="1150" dirty="0"/>
          </a:p>
        </p:txBody>
      </p:sp>
      <p:sp>
        <p:nvSpPr>
          <p:cNvPr id="20" name="Shape 18"/>
          <p:cNvSpPr/>
          <p:nvPr/>
        </p:nvSpPr>
        <p:spPr>
          <a:xfrm>
            <a:off x="7388900" y="4405313"/>
            <a:ext cx="6447711" cy="15240"/>
          </a:xfrm>
          <a:prstGeom prst="rect">
            <a:avLst/>
          </a:prstGeom>
          <a:solidFill>
            <a:srgbClr val="1C9770"/>
          </a:solidFill>
          <a:ln/>
        </p:spPr>
      </p:sp>
      <p:sp>
        <p:nvSpPr>
          <p:cNvPr id="21" name="Text 19"/>
          <p:cNvSpPr/>
          <p:nvPr/>
        </p:nvSpPr>
        <p:spPr>
          <a:xfrm>
            <a:off x="7388900" y="4509492"/>
            <a:ext cx="2211467" cy="276344"/>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Montserrat Semi Bold" pitchFamily="34" charset="0"/>
                <a:ea typeface="Montserrat Semi Bold" pitchFamily="34" charset="-122"/>
                <a:cs typeface="Montserrat Semi Bold" pitchFamily="34" charset="-120"/>
              </a:rPr>
              <a:t>Ausgabe</a:t>
            </a:r>
            <a:endParaRPr lang="en-US" sz="1700" dirty="0"/>
          </a:p>
        </p:txBody>
      </p:sp>
      <p:sp>
        <p:nvSpPr>
          <p:cNvPr id="22" name="Text 20"/>
          <p:cNvSpPr/>
          <p:nvPr/>
        </p:nvSpPr>
        <p:spPr>
          <a:xfrm>
            <a:off x="7388900" y="4874181"/>
            <a:ext cx="6447711" cy="235744"/>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Bereitstellung der generierten Ergebnisse an den Nutzer</a:t>
            </a:r>
            <a:endParaRPr lang="en-US" sz="1150" dirty="0"/>
          </a:p>
        </p:txBody>
      </p:sp>
      <p:sp>
        <p:nvSpPr>
          <p:cNvPr id="23" name="Shape 21"/>
          <p:cNvSpPr/>
          <p:nvPr/>
        </p:nvSpPr>
        <p:spPr>
          <a:xfrm>
            <a:off x="793790" y="5386268"/>
            <a:ext cx="13042821" cy="626269"/>
          </a:xfrm>
          <a:prstGeom prst="roundRect">
            <a:avLst>
              <a:gd name="adj" fmla="val 1460"/>
            </a:avLst>
          </a:prstGeom>
          <a:solidFill>
            <a:srgbClr val="BEF3E2"/>
          </a:solidFill>
          <a:ln/>
        </p:spPr>
      </p:sp>
      <p:pic>
        <p:nvPicPr>
          <p:cNvPr id="24" name="Image 0" descr="preencoded.png">    </p:cNvPr>
          <p:cNvPicPr>
            <a:picLocks noChangeAspect="1"/>
          </p:cNvPicPr>
          <p:nvPr/>
        </p:nvPicPr>
        <p:blipFill>
          <a:blip r:embed="rId1"/>
          <a:stretch>
            <a:fillRect/>
          </a:stretch>
        </p:blipFill>
        <p:spPr>
          <a:xfrm>
            <a:off x="941189" y="5609034"/>
            <a:ext cx="184190" cy="147399"/>
          </a:xfrm>
          <a:prstGeom prst="rect">
            <a:avLst/>
          </a:prstGeom>
        </p:spPr>
      </p:pic>
      <p:sp>
        <p:nvSpPr>
          <p:cNvPr id="25" name="Text 22"/>
          <p:cNvSpPr/>
          <p:nvPr/>
        </p:nvSpPr>
        <p:spPr>
          <a:xfrm>
            <a:off x="1272778" y="5570458"/>
            <a:ext cx="12416433" cy="235744"/>
          </a:xfrm>
          <a:prstGeom prst="rect">
            <a:avLst/>
          </a:prstGeom>
          <a:noFill/>
          <a:ln/>
        </p:spPr>
        <p:txBody>
          <a:bodyPr wrap="none" lIns="0" tIns="0" rIns="0" bIns="0" rtlCol="0" anchor="t"/>
          <a:lstStyle/>
          <a:p>
            <a:pPr algn="l" indent="0" marL="0">
              <a:lnSpc>
                <a:spcPts val="1850"/>
              </a:lnSpc>
              <a:buNone/>
            </a:pPr>
            <a:r>
              <a:rPr lang="en-US" sz="1150" dirty="0">
                <a:solidFill>
                  <a:srgbClr val="000000"/>
                </a:solidFill>
                <a:latin typeface="PT Sans" pitchFamily="34" charset="0"/>
                <a:ea typeface="PT Sans" pitchFamily="34" charset="-122"/>
                <a:cs typeface="PT Sans" pitchFamily="34" charset="-120"/>
              </a:rPr>
              <a:t>Die modulare Struktur ermöglicht eine flexible Anpassung an verschiedene Anwendungsfälle und Anforderungen.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0"/>
            <a:ext cx="5760720" cy="8229600"/>
          </a:xfrm>
          <a:prstGeom prst="rect">
            <a:avLst/>
          </a:prstGeom>
        </p:spPr>
      </p:pic>
      <p:sp>
        <p:nvSpPr>
          <p:cNvPr id="3" name="Text 0"/>
          <p:cNvSpPr/>
          <p:nvPr/>
        </p:nvSpPr>
        <p:spPr>
          <a:xfrm>
            <a:off x="793790" y="2447568"/>
            <a:ext cx="5720596" cy="460772"/>
          </a:xfrm>
          <a:prstGeom prst="rect">
            <a:avLst/>
          </a:prstGeom>
          <a:noFill/>
          <a:ln/>
        </p:spPr>
        <p:txBody>
          <a:bodyPr wrap="none" lIns="0" tIns="0" rIns="0" bIns="0" rtlCol="0" anchor="t"/>
          <a:lstStyle/>
          <a:p>
            <a:pPr algn="l" indent="0" marL="0">
              <a:lnSpc>
                <a:spcPts val="3600"/>
              </a:lnSpc>
              <a:buNone/>
            </a:pPr>
            <a:r>
              <a:rPr lang="en-US" sz="2900" dirty="0">
                <a:solidFill>
                  <a:srgbClr val="030303"/>
                </a:solidFill>
                <a:latin typeface="Montserrat Semi Bold" pitchFamily="34" charset="0"/>
                <a:ea typeface="Montserrat Semi Bold" pitchFamily="34" charset="-122"/>
                <a:cs typeface="Montserrat Semi Bold" pitchFamily="34" charset="-120"/>
              </a:rPr>
              <a:t>Dreidimensionale Perspektive</a:t>
            </a:r>
            <a:endParaRPr lang="en-US" sz="2900" dirty="0"/>
          </a:p>
        </p:txBody>
      </p:sp>
      <p:pic>
        <p:nvPicPr>
          <p:cNvPr id="4" name="Image 1" descr="preencoded.png">    </p:cNvPr>
          <p:cNvPicPr>
            <a:picLocks noChangeAspect="1"/>
          </p:cNvPicPr>
          <p:nvPr/>
        </p:nvPicPr>
        <p:blipFill>
          <a:blip r:embed="rId2"/>
          <a:stretch>
            <a:fillRect/>
          </a:stretch>
        </p:blipFill>
        <p:spPr>
          <a:xfrm>
            <a:off x="793790" y="3295293"/>
            <a:ext cx="1824395" cy="1970246"/>
          </a:xfrm>
          <a:prstGeom prst="rect">
            <a:avLst/>
          </a:prstGeom>
        </p:spPr>
      </p:pic>
      <p:sp>
        <p:nvSpPr>
          <p:cNvPr id="5" name="Text 1"/>
          <p:cNvSpPr/>
          <p:nvPr/>
        </p:nvSpPr>
        <p:spPr>
          <a:xfrm>
            <a:off x="3967758" y="3276838"/>
            <a:ext cx="4259342" cy="368618"/>
          </a:xfrm>
          <a:prstGeom prst="rect">
            <a:avLst/>
          </a:prstGeom>
          <a:noFill/>
          <a:ln/>
        </p:spPr>
        <p:txBody>
          <a:bodyPr wrap="none" lIns="0" tIns="0" rIns="0" bIns="0" rtlCol="0" anchor="t"/>
          <a:lstStyle/>
          <a:p>
            <a:pPr algn="l" indent="0" marL="0">
              <a:lnSpc>
                <a:spcPts val="2900"/>
              </a:lnSpc>
              <a:buNone/>
            </a:pPr>
            <a:r>
              <a:rPr lang="en-US" sz="2300" dirty="0">
                <a:solidFill>
                  <a:srgbClr val="030303"/>
                </a:solidFill>
                <a:latin typeface="Montserrat Semi Bold" pitchFamily="34" charset="0"/>
                <a:ea typeface="Montserrat Semi Bold" pitchFamily="34" charset="-122"/>
                <a:cs typeface="Montserrat Semi Bold" pitchFamily="34" charset="-120"/>
              </a:rPr>
              <a:t>Räumliche Datenstrukturen</a:t>
            </a:r>
            <a:endParaRPr lang="en-US" sz="2300" dirty="0"/>
          </a:p>
        </p:txBody>
      </p:sp>
      <p:sp>
        <p:nvSpPr>
          <p:cNvPr id="6" name="Text 2"/>
          <p:cNvSpPr/>
          <p:nvPr/>
        </p:nvSpPr>
        <p:spPr>
          <a:xfrm>
            <a:off x="3967758" y="3792855"/>
            <a:ext cx="4389953" cy="707231"/>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Ein graues, dreidimensionales, trapezförmiges Objekt symbolisiert die komplexen, mehrdimensionalen Datenstrukturen, die in RAG-Systemen verwendet werden.</a:t>
            </a:r>
            <a:endParaRPr lang="en-US" sz="1150" dirty="0"/>
          </a:p>
        </p:txBody>
      </p:sp>
      <p:sp>
        <p:nvSpPr>
          <p:cNvPr id="7" name="Text 3"/>
          <p:cNvSpPr/>
          <p:nvPr/>
        </p:nvSpPr>
        <p:spPr>
          <a:xfrm>
            <a:off x="3967758" y="4632722"/>
            <a:ext cx="4389953"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Hierarchische Informationsorganisation</a:t>
            </a:r>
            <a:endParaRPr lang="en-US" sz="1150" dirty="0"/>
          </a:p>
        </p:txBody>
      </p:sp>
      <p:sp>
        <p:nvSpPr>
          <p:cNvPr id="8" name="Text 4"/>
          <p:cNvSpPr/>
          <p:nvPr/>
        </p:nvSpPr>
        <p:spPr>
          <a:xfrm>
            <a:off x="3967758" y="4920020"/>
            <a:ext cx="4389953"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Mehrdimensionale Datenbeziehungen</a:t>
            </a:r>
            <a:endParaRPr lang="en-US" sz="1150" dirty="0"/>
          </a:p>
        </p:txBody>
      </p:sp>
      <p:sp>
        <p:nvSpPr>
          <p:cNvPr id="9" name="Text 5"/>
          <p:cNvSpPr/>
          <p:nvPr/>
        </p:nvSpPr>
        <p:spPr>
          <a:xfrm>
            <a:off x="3967758" y="5207318"/>
            <a:ext cx="4389953"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Skalierbare Architektur</a:t>
            </a:r>
            <a:endParaRPr lang="en-US" sz="1150" dirty="0"/>
          </a:p>
        </p:txBody>
      </p:sp>
      <p:sp>
        <p:nvSpPr>
          <p:cNvPr id="10" name="Text 6"/>
          <p:cNvSpPr/>
          <p:nvPr/>
        </p:nvSpPr>
        <p:spPr>
          <a:xfrm>
            <a:off x="3967758" y="5494615"/>
            <a:ext cx="4389953"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Effiziente Speichernutzung</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0"/>
            <a:ext cx="5760720" cy="8229600"/>
          </a:xfrm>
          <a:prstGeom prst="rect">
            <a:avLst/>
          </a:prstGeom>
        </p:spPr>
      </p:pic>
      <p:sp>
        <p:nvSpPr>
          <p:cNvPr id="3" name="Text 0"/>
          <p:cNvSpPr/>
          <p:nvPr/>
        </p:nvSpPr>
        <p:spPr>
          <a:xfrm>
            <a:off x="793790" y="1969532"/>
            <a:ext cx="4572357" cy="460772"/>
          </a:xfrm>
          <a:prstGeom prst="rect">
            <a:avLst/>
          </a:prstGeom>
          <a:noFill/>
          <a:ln/>
        </p:spPr>
        <p:txBody>
          <a:bodyPr wrap="none" lIns="0" tIns="0" rIns="0" bIns="0" rtlCol="0" anchor="t"/>
          <a:lstStyle/>
          <a:p>
            <a:pPr algn="l" indent="0" marL="0">
              <a:lnSpc>
                <a:spcPts val="3600"/>
              </a:lnSpc>
              <a:buNone/>
            </a:pPr>
            <a:r>
              <a:rPr lang="en-US" sz="2900" dirty="0">
                <a:solidFill>
                  <a:srgbClr val="030303"/>
                </a:solidFill>
                <a:latin typeface="Montserrat Semi Bold" pitchFamily="34" charset="0"/>
                <a:ea typeface="Montserrat Semi Bold" pitchFamily="34" charset="-122"/>
                <a:cs typeface="Montserrat Semi Bold" pitchFamily="34" charset="-120"/>
              </a:rPr>
              <a:t>Effizienz und Fortschritt</a:t>
            </a:r>
            <a:endParaRPr lang="en-US" sz="2900" dirty="0"/>
          </a:p>
        </p:txBody>
      </p:sp>
      <p:sp>
        <p:nvSpPr>
          <p:cNvPr id="4" name="Text 1"/>
          <p:cNvSpPr/>
          <p:nvPr/>
        </p:nvSpPr>
        <p:spPr>
          <a:xfrm>
            <a:off x="793790" y="2489240"/>
            <a:ext cx="6046351" cy="368618"/>
          </a:xfrm>
          <a:prstGeom prst="rect">
            <a:avLst/>
          </a:prstGeom>
          <a:noFill/>
          <a:ln/>
        </p:spPr>
        <p:txBody>
          <a:bodyPr wrap="none" lIns="0" tIns="0" rIns="0" bIns="0" rtlCol="0" anchor="t"/>
          <a:lstStyle/>
          <a:p>
            <a:pPr algn="l" indent="0" marL="0">
              <a:lnSpc>
                <a:spcPts val="2900"/>
              </a:lnSpc>
              <a:buNone/>
            </a:pPr>
            <a:r>
              <a:rPr lang="en-US" sz="2300" dirty="0">
                <a:solidFill>
                  <a:srgbClr val="030303"/>
                </a:solidFill>
                <a:latin typeface="Montserrat Semi Bold" pitchFamily="34" charset="0"/>
                <a:ea typeface="Montserrat Semi Bold" pitchFamily="34" charset="-122"/>
                <a:cs typeface="Montserrat Semi Bold" pitchFamily="34" charset="-120"/>
              </a:rPr>
              <a:t>Lineare Funktion mit positiver Steigung</a:t>
            </a:r>
            <a:endParaRPr lang="en-US" sz="2300" dirty="0"/>
          </a:p>
        </p:txBody>
      </p:sp>
      <p:sp>
        <p:nvSpPr>
          <p:cNvPr id="5" name="Shape 2"/>
          <p:cNvSpPr/>
          <p:nvPr/>
        </p:nvSpPr>
        <p:spPr>
          <a:xfrm>
            <a:off x="793790" y="3078956"/>
            <a:ext cx="331708" cy="331708"/>
          </a:xfrm>
          <a:prstGeom prst="roundRect">
            <a:avLst>
              <a:gd name="adj" fmla="val 2757"/>
            </a:avLst>
          </a:prstGeom>
          <a:solidFill>
            <a:srgbClr val="F9F7F7"/>
          </a:solidFill>
          <a:ln w="7620">
            <a:solidFill>
              <a:srgbClr val="D8D4D4"/>
            </a:solidFill>
            <a:prstDash val="solid"/>
          </a:ln>
        </p:spPr>
      </p:sp>
      <p:sp>
        <p:nvSpPr>
          <p:cNvPr id="6" name="Text 3"/>
          <p:cNvSpPr/>
          <p:nvPr/>
        </p:nvSpPr>
        <p:spPr>
          <a:xfrm>
            <a:off x="1272897" y="3106579"/>
            <a:ext cx="2211467" cy="276344"/>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Montserrat Semi Bold" pitchFamily="34" charset="0"/>
                <a:ea typeface="Montserrat Semi Bold" pitchFamily="34" charset="-122"/>
                <a:cs typeface="Montserrat Semi Bold" pitchFamily="34" charset="-120"/>
              </a:rPr>
              <a:t>Effizienzsteigerung</a:t>
            </a:r>
            <a:endParaRPr lang="en-US" sz="1700" dirty="0"/>
          </a:p>
        </p:txBody>
      </p:sp>
      <p:sp>
        <p:nvSpPr>
          <p:cNvPr id="7" name="Text 4"/>
          <p:cNvSpPr/>
          <p:nvPr/>
        </p:nvSpPr>
        <p:spPr>
          <a:xfrm>
            <a:off x="1272897" y="3471267"/>
            <a:ext cx="7077313"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Ein einfaches Diagramm, das eine lineare Funktion mit positiver Steigung zeigt, symbolisiert die kontinuierliche Effizienzsteigerung eines RAG-Systems bei der Verarbeitung und Generierung von Informationen.</a:t>
            </a:r>
            <a:endParaRPr lang="en-US" sz="1150" dirty="0"/>
          </a:p>
        </p:txBody>
      </p:sp>
      <p:sp>
        <p:nvSpPr>
          <p:cNvPr id="8" name="Shape 5"/>
          <p:cNvSpPr/>
          <p:nvPr/>
        </p:nvSpPr>
        <p:spPr>
          <a:xfrm>
            <a:off x="793790" y="4237553"/>
            <a:ext cx="331708" cy="331708"/>
          </a:xfrm>
          <a:prstGeom prst="roundRect">
            <a:avLst>
              <a:gd name="adj" fmla="val 2757"/>
            </a:avLst>
          </a:prstGeom>
          <a:solidFill>
            <a:srgbClr val="F9F7F7"/>
          </a:solidFill>
          <a:ln w="7620">
            <a:solidFill>
              <a:srgbClr val="D8D4D4"/>
            </a:solidFill>
            <a:prstDash val="solid"/>
          </a:ln>
        </p:spPr>
      </p:sp>
      <p:sp>
        <p:nvSpPr>
          <p:cNvPr id="9" name="Text 6"/>
          <p:cNvSpPr/>
          <p:nvPr/>
        </p:nvSpPr>
        <p:spPr>
          <a:xfrm>
            <a:off x="1272897" y="4265176"/>
            <a:ext cx="3020258" cy="276344"/>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Montserrat Semi Bold" pitchFamily="34" charset="0"/>
                <a:ea typeface="Montserrat Semi Bold" pitchFamily="34" charset="-122"/>
                <a:cs typeface="Montserrat Semi Bold" pitchFamily="34" charset="-120"/>
              </a:rPr>
              <a:t>Messbare Verbesserungen</a:t>
            </a:r>
            <a:endParaRPr lang="en-US" sz="1700" dirty="0"/>
          </a:p>
        </p:txBody>
      </p:sp>
      <p:sp>
        <p:nvSpPr>
          <p:cNvPr id="10" name="Text 7"/>
          <p:cNvSpPr/>
          <p:nvPr/>
        </p:nvSpPr>
        <p:spPr>
          <a:xfrm>
            <a:off x="1272897" y="4629864"/>
            <a:ext cx="7077313"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Die positive Steigung repräsentiert den messbaren Fortschritt in der Leistungsfähigkeit und Genauigkeit des Systems über die Zeit.</a:t>
            </a:r>
            <a:endParaRPr lang="en-US" sz="1150" dirty="0"/>
          </a:p>
        </p:txBody>
      </p:sp>
      <p:sp>
        <p:nvSpPr>
          <p:cNvPr id="11" name="Shape 8"/>
          <p:cNvSpPr/>
          <p:nvPr/>
        </p:nvSpPr>
        <p:spPr>
          <a:xfrm>
            <a:off x="793790" y="5396151"/>
            <a:ext cx="331708" cy="331708"/>
          </a:xfrm>
          <a:prstGeom prst="roundRect">
            <a:avLst>
              <a:gd name="adj" fmla="val 2757"/>
            </a:avLst>
          </a:prstGeom>
          <a:solidFill>
            <a:srgbClr val="F9F7F7"/>
          </a:solidFill>
          <a:ln w="7620">
            <a:solidFill>
              <a:srgbClr val="D8D4D4"/>
            </a:solidFill>
            <a:prstDash val="solid"/>
          </a:ln>
        </p:spPr>
      </p:sp>
      <p:sp>
        <p:nvSpPr>
          <p:cNvPr id="12" name="Text 9"/>
          <p:cNvSpPr/>
          <p:nvPr/>
        </p:nvSpPr>
        <p:spPr>
          <a:xfrm>
            <a:off x="1272897" y="5423773"/>
            <a:ext cx="2211467" cy="276344"/>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Montserrat Semi Bold" pitchFamily="34" charset="0"/>
                <a:ea typeface="Montserrat Semi Bold" pitchFamily="34" charset="-122"/>
                <a:cs typeface="Montserrat Semi Bold" pitchFamily="34" charset="-120"/>
              </a:rPr>
              <a:t>Skalierbarkeit</a:t>
            </a:r>
            <a:endParaRPr lang="en-US" sz="1700" dirty="0"/>
          </a:p>
        </p:txBody>
      </p:sp>
      <p:sp>
        <p:nvSpPr>
          <p:cNvPr id="13" name="Text 10"/>
          <p:cNvSpPr/>
          <p:nvPr/>
        </p:nvSpPr>
        <p:spPr>
          <a:xfrm>
            <a:off x="1272897" y="5788462"/>
            <a:ext cx="7077313"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Das lineare Wachstum zeigt, wie RAG-Frameworks mit zunehmender Datenmenge und Komplexität skalieren können.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193125"/>
            <a:ext cx="3795593" cy="460772"/>
          </a:xfrm>
          <a:prstGeom prst="rect">
            <a:avLst/>
          </a:prstGeom>
          <a:noFill/>
          <a:ln/>
        </p:spPr>
        <p:txBody>
          <a:bodyPr wrap="none" lIns="0" tIns="0" rIns="0" bIns="0" rtlCol="0" anchor="t"/>
          <a:lstStyle/>
          <a:p>
            <a:pPr algn="l" indent="0" marL="0">
              <a:lnSpc>
                <a:spcPts val="3600"/>
              </a:lnSpc>
              <a:buNone/>
            </a:pPr>
            <a:r>
              <a:rPr lang="en-US" sz="2900" dirty="0">
                <a:solidFill>
                  <a:srgbClr val="030303"/>
                </a:solidFill>
                <a:latin typeface="Montserrat Semi Bold" pitchFamily="34" charset="0"/>
                <a:ea typeface="Montserrat Semi Bold" pitchFamily="34" charset="-122"/>
                <a:cs typeface="Montserrat Semi Bold" pitchFamily="34" charset="-120"/>
              </a:rPr>
              <a:t>Netzwerkdiagramm</a:t>
            </a:r>
            <a:endParaRPr lang="en-US" sz="2900" dirty="0"/>
          </a:p>
        </p:txBody>
      </p:sp>
      <p:sp>
        <p:nvSpPr>
          <p:cNvPr id="3" name="Text 1"/>
          <p:cNvSpPr/>
          <p:nvPr/>
        </p:nvSpPr>
        <p:spPr>
          <a:xfrm>
            <a:off x="793790" y="1712833"/>
            <a:ext cx="5753695" cy="368618"/>
          </a:xfrm>
          <a:prstGeom prst="rect">
            <a:avLst/>
          </a:prstGeom>
          <a:noFill/>
          <a:ln/>
        </p:spPr>
        <p:txBody>
          <a:bodyPr wrap="none" lIns="0" tIns="0" rIns="0" bIns="0" rtlCol="0" anchor="t"/>
          <a:lstStyle/>
          <a:p>
            <a:pPr algn="l" indent="0" marL="0">
              <a:lnSpc>
                <a:spcPts val="2900"/>
              </a:lnSpc>
              <a:buNone/>
            </a:pPr>
            <a:r>
              <a:rPr lang="en-US" sz="2300" dirty="0">
                <a:solidFill>
                  <a:srgbClr val="030303"/>
                </a:solidFill>
                <a:latin typeface="Montserrat Semi Bold" pitchFamily="34" charset="0"/>
                <a:ea typeface="Montserrat Semi Bold" pitchFamily="34" charset="-122"/>
                <a:cs typeface="Montserrat Semi Bold" pitchFamily="34" charset="-120"/>
              </a:rPr>
              <a:t>Strukturierte Informationsvernetzung</a:t>
            </a:r>
            <a:endParaRPr lang="en-US" sz="2300" dirty="0"/>
          </a:p>
        </p:txBody>
      </p:sp>
      <p:sp>
        <p:nvSpPr>
          <p:cNvPr id="4" name="Text 2"/>
          <p:cNvSpPr/>
          <p:nvPr/>
        </p:nvSpPr>
        <p:spPr>
          <a:xfrm>
            <a:off x="793790" y="2449949"/>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030303"/>
                </a:solidFill>
                <a:latin typeface="Montserrat Semi Bold" pitchFamily="34" charset="0"/>
                <a:ea typeface="Montserrat Semi Bold" pitchFamily="34" charset="-122"/>
                <a:cs typeface="Montserrat Semi Bold" pitchFamily="34" charset="-120"/>
              </a:rPr>
              <a:t>Knoten</a:t>
            </a:r>
            <a:endParaRPr lang="en-US" sz="1450" dirty="0"/>
          </a:p>
        </p:txBody>
      </p:sp>
      <p:sp>
        <p:nvSpPr>
          <p:cNvPr id="5" name="Text 3"/>
          <p:cNvSpPr/>
          <p:nvPr/>
        </p:nvSpPr>
        <p:spPr>
          <a:xfrm>
            <a:off x="793790" y="2827734"/>
            <a:ext cx="4107418" cy="942975"/>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Ein schematisches Diagramm eines Netzwerks zeigt, wie Informationen in einem RAG-Framework strukturiert werden. Knoten repräsentieren einzelne Datenpunkte oder Informationseinheiten.</a:t>
            </a:r>
            <a:endParaRPr lang="en-US" sz="1150" dirty="0"/>
          </a:p>
        </p:txBody>
      </p:sp>
      <p:sp>
        <p:nvSpPr>
          <p:cNvPr id="6" name="Text 4"/>
          <p:cNvSpPr/>
          <p:nvPr/>
        </p:nvSpPr>
        <p:spPr>
          <a:xfrm>
            <a:off x="5268397" y="2449949"/>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030303"/>
                </a:solidFill>
                <a:latin typeface="Montserrat Semi Bold" pitchFamily="34" charset="0"/>
                <a:ea typeface="Montserrat Semi Bold" pitchFamily="34" charset="-122"/>
                <a:cs typeface="Montserrat Semi Bold" pitchFamily="34" charset="-120"/>
              </a:rPr>
              <a:t>Verbindungen</a:t>
            </a:r>
            <a:endParaRPr lang="en-US" sz="1450" dirty="0"/>
          </a:p>
        </p:txBody>
      </p:sp>
      <p:sp>
        <p:nvSpPr>
          <p:cNvPr id="7" name="Text 5"/>
          <p:cNvSpPr/>
          <p:nvPr/>
        </p:nvSpPr>
        <p:spPr>
          <a:xfrm>
            <a:off x="5268397" y="2827734"/>
            <a:ext cx="4107418"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Die Verbindungen zwischen den Knoten stellen die Beziehungen und Abhängigkeiten zwischen verschiedenen Datenpunkten dar.</a:t>
            </a:r>
            <a:endParaRPr lang="en-US" sz="1150" dirty="0"/>
          </a:p>
        </p:txBody>
      </p:sp>
      <p:sp>
        <p:nvSpPr>
          <p:cNvPr id="8" name="Text 6"/>
          <p:cNvSpPr/>
          <p:nvPr/>
        </p:nvSpPr>
        <p:spPr>
          <a:xfrm>
            <a:off x="9743003" y="2449949"/>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030303"/>
                </a:solidFill>
                <a:latin typeface="Montserrat Semi Bold" pitchFamily="34" charset="0"/>
                <a:ea typeface="Montserrat Semi Bold" pitchFamily="34" charset="-122"/>
                <a:cs typeface="Montserrat Semi Bold" pitchFamily="34" charset="-120"/>
              </a:rPr>
              <a:t>Graphstruktur</a:t>
            </a:r>
            <a:endParaRPr lang="en-US" sz="1450" dirty="0"/>
          </a:p>
        </p:txBody>
      </p:sp>
      <p:sp>
        <p:nvSpPr>
          <p:cNvPr id="9" name="Text 7"/>
          <p:cNvSpPr/>
          <p:nvPr/>
        </p:nvSpPr>
        <p:spPr>
          <a:xfrm>
            <a:off x="9743003" y="2827734"/>
            <a:ext cx="4107418" cy="707231"/>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Diese Graphstruktur ermöglicht effiziente Abfragen und das Auffinden relevanter Informationen durch Traversierung des Netzwerks.</a:t>
            </a:r>
            <a:endParaRPr lang="en-US" sz="1150" dirty="0"/>
          </a:p>
        </p:txBody>
      </p:sp>
      <p:sp>
        <p:nvSpPr>
          <p:cNvPr id="10" name="Text 8"/>
          <p:cNvSpPr/>
          <p:nvPr/>
        </p:nvSpPr>
        <p:spPr>
          <a:xfrm>
            <a:off x="2367320" y="5157668"/>
            <a:ext cx="3169444" cy="230386"/>
          </a:xfrm>
          <a:prstGeom prst="rect">
            <a:avLst/>
          </a:prstGeom>
          <a:noFill/>
          <a:ln/>
        </p:spPr>
        <p:txBody>
          <a:bodyPr wrap="none" lIns="0" tIns="0" rIns="0" bIns="0" rtlCol="0" anchor="t"/>
          <a:lstStyle/>
          <a:p>
            <a:pPr algn="r" indent="0" marL="0">
              <a:lnSpc>
                <a:spcPts val="1800"/>
              </a:lnSpc>
              <a:buNone/>
            </a:pPr>
            <a:r>
              <a:rPr lang="en-US" sz="1450" dirty="0">
                <a:solidFill>
                  <a:srgbClr val="464646"/>
                </a:solidFill>
                <a:latin typeface="Montserrat Semi Bold" pitchFamily="34" charset="0"/>
                <a:ea typeface="Montserrat Semi Bold" pitchFamily="34" charset="-122"/>
                <a:cs typeface="Montserrat Semi Bold" pitchFamily="34" charset="-120"/>
              </a:rPr>
              <a:t>Verarbeitung natürlicher Sprache</a:t>
            </a:r>
            <a:endParaRPr lang="en-US" sz="1450" dirty="0"/>
          </a:p>
        </p:txBody>
      </p:sp>
      <p:sp>
        <p:nvSpPr>
          <p:cNvPr id="11" name="Text 9"/>
          <p:cNvSpPr/>
          <p:nvPr/>
        </p:nvSpPr>
        <p:spPr>
          <a:xfrm>
            <a:off x="793790" y="5476399"/>
            <a:ext cx="4742974" cy="471488"/>
          </a:xfrm>
          <a:prstGeom prst="rect">
            <a:avLst/>
          </a:prstGeom>
          <a:noFill/>
          <a:ln/>
        </p:spPr>
        <p:txBody>
          <a:bodyPr wrap="square" lIns="0" tIns="0" rIns="0" bIns="0" rtlCol="0" anchor="t"/>
          <a:lstStyle/>
          <a:p>
            <a:pPr algn="r" indent="0" marL="0">
              <a:lnSpc>
                <a:spcPts val="1850"/>
              </a:lnSpc>
              <a:buNone/>
            </a:pPr>
            <a:r>
              <a:rPr lang="en-US" sz="1150" dirty="0">
                <a:solidFill>
                  <a:srgbClr val="464646"/>
                </a:solidFill>
                <a:latin typeface="PT Sans" pitchFamily="34" charset="0"/>
                <a:ea typeface="PT Sans" pitchFamily="34" charset="-122"/>
                <a:cs typeface="PT Sans" pitchFamily="34" charset="-120"/>
              </a:rPr>
              <a:t>RAG-Frameworks helfen, präzisere und kontextbezogene Antworten zu generieren</a:t>
            </a:r>
            <a:endParaRPr lang="en-US" sz="1150" dirty="0"/>
          </a:p>
        </p:txBody>
      </p:sp>
      <p:pic>
        <p:nvPicPr>
          <p:cNvPr id="12" name="Image 0" descr="preencoded.png">    </p:cNvPr>
          <p:cNvPicPr>
            <a:picLocks noChangeAspect="1"/>
          </p:cNvPicPr>
          <p:nvPr/>
        </p:nvPicPr>
        <p:blipFill>
          <a:blip r:embed="rId1"/>
          <a:stretch>
            <a:fillRect/>
          </a:stretch>
        </p:blipFill>
        <p:spPr>
          <a:xfrm>
            <a:off x="5831562" y="4069199"/>
            <a:ext cx="2967157" cy="2967157"/>
          </a:xfrm>
          <a:prstGeom prst="rect">
            <a:avLst/>
          </a:prstGeom>
        </p:spPr>
      </p:pic>
      <p:pic>
        <p:nvPicPr>
          <p:cNvPr id="13"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66306" y="5442406"/>
            <a:ext cx="220504" cy="220504"/>
          </a:xfrm>
          <a:prstGeom prst="rect">
            <a:avLst/>
          </a:prstGeom>
        </p:spPr>
      </p:pic>
      <p:sp>
        <p:nvSpPr>
          <p:cNvPr id="14" name="Text 10"/>
          <p:cNvSpPr/>
          <p:nvPr/>
        </p:nvSpPr>
        <p:spPr>
          <a:xfrm>
            <a:off x="9019818" y="4478417"/>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Montserrat Semi Bold" pitchFamily="34" charset="0"/>
                <a:ea typeface="Montserrat Semi Bold" pitchFamily="34" charset="-122"/>
                <a:cs typeface="Montserrat Semi Bold" pitchFamily="34" charset="-120"/>
              </a:rPr>
              <a:t>Datenanalyse</a:t>
            </a:r>
            <a:endParaRPr lang="en-US" sz="1450" dirty="0"/>
          </a:p>
        </p:txBody>
      </p:sp>
      <p:sp>
        <p:nvSpPr>
          <p:cNvPr id="15" name="Text 11"/>
          <p:cNvSpPr/>
          <p:nvPr/>
        </p:nvSpPr>
        <p:spPr>
          <a:xfrm>
            <a:off x="9019818" y="4797147"/>
            <a:ext cx="4816793" cy="235744"/>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Effiziente Verarbeitung großer Informationsmengen</a:t>
            </a:r>
            <a:endParaRPr lang="en-US" sz="1150" dirty="0"/>
          </a:p>
        </p:txBody>
      </p:sp>
      <p:pic>
        <p:nvPicPr>
          <p:cNvPr id="16" name="Image 2" descr="preencoded.png">    </p:cNvPr>
          <p:cNvPicPr>
            <a:picLocks noChangeAspect="1"/>
          </p:cNvPicPr>
          <p:nvPr/>
        </p:nvPicPr>
        <p:blipFill>
          <a:blip r:embed="rId4"/>
          <a:stretch>
            <a:fillRect/>
          </a:stretch>
        </p:blipFill>
        <p:spPr>
          <a:xfrm>
            <a:off x="5831562" y="4069199"/>
            <a:ext cx="2967157" cy="2967157"/>
          </a:xfrm>
          <a:prstGeom prst="rect">
            <a:avLst/>
          </a:prstGeom>
        </p:spPr>
      </p:pic>
      <p:pic>
        <p:nvPicPr>
          <p:cNvPr id="17"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24001" y="4543008"/>
            <a:ext cx="220504" cy="220504"/>
          </a:xfrm>
          <a:prstGeom prst="rect">
            <a:avLst/>
          </a:prstGeom>
        </p:spPr>
      </p:pic>
      <p:sp>
        <p:nvSpPr>
          <p:cNvPr id="18" name="Text 12"/>
          <p:cNvSpPr/>
          <p:nvPr/>
        </p:nvSpPr>
        <p:spPr>
          <a:xfrm>
            <a:off x="9019818" y="6072545"/>
            <a:ext cx="2086689" cy="2303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Montserrat Semi Bold" pitchFamily="34" charset="0"/>
                <a:ea typeface="Montserrat Semi Bold" pitchFamily="34" charset="-122"/>
                <a:cs typeface="Montserrat Semi Bold" pitchFamily="34" charset="-120"/>
              </a:rPr>
              <a:t>Wissensmanagement</a:t>
            </a:r>
            <a:endParaRPr lang="en-US" sz="1450" dirty="0"/>
          </a:p>
        </p:txBody>
      </p:sp>
      <p:sp>
        <p:nvSpPr>
          <p:cNvPr id="19" name="Text 13"/>
          <p:cNvSpPr/>
          <p:nvPr/>
        </p:nvSpPr>
        <p:spPr>
          <a:xfrm>
            <a:off x="9019818" y="6391275"/>
            <a:ext cx="4816793" cy="235744"/>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Organisation und Nutzung von Wissensdatenbanken</a:t>
            </a:r>
            <a:endParaRPr lang="en-US" sz="1150" dirty="0"/>
          </a:p>
        </p:txBody>
      </p:sp>
      <p:pic>
        <p:nvPicPr>
          <p:cNvPr id="20" name="Image 4" descr="preencoded.png">    </p:cNvPr>
          <p:cNvPicPr>
            <a:picLocks noChangeAspect="1"/>
          </p:cNvPicPr>
          <p:nvPr/>
        </p:nvPicPr>
        <p:blipFill>
          <a:blip r:embed="rId7"/>
          <a:stretch>
            <a:fillRect/>
          </a:stretch>
        </p:blipFill>
        <p:spPr>
          <a:xfrm>
            <a:off x="5831562" y="4069199"/>
            <a:ext cx="2967157" cy="2967157"/>
          </a:xfrm>
          <a:prstGeom prst="rect">
            <a:avLst/>
          </a:prstGeom>
        </p:spPr>
      </p:pic>
      <p:pic>
        <p:nvPicPr>
          <p:cNvPr id="21"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24001" y="6341805"/>
            <a:ext cx="220504" cy="22050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327315"/>
            <a:ext cx="3685937" cy="460772"/>
          </a:xfrm>
          <a:prstGeom prst="rect">
            <a:avLst/>
          </a:prstGeom>
          <a:noFill/>
          <a:ln/>
        </p:spPr>
        <p:txBody>
          <a:bodyPr wrap="none" lIns="0" tIns="0" rIns="0" bIns="0" rtlCol="0" anchor="t"/>
          <a:lstStyle/>
          <a:p>
            <a:pPr algn="l" indent="0" marL="0">
              <a:lnSpc>
                <a:spcPts val="3600"/>
              </a:lnSpc>
              <a:buNone/>
            </a:pPr>
            <a:r>
              <a:rPr lang="en-US" sz="2900" dirty="0">
                <a:solidFill>
                  <a:srgbClr val="030303"/>
                </a:solidFill>
                <a:latin typeface="Montserrat Semi Bold" pitchFamily="34" charset="0"/>
                <a:ea typeface="Montserrat Semi Bold" pitchFamily="34" charset="-122"/>
                <a:cs typeface="Montserrat Semi Bold" pitchFamily="34" charset="-120"/>
              </a:rPr>
              <a:t>Quellen</a:t>
            </a:r>
            <a:endParaRPr lang="en-US" sz="2900" dirty="0"/>
          </a:p>
        </p:txBody>
      </p:sp>
      <p:sp>
        <p:nvSpPr>
          <p:cNvPr id="3" name="Shape 1"/>
          <p:cNvSpPr/>
          <p:nvPr/>
        </p:nvSpPr>
        <p:spPr>
          <a:xfrm>
            <a:off x="793790" y="3082885"/>
            <a:ext cx="6447711" cy="1850231"/>
          </a:xfrm>
          <a:prstGeom prst="roundRect">
            <a:avLst>
              <a:gd name="adj" fmla="val 3954"/>
            </a:avLst>
          </a:prstGeom>
          <a:solidFill>
            <a:srgbClr val="FFFFFF"/>
          </a:solidFill>
          <a:ln w="15240">
            <a:solidFill>
              <a:srgbClr val="D8D4D4"/>
            </a:solidFill>
            <a:prstDash val="solid"/>
          </a:ln>
        </p:spPr>
      </p:sp>
      <p:sp>
        <p:nvSpPr>
          <p:cNvPr id="4" name="Shape 2"/>
          <p:cNvSpPr/>
          <p:nvPr/>
        </p:nvSpPr>
        <p:spPr>
          <a:xfrm>
            <a:off x="778550" y="3082885"/>
            <a:ext cx="60960" cy="1850231"/>
          </a:xfrm>
          <a:prstGeom prst="roundRect">
            <a:avLst>
              <a:gd name="adj" fmla="val 15000"/>
            </a:avLst>
          </a:prstGeom>
          <a:solidFill>
            <a:srgbClr val="1C9770"/>
          </a:solidFill>
          <a:ln/>
        </p:spPr>
      </p:sp>
      <p:sp>
        <p:nvSpPr>
          <p:cNvPr id="5" name="Text 3"/>
          <p:cNvSpPr/>
          <p:nvPr/>
        </p:nvSpPr>
        <p:spPr>
          <a:xfrm>
            <a:off x="1002149" y="3245525"/>
            <a:ext cx="4820483" cy="276344"/>
          </a:xfrm>
          <a:prstGeom prst="rect">
            <a:avLst/>
          </a:prstGeom>
          <a:noFill/>
          <a:ln/>
        </p:spPr>
        <p:txBody>
          <a:bodyPr wrap="none" lIns="0" tIns="0" rIns="0" bIns="0" rtlCol="0" anchor="t"/>
          <a:lstStyle/>
          <a:p>
            <a:pPr algn="l" indent="0" marL="0">
              <a:lnSpc>
                <a:spcPts val="2150"/>
              </a:lnSpc>
              <a:buNone/>
            </a:pPr>
            <a:r>
              <a:rPr lang="en-US" sz="1700" dirty="0">
                <a:solidFill>
                  <a:srgbClr val="464646"/>
                </a:solidFill>
                <a:latin typeface="Montserrat Semi Bold" pitchFamily="34" charset="0"/>
                <a:ea typeface="Montserrat Semi Bold" pitchFamily="34" charset="-122"/>
                <a:cs typeface="Montserrat Semi Bold" pitchFamily="34" charset="-120"/>
              </a:rPr>
              <a:t>RAG-Anything: All-in-One RAG Framework</a:t>
            </a:r>
            <a:endParaRPr lang="en-US" sz="1700" dirty="0"/>
          </a:p>
        </p:txBody>
      </p:sp>
      <p:sp>
        <p:nvSpPr>
          <p:cNvPr id="6" name="Text 4"/>
          <p:cNvSpPr/>
          <p:nvPr/>
        </p:nvSpPr>
        <p:spPr>
          <a:xfrm>
            <a:off x="1002149" y="3610213"/>
            <a:ext cx="6076712" cy="235744"/>
          </a:xfrm>
          <a:prstGeom prst="rect">
            <a:avLst/>
          </a:prstGeom>
          <a:noFill/>
          <a:ln/>
        </p:spPr>
        <p:txBody>
          <a:bodyPr wrap="none" lIns="0" tIns="0" rIns="0" bIns="0" rtlCol="0" anchor="t"/>
          <a:lstStyle/>
          <a:p>
            <a:pPr algn="l" indent="0" marL="0">
              <a:lnSpc>
                <a:spcPts val="1850"/>
              </a:lnSpc>
              <a:buNone/>
            </a:pPr>
            <a:r>
              <a:rPr lang="en-US" sz="1150" b="1" dirty="0">
                <a:solidFill>
                  <a:srgbClr val="464646"/>
                </a:solidFill>
                <a:latin typeface="PT Sans" pitchFamily="34" charset="0"/>
                <a:ea typeface="PT Sans" pitchFamily="34" charset="-122"/>
                <a:cs typeface="PT Sans" pitchFamily="34" charset="-120"/>
              </a:rPr>
              <a:t>Seite 4</a:t>
            </a:r>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 — Abschnitt: Dual-Graph Construction for Multimodal Knowledge</a:t>
            </a:r>
            <a:endParaRPr lang="en-US" sz="1150" dirty="0"/>
          </a:p>
        </p:txBody>
      </p:sp>
      <p:sp>
        <p:nvSpPr>
          <p:cNvPr id="7" name="Text 5"/>
          <p:cNvSpPr/>
          <p:nvPr/>
        </p:nvSpPr>
        <p:spPr>
          <a:xfrm>
            <a:off x="1002149" y="3934301"/>
            <a:ext cx="6076712" cy="235744"/>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URL: </a:t>
            </a:r>
            <a:pPr algn="l" indent="0" marL="0">
              <a:lnSpc>
                <a:spcPts val="1850"/>
              </a:lnSpc>
              <a:buNone/>
            </a:pPr>
            <a:r>
              <a:rPr lang="en-US" sz="1150" u="sng" dirty="0">
                <a:solidFill>
                  <a:srgbClr val="1C9770"/>
                </a:solidFill>
                <a:latin typeface="PT Sans" pitchFamily="34" charset="0"/>
                <a:ea typeface="PT Sans" pitchFamily="34" charset="-122"/>
                <a:cs typeface="PT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https://github.com/HKUDS/RAG-Anything</a:t>
            </a:r>
            <a:endParaRPr lang="en-US" sz="1150" dirty="0"/>
          </a:p>
        </p:txBody>
      </p:sp>
      <p:sp>
        <p:nvSpPr>
          <p:cNvPr id="8" name="Shape 6"/>
          <p:cNvSpPr/>
          <p:nvPr/>
        </p:nvSpPr>
        <p:spPr>
          <a:xfrm>
            <a:off x="7388900" y="3082885"/>
            <a:ext cx="6447711" cy="1850231"/>
          </a:xfrm>
          <a:prstGeom prst="roundRect">
            <a:avLst>
              <a:gd name="adj" fmla="val 3954"/>
            </a:avLst>
          </a:prstGeom>
          <a:solidFill>
            <a:srgbClr val="FFFFFF"/>
          </a:solidFill>
          <a:ln w="15240">
            <a:solidFill>
              <a:srgbClr val="D8D4D4"/>
            </a:solidFill>
            <a:prstDash val="solid"/>
          </a:ln>
        </p:spPr>
      </p:sp>
      <p:sp>
        <p:nvSpPr>
          <p:cNvPr id="9" name="Shape 7"/>
          <p:cNvSpPr/>
          <p:nvPr/>
        </p:nvSpPr>
        <p:spPr>
          <a:xfrm>
            <a:off x="7373660" y="3082885"/>
            <a:ext cx="60960" cy="1850231"/>
          </a:xfrm>
          <a:prstGeom prst="roundRect">
            <a:avLst>
              <a:gd name="adj" fmla="val 15000"/>
            </a:avLst>
          </a:prstGeom>
          <a:solidFill>
            <a:srgbClr val="1C9770"/>
          </a:solidFill>
          <a:ln/>
        </p:spPr>
      </p:sp>
      <p:sp>
        <p:nvSpPr>
          <p:cNvPr id="10" name="Text 8"/>
          <p:cNvSpPr/>
          <p:nvPr/>
        </p:nvSpPr>
        <p:spPr>
          <a:xfrm>
            <a:off x="7597259" y="3245525"/>
            <a:ext cx="6076712" cy="552688"/>
          </a:xfrm>
          <a:prstGeom prst="rect">
            <a:avLst/>
          </a:prstGeom>
          <a:noFill/>
          <a:ln/>
        </p:spPr>
        <p:txBody>
          <a:bodyPr wrap="square" lIns="0" tIns="0" rIns="0" bIns="0" rtlCol="0" anchor="t"/>
          <a:lstStyle/>
          <a:p>
            <a:pPr algn="l" indent="0" marL="0">
              <a:lnSpc>
                <a:spcPts val="2150"/>
              </a:lnSpc>
              <a:buNone/>
            </a:pPr>
            <a:r>
              <a:rPr lang="en-US" sz="1700" dirty="0">
                <a:solidFill>
                  <a:srgbClr val="464646"/>
                </a:solidFill>
                <a:latin typeface="Montserrat Semi Bold" pitchFamily="34" charset="0"/>
                <a:ea typeface="Montserrat Semi Bold" pitchFamily="34" charset="-122"/>
                <a:cs typeface="Montserrat Semi Bold" pitchFamily="34" charset="-120"/>
              </a:rPr>
              <a:t>KET-RAG: A Cost-Efficient Multi-Granular Indexing Framework</a:t>
            </a:r>
            <a:endParaRPr lang="en-US" sz="1700" dirty="0"/>
          </a:p>
        </p:txBody>
      </p:sp>
      <p:sp>
        <p:nvSpPr>
          <p:cNvPr id="11" name="Text 9"/>
          <p:cNvSpPr/>
          <p:nvPr/>
        </p:nvSpPr>
        <p:spPr>
          <a:xfrm>
            <a:off x="7597259" y="3886557"/>
            <a:ext cx="6076712" cy="235744"/>
          </a:xfrm>
          <a:prstGeom prst="rect">
            <a:avLst/>
          </a:prstGeom>
          <a:noFill/>
          <a:ln/>
        </p:spPr>
        <p:txBody>
          <a:bodyPr wrap="none" lIns="0" tIns="0" rIns="0" bIns="0" rtlCol="0" anchor="t"/>
          <a:lstStyle/>
          <a:p>
            <a:pPr algn="l" indent="0" marL="0">
              <a:lnSpc>
                <a:spcPts val="1850"/>
              </a:lnSpc>
              <a:buNone/>
            </a:pPr>
            <a:r>
              <a:rPr lang="en-US" sz="1150" b="1" dirty="0">
                <a:solidFill>
                  <a:srgbClr val="464646"/>
                </a:solidFill>
                <a:latin typeface="PT Sans" pitchFamily="34" charset="0"/>
                <a:ea typeface="PT Sans" pitchFamily="34" charset="-122"/>
                <a:cs typeface="PT Sans" pitchFamily="34" charset="-120"/>
              </a:rPr>
              <a:t>Seite 4</a:t>
            </a:r>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 — Abschnitt: 4.2 Rationale and Comparison</a:t>
            </a:r>
            <a:endParaRPr lang="en-US" sz="1150" dirty="0"/>
          </a:p>
        </p:txBody>
      </p:sp>
      <p:sp>
        <p:nvSpPr>
          <p:cNvPr id="12" name="Text 10"/>
          <p:cNvSpPr/>
          <p:nvPr/>
        </p:nvSpPr>
        <p:spPr>
          <a:xfrm>
            <a:off x="7597259" y="4210645"/>
            <a:ext cx="6076712" cy="235744"/>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DOI: 10.1145/3711896.3737012</a:t>
            </a:r>
            <a:endParaRPr lang="en-US" sz="1150" dirty="0"/>
          </a:p>
        </p:txBody>
      </p:sp>
      <p:sp>
        <p:nvSpPr>
          <p:cNvPr id="13" name="Text 11"/>
          <p:cNvSpPr/>
          <p:nvPr/>
        </p:nvSpPr>
        <p:spPr>
          <a:xfrm>
            <a:off x="7597259" y="4534733"/>
            <a:ext cx="6076712" cy="235744"/>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URL: </a:t>
            </a:r>
            <a:pPr algn="l" indent="0" marL="0">
              <a:lnSpc>
                <a:spcPts val="1850"/>
              </a:lnSpc>
              <a:buNone/>
            </a:pPr>
            <a:r>
              <a:rPr lang="en-US" sz="1150" u="sng" dirty="0">
                <a:solidFill>
                  <a:srgbClr val="1C9770"/>
                </a:solidFill>
                <a:latin typeface="PT Sans" pitchFamily="34" charset="0"/>
                <a:ea typeface="PT Sans" pitchFamily="34" charset="-122"/>
                <a:cs typeface="PT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https://doi.org/10.1145/3711896.3737012</a:t>
            </a:r>
            <a:endParaRPr lang="en-US" sz="1150" dirty="0"/>
          </a:p>
        </p:txBody>
      </p:sp>
      <p:sp>
        <p:nvSpPr>
          <p:cNvPr id="14" name="Text 12"/>
          <p:cNvSpPr/>
          <p:nvPr/>
        </p:nvSpPr>
        <p:spPr>
          <a:xfrm>
            <a:off x="1014889" y="5264825"/>
            <a:ext cx="12821722"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RAG ist ein leistungsfähiges Framework, das die Effizienz der Informationsverarbeitung durch die Kombination von Abruf und Generierung verbessert. Es findet Anwendung in vielen Bereichen der Technologie und Wissenschaft, insbesondere dort, wo große Datenmengen schnell und präzise verarbeitet werden müssen.</a:t>
            </a:r>
            <a:endParaRPr lang="en-US" sz="1150" dirty="0"/>
          </a:p>
        </p:txBody>
      </p:sp>
      <p:sp>
        <p:nvSpPr>
          <p:cNvPr id="15" name="Shape 13"/>
          <p:cNvSpPr/>
          <p:nvPr/>
        </p:nvSpPr>
        <p:spPr>
          <a:xfrm>
            <a:off x="793790" y="5098971"/>
            <a:ext cx="15240" cy="803196"/>
          </a:xfrm>
          <a:prstGeom prst="rect">
            <a:avLst/>
          </a:prstGeom>
          <a:solidFill>
            <a:srgbClr val="1C9770"/>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2025-11-10T12:57:33Z</dcterms:created>
  <dcterms:modified xsi:type="dcterms:W3CDTF">2025-11-10T12:57:33Z</dcterms:modified>
</cp:coreProperties>
</file>
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4630400" cy="8229600"/>
  <p:notesSz cx="8229600" cy="14630400"/>
  <p:embeddedFontLst>
    <p:embeddedFont>
      <p:font typeface="Bitter Medium"/>
      <p:regular r:id="rId12"/>
    </p:embeddedFont>
    <p:embeddedFont>
      <p:font typeface="Bitter Medium"/>
      <p:regular r:id="rId13"/>
    </p:embeddedFont>
    <p:embeddedFont>
      <p:font typeface="Bitter Medium"/>
      <p:regular r:id="rId14"/>
    </p:embeddedFont>
    <p:embeddedFont>
      <p:font typeface="Bitter Medium"/>
      <p:regular r:id="rId15"/>
    </p:embeddedFont>
    <p:embeddedFont>
      <p:font typeface="Open Sans"/>
      <p:regular r:id="rId16"/>
    </p:embeddedFont>
    <p:embeddedFont>
      <p:font typeface="Open Sans"/>
      <p:regular r:id="rId17"/>
    </p:embeddedFont>
    <p:embeddedFont>
      <p:font typeface="Open Sans"/>
      <p:regular r:id="rId18"/>
    </p:embeddedFont>
    <p:embeddedFont>
      <p:font typeface="Open Sans"/>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font" Target="fonts/font1.fntdata"/><Relationship Id="rId13" Type="http://schemas.openxmlformats.org/officeDocument/2006/relationships/font" Target="fonts/font2.fntdata"/><Relationship Id="rId14" Type="http://schemas.openxmlformats.org/officeDocument/2006/relationships/font" Target="fonts/font3.fntdata"/><Relationship Id="rId15" Type="http://schemas.openxmlformats.org/officeDocument/2006/relationships/font" Target="fonts/font4.fntdata"/><Relationship Id="rId16" Type="http://schemas.openxmlformats.org/officeDocument/2006/relationships/font" Target="fonts/font5.fntdata"/><Relationship Id="rId17" Type="http://schemas.openxmlformats.org/officeDocument/2006/relationships/font" Target="fonts/font6.fntdata"/><Relationship Id="rId18" Type="http://schemas.openxmlformats.org/officeDocument/2006/relationships/font" Target="fonts/font7.fntdata"/><Relationship Id="rId19"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3227427"/>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C3F42"/>
                </a:solidFill>
                <a:latin typeface="Bitter Medium" pitchFamily="34" charset="0"/>
                <a:ea typeface="Bitter Medium" pitchFamily="34" charset="-122"/>
                <a:cs typeface="Bitter Medium" pitchFamily="34" charset="-120"/>
              </a:rPr>
              <a:t>Neuronale Netze</a:t>
            </a:r>
            <a:endParaRPr lang="en-US" sz="4450" dirty="0"/>
          </a:p>
        </p:txBody>
      </p:sp>
      <p:sp>
        <p:nvSpPr>
          <p:cNvPr id="4" name="Text 1"/>
          <p:cNvSpPr/>
          <p:nvPr/>
        </p:nvSpPr>
        <p:spPr>
          <a:xfrm>
            <a:off x="793790" y="4276368"/>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Eine umfassende Einführung in die Grundlagen und Anwendungen künstlicher neuronaler Netzwerke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396133"/>
            <a:ext cx="5164217" cy="460772"/>
          </a:xfrm>
          <a:prstGeom prst="rect">
            <a:avLst/>
          </a:prstGeom>
          <a:noFill/>
          <a:ln/>
        </p:spPr>
        <p:txBody>
          <a:bodyPr wrap="none" lIns="0" tIns="0" rIns="0" bIns="0" rtlCol="0" anchor="t"/>
          <a:lstStyle/>
          <a:p>
            <a:pPr algn="l" indent="0" marL="0">
              <a:lnSpc>
                <a:spcPts val="3600"/>
              </a:lnSpc>
              <a:buNone/>
            </a:pPr>
            <a:r>
              <a:rPr lang="en-US" sz="2900" dirty="0">
                <a:solidFill>
                  <a:srgbClr val="2C3F42"/>
                </a:solidFill>
                <a:latin typeface="Bitter Medium" pitchFamily="34" charset="0"/>
                <a:ea typeface="Bitter Medium" pitchFamily="34" charset="-122"/>
                <a:cs typeface="Bitter Medium" pitchFamily="34" charset="-120"/>
              </a:rPr>
              <a:t>Grundlagen neuronaler Netze</a:t>
            </a:r>
            <a:endParaRPr lang="en-US" sz="2900" dirty="0"/>
          </a:p>
        </p:txBody>
      </p:sp>
      <p:sp>
        <p:nvSpPr>
          <p:cNvPr id="4" name="Text 1"/>
          <p:cNvSpPr/>
          <p:nvPr/>
        </p:nvSpPr>
        <p:spPr>
          <a:xfrm>
            <a:off x="793790" y="3210639"/>
            <a:ext cx="4389953" cy="1178719"/>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Neuronale Netze sind ein zentraler Bestandteil der künstlichen Intelligenz und ermöglichen es Computern, Muster zu erkennen und Entscheidungen zu treffen. Sie bestehen aus miteinander verbundenen "Neuronen", die in Schichten organisiert sind: Eingabeschicht, verborgene Schichten und Ausgabeschicht.</a:t>
            </a:r>
            <a:endParaRPr lang="en-US" sz="1150" dirty="0"/>
          </a:p>
        </p:txBody>
      </p:sp>
      <p:sp>
        <p:nvSpPr>
          <p:cNvPr id="5" name="Text 2"/>
          <p:cNvSpPr/>
          <p:nvPr/>
        </p:nvSpPr>
        <p:spPr>
          <a:xfrm>
            <a:off x="793790" y="4521994"/>
            <a:ext cx="4389953" cy="1178719"/>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Jede Verbindung zwischen Neuronen hat ein Gewicht, das während des Trainings angepasst wird, um die Genauigkeit des Netzes zu verbessern. Dieser Lernprozess ermöglicht es dem Netzwerk, komplexe Zusammenhänge in Daten zu erkennen und daraus Vorhersagen abzuleiten.</a:t>
            </a:r>
            <a:endParaRPr lang="en-US" sz="1150" dirty="0"/>
          </a:p>
        </p:txBody>
      </p:sp>
      <p:sp>
        <p:nvSpPr>
          <p:cNvPr id="6" name="Text 3"/>
          <p:cNvSpPr/>
          <p:nvPr/>
        </p:nvSpPr>
        <p:spPr>
          <a:xfrm>
            <a:off x="5550932" y="3225403"/>
            <a:ext cx="2806779" cy="460772"/>
          </a:xfrm>
          <a:prstGeom prst="rect">
            <a:avLst/>
          </a:prstGeom>
          <a:noFill/>
          <a:ln/>
        </p:spPr>
        <p:txBody>
          <a:bodyPr wrap="square" lIns="0" tIns="0" rIns="0" bIns="0" rtlCol="0" anchor="t"/>
          <a:lstStyle/>
          <a:p>
            <a:pPr algn="l" indent="0" marL="0">
              <a:lnSpc>
                <a:spcPts val="1800"/>
              </a:lnSpc>
              <a:buNone/>
            </a:pPr>
            <a:r>
              <a:rPr lang="en-US" sz="1450" dirty="0">
                <a:solidFill>
                  <a:srgbClr val="2C3F42"/>
                </a:solidFill>
                <a:latin typeface="Bitter Medium" pitchFamily="34" charset="0"/>
                <a:ea typeface="Bitter Medium" pitchFamily="34" charset="-122"/>
                <a:cs typeface="Bitter Medium" pitchFamily="34" charset="-120"/>
              </a:rPr>
              <a:t>Aufbau eines neuronalen Netzes</a:t>
            </a:r>
            <a:endParaRPr lang="en-US" sz="1450" dirty="0"/>
          </a:p>
        </p:txBody>
      </p:sp>
      <p:sp>
        <p:nvSpPr>
          <p:cNvPr id="7" name="Text 4"/>
          <p:cNvSpPr/>
          <p:nvPr/>
        </p:nvSpPr>
        <p:spPr>
          <a:xfrm>
            <a:off x="5550932" y="3833574"/>
            <a:ext cx="2806779"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Eingabeschicht für Rohdaten</a:t>
            </a:r>
            <a:endParaRPr lang="en-US" sz="1150" dirty="0"/>
          </a:p>
        </p:txBody>
      </p:sp>
      <p:sp>
        <p:nvSpPr>
          <p:cNvPr id="8" name="Text 5"/>
          <p:cNvSpPr/>
          <p:nvPr/>
        </p:nvSpPr>
        <p:spPr>
          <a:xfrm>
            <a:off x="5550932" y="4120872"/>
            <a:ext cx="2806779" cy="471488"/>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Verborgene Schichten zur Verarbeitung</a:t>
            </a:r>
            <a:endParaRPr lang="en-US" sz="1150" dirty="0"/>
          </a:p>
        </p:txBody>
      </p:sp>
      <p:sp>
        <p:nvSpPr>
          <p:cNvPr id="9" name="Text 6"/>
          <p:cNvSpPr/>
          <p:nvPr/>
        </p:nvSpPr>
        <p:spPr>
          <a:xfrm>
            <a:off x="5550932" y="4643914"/>
            <a:ext cx="2806779"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Ausgabeschicht für Ergebnisse</a:t>
            </a:r>
            <a:endParaRPr lang="en-US" sz="1150" dirty="0"/>
          </a:p>
        </p:txBody>
      </p:sp>
      <p:sp>
        <p:nvSpPr>
          <p:cNvPr id="10" name="Text 7"/>
          <p:cNvSpPr/>
          <p:nvPr/>
        </p:nvSpPr>
        <p:spPr>
          <a:xfrm>
            <a:off x="5550932" y="4931212"/>
            <a:ext cx="2806779" cy="471488"/>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Gewichtete Verbindungen zwischen Neuronen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573768"/>
            <a:ext cx="7524393" cy="460772"/>
          </a:xfrm>
          <a:prstGeom prst="rect">
            <a:avLst/>
          </a:prstGeom>
          <a:noFill/>
          <a:ln/>
        </p:spPr>
        <p:txBody>
          <a:bodyPr wrap="none" lIns="0" tIns="0" rIns="0" bIns="0" rtlCol="0" anchor="t"/>
          <a:lstStyle/>
          <a:p>
            <a:pPr algn="l" indent="0" marL="0">
              <a:lnSpc>
                <a:spcPts val="3600"/>
              </a:lnSpc>
              <a:buNone/>
            </a:pPr>
            <a:r>
              <a:rPr lang="en-US" sz="2900" dirty="0">
                <a:solidFill>
                  <a:srgbClr val="2C3F42"/>
                </a:solidFill>
                <a:latin typeface="Bitter Medium" pitchFamily="34" charset="0"/>
                <a:ea typeface="Bitter Medium" pitchFamily="34" charset="-122"/>
                <a:cs typeface="Bitter Medium" pitchFamily="34" charset="-120"/>
              </a:rPr>
              <a:t>AlexNet: Ein Meilenstein der Bilderkennung</a:t>
            </a:r>
            <a:endParaRPr lang="en-US" sz="2900" dirty="0"/>
          </a:p>
        </p:txBody>
      </p:sp>
      <p:sp>
        <p:nvSpPr>
          <p:cNvPr id="4" name="Shape 1"/>
          <p:cNvSpPr/>
          <p:nvPr/>
        </p:nvSpPr>
        <p:spPr>
          <a:xfrm>
            <a:off x="6280190" y="2255639"/>
            <a:ext cx="3704511" cy="1925598"/>
          </a:xfrm>
          <a:prstGeom prst="roundRect">
            <a:avLst>
              <a:gd name="adj" fmla="val 3216"/>
            </a:avLst>
          </a:prstGeom>
          <a:solidFill>
            <a:srgbClr val="FCE2CF"/>
          </a:solidFill>
          <a:ln w="7620">
            <a:solidFill>
              <a:srgbClr val="E2C8B5"/>
            </a:solidFill>
            <a:prstDash val="solid"/>
          </a:ln>
        </p:spPr>
      </p:sp>
      <p:sp>
        <p:nvSpPr>
          <p:cNvPr id="5" name="Shape 2"/>
          <p:cNvSpPr/>
          <p:nvPr/>
        </p:nvSpPr>
        <p:spPr>
          <a:xfrm>
            <a:off x="6435209" y="2410658"/>
            <a:ext cx="442198" cy="442198"/>
          </a:xfrm>
          <a:prstGeom prst="roundRect">
            <a:avLst>
              <a:gd name="adj" fmla="val 20676452"/>
            </a:avLst>
          </a:prstGeom>
          <a:solidFill>
            <a:srgbClr val="D2600F"/>
          </a:solidFill>
          <a:ln/>
        </p:spPr>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56772" y="2532221"/>
            <a:ext cx="198953" cy="198953"/>
          </a:xfrm>
          <a:prstGeom prst="rect">
            <a:avLst/>
          </a:prstGeom>
        </p:spPr>
      </p:pic>
      <p:sp>
        <p:nvSpPr>
          <p:cNvPr id="7" name="Text 3"/>
          <p:cNvSpPr/>
          <p:nvPr/>
        </p:nvSpPr>
        <p:spPr>
          <a:xfrm>
            <a:off x="6435209" y="3000256"/>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Entwicklung 2012</a:t>
            </a:r>
            <a:endParaRPr lang="en-US" sz="1450" dirty="0"/>
          </a:p>
        </p:txBody>
      </p:sp>
      <p:sp>
        <p:nvSpPr>
          <p:cNvPr id="8" name="Text 4"/>
          <p:cNvSpPr/>
          <p:nvPr/>
        </p:nvSpPr>
        <p:spPr>
          <a:xfrm>
            <a:off x="6435209" y="3318986"/>
            <a:ext cx="3394472" cy="707231"/>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AlexNet revolutionierte die Bildklassifizierung und setzte neue Maßstäbe in der Computer Vision</a:t>
            </a:r>
            <a:endParaRPr lang="en-US" sz="1150" dirty="0"/>
          </a:p>
        </p:txBody>
      </p:sp>
      <p:sp>
        <p:nvSpPr>
          <p:cNvPr id="9" name="Shape 5"/>
          <p:cNvSpPr/>
          <p:nvPr/>
        </p:nvSpPr>
        <p:spPr>
          <a:xfrm>
            <a:off x="10132100" y="2255639"/>
            <a:ext cx="3704511" cy="1925598"/>
          </a:xfrm>
          <a:prstGeom prst="roundRect">
            <a:avLst>
              <a:gd name="adj" fmla="val 3216"/>
            </a:avLst>
          </a:prstGeom>
          <a:solidFill>
            <a:srgbClr val="FCE2CF"/>
          </a:solidFill>
          <a:ln w="7620">
            <a:solidFill>
              <a:srgbClr val="E2C8B5"/>
            </a:solidFill>
            <a:prstDash val="solid"/>
          </a:ln>
        </p:spPr>
      </p:sp>
      <p:sp>
        <p:nvSpPr>
          <p:cNvPr id="10" name="Shape 6"/>
          <p:cNvSpPr/>
          <p:nvPr/>
        </p:nvSpPr>
        <p:spPr>
          <a:xfrm>
            <a:off x="10287119" y="2410658"/>
            <a:ext cx="442198" cy="442198"/>
          </a:xfrm>
          <a:prstGeom prst="roundRect">
            <a:avLst>
              <a:gd name="adj" fmla="val 20676452"/>
            </a:avLst>
          </a:prstGeom>
          <a:solidFill>
            <a:srgbClr val="D2600F"/>
          </a:solidFill>
          <a:ln/>
        </p:spPr>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08682" y="2532221"/>
            <a:ext cx="198953" cy="198953"/>
          </a:xfrm>
          <a:prstGeom prst="rect">
            <a:avLst/>
          </a:prstGeom>
        </p:spPr>
      </p:pic>
      <p:sp>
        <p:nvSpPr>
          <p:cNvPr id="12" name="Text 7"/>
          <p:cNvSpPr/>
          <p:nvPr/>
        </p:nvSpPr>
        <p:spPr>
          <a:xfrm>
            <a:off x="10287119" y="3000256"/>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8 Schichten</a:t>
            </a:r>
            <a:endParaRPr lang="en-US" sz="1450" dirty="0"/>
          </a:p>
        </p:txBody>
      </p:sp>
      <p:sp>
        <p:nvSpPr>
          <p:cNvPr id="13" name="Text 8"/>
          <p:cNvSpPr/>
          <p:nvPr/>
        </p:nvSpPr>
        <p:spPr>
          <a:xfrm>
            <a:off x="10287119" y="3318986"/>
            <a:ext cx="3394472" cy="707231"/>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Tiefe Architektur mit mehreren Convolutional- und Pooling-Schichten für präzise Mustererkennung</a:t>
            </a:r>
            <a:endParaRPr lang="en-US" sz="1150" dirty="0"/>
          </a:p>
        </p:txBody>
      </p:sp>
      <p:sp>
        <p:nvSpPr>
          <p:cNvPr id="14" name="Shape 9"/>
          <p:cNvSpPr/>
          <p:nvPr/>
        </p:nvSpPr>
        <p:spPr>
          <a:xfrm>
            <a:off x="6280190" y="4328636"/>
            <a:ext cx="7556421" cy="1454110"/>
          </a:xfrm>
          <a:prstGeom prst="roundRect">
            <a:avLst>
              <a:gd name="adj" fmla="val 4259"/>
            </a:avLst>
          </a:prstGeom>
          <a:solidFill>
            <a:srgbClr val="FCE2CF"/>
          </a:solidFill>
          <a:ln w="7620">
            <a:solidFill>
              <a:srgbClr val="E2C8B5"/>
            </a:solidFill>
            <a:prstDash val="solid"/>
          </a:ln>
        </p:spPr>
      </p:sp>
      <p:sp>
        <p:nvSpPr>
          <p:cNvPr id="15" name="Shape 10"/>
          <p:cNvSpPr/>
          <p:nvPr/>
        </p:nvSpPr>
        <p:spPr>
          <a:xfrm>
            <a:off x="6435209" y="4483656"/>
            <a:ext cx="442198" cy="442198"/>
          </a:xfrm>
          <a:prstGeom prst="roundRect">
            <a:avLst>
              <a:gd name="adj" fmla="val 20676452"/>
            </a:avLst>
          </a:prstGeom>
          <a:solidFill>
            <a:srgbClr val="D2600F"/>
          </a:solidFill>
          <a:ln/>
        </p:spPr>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56772" y="4605218"/>
            <a:ext cx="198953" cy="198953"/>
          </a:xfrm>
          <a:prstGeom prst="rect">
            <a:avLst/>
          </a:prstGeom>
        </p:spPr>
      </p:pic>
      <p:sp>
        <p:nvSpPr>
          <p:cNvPr id="17" name="Text 11"/>
          <p:cNvSpPr/>
          <p:nvPr/>
        </p:nvSpPr>
        <p:spPr>
          <a:xfrm>
            <a:off x="6435209" y="5073253"/>
            <a:ext cx="2035850"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60 Millionen Parameter</a:t>
            </a:r>
            <a:endParaRPr lang="en-US" sz="1450" dirty="0"/>
          </a:p>
        </p:txBody>
      </p:sp>
      <p:sp>
        <p:nvSpPr>
          <p:cNvPr id="18" name="Text 12"/>
          <p:cNvSpPr/>
          <p:nvPr/>
        </p:nvSpPr>
        <p:spPr>
          <a:xfrm>
            <a:off x="6435209" y="5391983"/>
            <a:ext cx="7246382" cy="235744"/>
          </a:xfrm>
          <a:prstGeom prst="rect">
            <a:avLst/>
          </a:prstGeom>
          <a:noFill/>
          <a:ln/>
        </p:spPr>
        <p:txBody>
          <a:bodyPr wrap="non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Komplexes Netzwerk mit enormer Lernkapazität für hochpräzise Bildklassifizierung</a:t>
            </a:r>
            <a:endParaRPr lang="en-US" sz="1150" dirty="0"/>
          </a:p>
        </p:txBody>
      </p:sp>
      <p:sp>
        <p:nvSpPr>
          <p:cNvPr id="19" name="Text 13"/>
          <p:cNvSpPr/>
          <p:nvPr/>
        </p:nvSpPr>
        <p:spPr>
          <a:xfrm>
            <a:off x="6280190" y="5948601"/>
            <a:ext cx="7556421" cy="707231"/>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AlexNet, ein Convolutional Neural Network (CNN), erzielte herausragende Leistungen in der Bildklassifizierung und hat den Weg für viele moderne Anwendungen in der Bilderkennung geebnet. Die Architektur demonstrierte eindrucksvoll, wie tiefe neuronale Netze komplexe visuelle Aufgaben bewältigen können.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282428"/>
            <a:ext cx="8877895" cy="602456"/>
          </a:xfrm>
          <a:prstGeom prst="rect">
            <a:avLst/>
          </a:prstGeom>
          <a:noFill/>
          <a:ln/>
        </p:spPr>
        <p:txBody>
          <a:bodyPr wrap="none" lIns="0" tIns="0" rIns="0" bIns="0" rtlCol="0" anchor="t"/>
          <a:lstStyle/>
          <a:p>
            <a:pPr algn="l" indent="0" marL="0">
              <a:lnSpc>
                <a:spcPts val="4700"/>
              </a:lnSpc>
              <a:buNone/>
            </a:pPr>
            <a:r>
              <a:rPr lang="en-US" sz="3750" dirty="0">
                <a:solidFill>
                  <a:srgbClr val="2C3F42"/>
                </a:solidFill>
                <a:latin typeface="Bitter Medium" pitchFamily="34" charset="0"/>
                <a:ea typeface="Bitter Medium" pitchFamily="34" charset="-122"/>
                <a:cs typeface="Bitter Medium" pitchFamily="34" charset="-120"/>
              </a:rPr>
              <a:t>Kreative Anwendungen: Kunst durch KI</a:t>
            </a:r>
            <a:endParaRPr lang="en-US" sz="3750" dirty="0"/>
          </a:p>
        </p:txBody>
      </p:sp>
      <p:sp>
        <p:nvSpPr>
          <p:cNvPr id="3" name="Text 1"/>
          <p:cNvSpPr/>
          <p:nvPr/>
        </p:nvSpPr>
        <p:spPr>
          <a:xfrm>
            <a:off x="793790" y="3270409"/>
            <a:ext cx="13042821" cy="925116"/>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Neuronale Netze finden Anwendung in verschiedenen Bereichen, darunter die Generierung von Bildern im Stil berühmter Künstler. Forscher haben neuronale Netze trainiert, um Fotos im Stil von Van Gogh oder Edvard Munch zu malen, indem sie die charakteristischen Merkmale dieser Künstler erlernten und auf neue Bilder anwendeten.</a:t>
            </a:r>
            <a:endParaRPr lang="en-US" sz="1500" dirty="0"/>
          </a:p>
        </p:txBody>
      </p:sp>
      <p:sp>
        <p:nvSpPr>
          <p:cNvPr id="4" name="Text 2"/>
          <p:cNvSpPr/>
          <p:nvPr/>
        </p:nvSpPr>
        <p:spPr>
          <a:xfrm>
            <a:off x="793790" y="4605099"/>
            <a:ext cx="2409944" cy="301228"/>
          </a:xfrm>
          <a:prstGeom prst="rect">
            <a:avLst/>
          </a:prstGeom>
          <a:noFill/>
          <a:ln/>
        </p:spPr>
        <p:txBody>
          <a:bodyPr wrap="none" lIns="0" tIns="0" rIns="0" bIns="0" rtlCol="0" anchor="t"/>
          <a:lstStyle/>
          <a:p>
            <a:pPr algn="l"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Van Gogh Stil</a:t>
            </a:r>
            <a:endParaRPr lang="en-US" sz="1850" dirty="0"/>
          </a:p>
        </p:txBody>
      </p:sp>
      <p:sp>
        <p:nvSpPr>
          <p:cNvPr id="5" name="Text 3"/>
          <p:cNvSpPr/>
          <p:nvPr/>
        </p:nvSpPr>
        <p:spPr>
          <a:xfrm>
            <a:off x="793790" y="5021937"/>
            <a:ext cx="4186952" cy="925116"/>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Charakteristische Pinselstriche und leuchtende Farben werden durch neuronale Netze nachgebildet</a:t>
            </a:r>
            <a:endParaRPr lang="en-US" sz="1500" dirty="0"/>
          </a:p>
        </p:txBody>
      </p:sp>
      <p:sp>
        <p:nvSpPr>
          <p:cNvPr id="6" name="Text 4"/>
          <p:cNvSpPr/>
          <p:nvPr/>
        </p:nvSpPr>
        <p:spPr>
          <a:xfrm>
            <a:off x="5221724" y="4605099"/>
            <a:ext cx="2409944" cy="301228"/>
          </a:xfrm>
          <a:prstGeom prst="rect">
            <a:avLst/>
          </a:prstGeom>
          <a:noFill/>
          <a:ln/>
        </p:spPr>
        <p:txBody>
          <a:bodyPr wrap="none" lIns="0" tIns="0" rIns="0" bIns="0" rtlCol="0" anchor="t"/>
          <a:lstStyle/>
          <a:p>
            <a:pPr algn="l"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Edvard Munch Stil</a:t>
            </a:r>
            <a:endParaRPr lang="en-US" sz="1850" dirty="0"/>
          </a:p>
        </p:txBody>
      </p:sp>
      <p:sp>
        <p:nvSpPr>
          <p:cNvPr id="7" name="Text 5"/>
          <p:cNvSpPr/>
          <p:nvPr/>
        </p:nvSpPr>
        <p:spPr>
          <a:xfrm>
            <a:off x="5221724" y="5021937"/>
            <a:ext cx="4186952" cy="616744"/>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Expressionistische Elemente und emotionale Intensität werden algorithmisch reproduziert</a:t>
            </a:r>
            <a:endParaRPr lang="en-US" sz="1500" dirty="0"/>
          </a:p>
        </p:txBody>
      </p:sp>
      <p:sp>
        <p:nvSpPr>
          <p:cNvPr id="8" name="Text 6"/>
          <p:cNvSpPr/>
          <p:nvPr/>
        </p:nvSpPr>
        <p:spPr>
          <a:xfrm>
            <a:off x="9649658" y="4605099"/>
            <a:ext cx="2409944" cy="301228"/>
          </a:xfrm>
          <a:prstGeom prst="rect">
            <a:avLst/>
          </a:prstGeom>
          <a:noFill/>
          <a:ln/>
        </p:spPr>
        <p:txBody>
          <a:bodyPr wrap="none" lIns="0" tIns="0" rIns="0" bIns="0" rtlCol="0" anchor="t"/>
          <a:lstStyle/>
          <a:p>
            <a:pPr algn="l"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Style Transfer</a:t>
            </a:r>
            <a:endParaRPr lang="en-US" sz="1850" dirty="0"/>
          </a:p>
        </p:txBody>
      </p:sp>
      <p:sp>
        <p:nvSpPr>
          <p:cNvPr id="9" name="Text 7"/>
          <p:cNvSpPr/>
          <p:nvPr/>
        </p:nvSpPr>
        <p:spPr>
          <a:xfrm>
            <a:off x="9649658" y="5021937"/>
            <a:ext cx="4186952" cy="925116"/>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Moderne Fotos werden in künstlerische Meisterwerke verwandelt durch Deep Learning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6869" y="523994"/>
            <a:ext cx="4741069" cy="387072"/>
          </a:xfrm>
          <a:prstGeom prst="rect">
            <a:avLst/>
          </a:prstGeom>
          <a:noFill/>
          <a:ln/>
        </p:spPr>
        <p:txBody>
          <a:bodyPr wrap="none" lIns="0" tIns="0" rIns="0" bIns="0" rtlCol="0" anchor="t"/>
          <a:lstStyle/>
          <a:p>
            <a:pPr algn="l" indent="0" marL="0">
              <a:lnSpc>
                <a:spcPts val="3000"/>
              </a:lnSpc>
              <a:buNone/>
            </a:pPr>
            <a:r>
              <a:rPr lang="en-US" sz="2400" dirty="0">
                <a:solidFill>
                  <a:srgbClr val="2C3F42"/>
                </a:solidFill>
                <a:latin typeface="Bitter Medium" pitchFamily="34" charset="0"/>
                <a:ea typeface="Bitter Medium" pitchFamily="34" charset="-122"/>
                <a:cs typeface="Bitter Medium" pitchFamily="34" charset="-120"/>
              </a:rPr>
              <a:t>Zusammenfassung und Ausblick</a:t>
            </a:r>
            <a:endParaRPr lang="en-US" sz="2400" dirty="0"/>
          </a:p>
        </p:txBody>
      </p:sp>
      <p:pic>
        <p:nvPicPr>
          <p:cNvPr id="3" name="Image 0" descr="preencoded.png">    </p:cNvPr>
          <p:cNvPicPr>
            <a:picLocks noChangeAspect="1"/>
          </p:cNvPicPr>
          <p:nvPr/>
        </p:nvPicPr>
        <p:blipFill>
          <a:blip r:embed="rId1"/>
          <a:stretch>
            <a:fillRect/>
          </a:stretch>
        </p:blipFill>
        <p:spPr>
          <a:xfrm>
            <a:off x="666869" y="1236107"/>
            <a:ext cx="4223147" cy="4223147"/>
          </a:xfrm>
          <a:prstGeom prst="rect">
            <a:avLst/>
          </a:prstGeom>
        </p:spPr>
      </p:pic>
      <p:sp>
        <p:nvSpPr>
          <p:cNvPr id="4" name="Text 1"/>
          <p:cNvSpPr/>
          <p:nvPr/>
        </p:nvSpPr>
        <p:spPr>
          <a:xfrm>
            <a:off x="7473910" y="1208246"/>
            <a:ext cx="6497241" cy="594360"/>
          </a:xfrm>
          <a:prstGeom prst="rect">
            <a:avLst/>
          </a:prstGeom>
          <a:noFill/>
          <a:ln/>
        </p:spPr>
        <p:txBody>
          <a:bodyPr wrap="square" lIns="0" tIns="0" rIns="0" bIns="0" rtlCol="0" anchor="t"/>
          <a:lstStyle/>
          <a:p>
            <a:pPr algn="l" indent="0" marL="0">
              <a:lnSpc>
                <a:spcPts val="1550"/>
              </a:lnSpc>
              <a:buNone/>
            </a:pPr>
            <a:r>
              <a:rPr lang="en-US" sz="950" dirty="0">
                <a:solidFill>
                  <a:srgbClr val="2B2E3C"/>
                </a:solidFill>
                <a:latin typeface="Open Sans" pitchFamily="34" charset="0"/>
                <a:ea typeface="Open Sans" pitchFamily="34" charset="-122"/>
                <a:cs typeface="Open Sans" pitchFamily="34" charset="-120"/>
              </a:rPr>
              <a:t>Zusammenfassend sind neuronale Netze leistungsstarke Werkzeuge der künstlichen Intelligenz, die durch ihre Fähigkeit, Muster zu erkennen und zu lernen, in zahlreichen Anwendungen von der Bildverarbeitung bis zur Kunstgenerierung eingesetzt werden.</a:t>
            </a:r>
            <a:endParaRPr lang="en-US" sz="950" dirty="0"/>
          </a:p>
        </p:txBody>
      </p:sp>
      <p:sp>
        <p:nvSpPr>
          <p:cNvPr id="5" name="Text 2"/>
          <p:cNvSpPr/>
          <p:nvPr/>
        </p:nvSpPr>
        <p:spPr>
          <a:xfrm>
            <a:off x="7473910" y="1914049"/>
            <a:ext cx="6497241" cy="396240"/>
          </a:xfrm>
          <a:prstGeom prst="rect">
            <a:avLst/>
          </a:prstGeom>
          <a:noFill/>
          <a:ln/>
        </p:spPr>
        <p:txBody>
          <a:bodyPr wrap="square" lIns="0" tIns="0" rIns="0" bIns="0" rtlCol="0" anchor="t"/>
          <a:lstStyle/>
          <a:p>
            <a:pPr algn="l" indent="0" marL="0">
              <a:lnSpc>
                <a:spcPts val="1550"/>
              </a:lnSpc>
              <a:buNone/>
            </a:pPr>
            <a:r>
              <a:rPr lang="en-US" sz="950" dirty="0">
                <a:solidFill>
                  <a:srgbClr val="2B2E3C"/>
                </a:solidFill>
                <a:latin typeface="Open Sans" pitchFamily="34" charset="0"/>
                <a:ea typeface="Open Sans" pitchFamily="34" charset="-122"/>
                <a:cs typeface="Open Sans" pitchFamily="34" charset="-120"/>
              </a:rPr>
              <a:t>Für eine anschauliche Erklärung der Funktionsweise neuronaler Netze empfiehlt sich das Video von Studyflix, das Schritt für Schritt den Aufbau und die Arbeitsweise dieser Netzwerke erläutert.</a:t>
            </a:r>
            <a:endParaRPr lang="en-US" sz="950" dirty="0"/>
          </a:p>
        </p:txBody>
      </p:sp>
      <p:sp>
        <p:nvSpPr>
          <p:cNvPr id="6" name="Shape 3"/>
          <p:cNvSpPr/>
          <p:nvPr/>
        </p:nvSpPr>
        <p:spPr>
          <a:xfrm>
            <a:off x="666869" y="5737860"/>
            <a:ext cx="6586418" cy="744022"/>
          </a:xfrm>
          <a:prstGeom prst="roundRect">
            <a:avLst>
              <a:gd name="adj" fmla="val 9832"/>
            </a:avLst>
          </a:prstGeom>
          <a:solidFill>
            <a:srgbClr val="FFF8F0"/>
          </a:solidFill>
          <a:ln w="15240">
            <a:solidFill>
              <a:srgbClr val="E2C8B5"/>
            </a:solidFill>
            <a:prstDash val="solid"/>
          </a:ln>
        </p:spPr>
      </p:sp>
      <p:sp>
        <p:nvSpPr>
          <p:cNvPr id="7" name="Shape 4"/>
          <p:cNvSpPr/>
          <p:nvPr/>
        </p:nvSpPr>
        <p:spPr>
          <a:xfrm>
            <a:off x="651629" y="5737860"/>
            <a:ext cx="60960" cy="744022"/>
          </a:xfrm>
          <a:prstGeom prst="roundRect">
            <a:avLst>
              <a:gd name="adj" fmla="val 85332"/>
            </a:avLst>
          </a:prstGeom>
          <a:solidFill>
            <a:srgbClr val="D2600F"/>
          </a:solidFill>
          <a:ln/>
        </p:spPr>
      </p:sp>
      <p:sp>
        <p:nvSpPr>
          <p:cNvPr id="8" name="Text 5"/>
          <p:cNvSpPr/>
          <p:nvPr/>
        </p:nvSpPr>
        <p:spPr>
          <a:xfrm>
            <a:off x="851654" y="5876925"/>
            <a:ext cx="1548170" cy="193477"/>
          </a:xfrm>
          <a:prstGeom prst="rect">
            <a:avLst/>
          </a:prstGeom>
          <a:noFill/>
          <a:ln/>
        </p:spPr>
        <p:txBody>
          <a:bodyPr wrap="none" lIns="0" tIns="0" rIns="0" bIns="0" rtlCol="0" anchor="t"/>
          <a:lstStyle/>
          <a:p>
            <a:pPr algn="l" indent="0" marL="0">
              <a:lnSpc>
                <a:spcPts val="1500"/>
              </a:lnSpc>
              <a:buNone/>
            </a:pPr>
            <a:r>
              <a:rPr lang="en-US" sz="1200" dirty="0">
                <a:solidFill>
                  <a:srgbClr val="2B2E3C"/>
                </a:solidFill>
                <a:latin typeface="Bitter Medium" pitchFamily="34" charset="0"/>
                <a:ea typeface="Bitter Medium" pitchFamily="34" charset="-122"/>
                <a:cs typeface="Bitter Medium" pitchFamily="34" charset="-120"/>
              </a:rPr>
              <a:t>Mustererkennung</a:t>
            </a:r>
            <a:endParaRPr lang="en-US" sz="1200" dirty="0"/>
          </a:p>
        </p:txBody>
      </p:sp>
      <p:sp>
        <p:nvSpPr>
          <p:cNvPr id="9" name="Text 6"/>
          <p:cNvSpPr/>
          <p:nvPr/>
        </p:nvSpPr>
        <p:spPr>
          <a:xfrm>
            <a:off x="851654" y="6144697"/>
            <a:ext cx="6262568" cy="198120"/>
          </a:xfrm>
          <a:prstGeom prst="rect">
            <a:avLst/>
          </a:prstGeom>
          <a:noFill/>
          <a:ln/>
        </p:spPr>
        <p:txBody>
          <a:bodyPr wrap="none" lIns="0" tIns="0" rIns="0" bIns="0" rtlCol="0" anchor="t"/>
          <a:lstStyle/>
          <a:p>
            <a:pPr algn="l" indent="0" marL="0">
              <a:lnSpc>
                <a:spcPts val="1550"/>
              </a:lnSpc>
              <a:buNone/>
            </a:pPr>
            <a:r>
              <a:rPr lang="en-US" sz="950" dirty="0">
                <a:solidFill>
                  <a:srgbClr val="2B2E3C"/>
                </a:solidFill>
                <a:latin typeface="Open Sans" pitchFamily="34" charset="0"/>
                <a:ea typeface="Open Sans" pitchFamily="34" charset="-122"/>
                <a:cs typeface="Open Sans" pitchFamily="34" charset="-120"/>
              </a:rPr>
              <a:t>Identifikation komplexer Muster in großen Datenmengen durch selbstlernende Algorithmen</a:t>
            </a:r>
            <a:endParaRPr lang="en-US" sz="950" dirty="0"/>
          </a:p>
        </p:txBody>
      </p:sp>
      <p:sp>
        <p:nvSpPr>
          <p:cNvPr id="10" name="Shape 7"/>
          <p:cNvSpPr/>
          <p:nvPr/>
        </p:nvSpPr>
        <p:spPr>
          <a:xfrm>
            <a:off x="7377113" y="5737860"/>
            <a:ext cx="6586418" cy="744022"/>
          </a:xfrm>
          <a:prstGeom prst="roundRect">
            <a:avLst>
              <a:gd name="adj" fmla="val 9832"/>
            </a:avLst>
          </a:prstGeom>
          <a:solidFill>
            <a:srgbClr val="FFF8F0"/>
          </a:solidFill>
          <a:ln w="15240">
            <a:solidFill>
              <a:srgbClr val="E2C8B5"/>
            </a:solidFill>
            <a:prstDash val="solid"/>
          </a:ln>
        </p:spPr>
      </p:sp>
      <p:sp>
        <p:nvSpPr>
          <p:cNvPr id="11" name="Shape 8"/>
          <p:cNvSpPr/>
          <p:nvPr/>
        </p:nvSpPr>
        <p:spPr>
          <a:xfrm>
            <a:off x="7361873" y="5737860"/>
            <a:ext cx="60960" cy="744022"/>
          </a:xfrm>
          <a:prstGeom prst="roundRect">
            <a:avLst>
              <a:gd name="adj" fmla="val 85332"/>
            </a:avLst>
          </a:prstGeom>
          <a:solidFill>
            <a:srgbClr val="D2600F"/>
          </a:solidFill>
          <a:ln/>
        </p:spPr>
      </p:sp>
      <p:sp>
        <p:nvSpPr>
          <p:cNvPr id="12" name="Text 9"/>
          <p:cNvSpPr/>
          <p:nvPr/>
        </p:nvSpPr>
        <p:spPr>
          <a:xfrm>
            <a:off x="7561898" y="5876925"/>
            <a:ext cx="1548170" cy="193477"/>
          </a:xfrm>
          <a:prstGeom prst="rect">
            <a:avLst/>
          </a:prstGeom>
          <a:noFill/>
          <a:ln/>
        </p:spPr>
        <p:txBody>
          <a:bodyPr wrap="none" lIns="0" tIns="0" rIns="0" bIns="0" rtlCol="0" anchor="t"/>
          <a:lstStyle/>
          <a:p>
            <a:pPr algn="l" indent="0" marL="0">
              <a:lnSpc>
                <a:spcPts val="1500"/>
              </a:lnSpc>
              <a:buNone/>
            </a:pPr>
            <a:r>
              <a:rPr lang="en-US" sz="1200" dirty="0">
                <a:solidFill>
                  <a:srgbClr val="2B2E3C"/>
                </a:solidFill>
                <a:latin typeface="Bitter Medium" pitchFamily="34" charset="0"/>
                <a:ea typeface="Bitter Medium" pitchFamily="34" charset="-122"/>
                <a:cs typeface="Bitter Medium" pitchFamily="34" charset="-120"/>
              </a:rPr>
              <a:t>Bildverarbeitung</a:t>
            </a:r>
            <a:endParaRPr lang="en-US" sz="1200" dirty="0"/>
          </a:p>
        </p:txBody>
      </p:sp>
      <p:sp>
        <p:nvSpPr>
          <p:cNvPr id="13" name="Text 10"/>
          <p:cNvSpPr/>
          <p:nvPr/>
        </p:nvSpPr>
        <p:spPr>
          <a:xfrm>
            <a:off x="7561898" y="6144697"/>
            <a:ext cx="6262568" cy="198120"/>
          </a:xfrm>
          <a:prstGeom prst="rect">
            <a:avLst/>
          </a:prstGeom>
          <a:noFill/>
          <a:ln/>
        </p:spPr>
        <p:txBody>
          <a:bodyPr wrap="none" lIns="0" tIns="0" rIns="0" bIns="0" rtlCol="0" anchor="t"/>
          <a:lstStyle/>
          <a:p>
            <a:pPr algn="l" indent="0" marL="0">
              <a:lnSpc>
                <a:spcPts val="1550"/>
              </a:lnSpc>
              <a:buNone/>
            </a:pPr>
            <a:r>
              <a:rPr lang="en-US" sz="950" dirty="0">
                <a:solidFill>
                  <a:srgbClr val="2B2E3C"/>
                </a:solidFill>
                <a:latin typeface="Open Sans" pitchFamily="34" charset="0"/>
                <a:ea typeface="Open Sans" pitchFamily="34" charset="-122"/>
                <a:cs typeface="Open Sans" pitchFamily="34" charset="-120"/>
              </a:rPr>
              <a:t>Automatische Klassifizierung und Analyse visueller Informationen mit hoher Präzision</a:t>
            </a:r>
            <a:endParaRPr lang="en-US" sz="950" dirty="0"/>
          </a:p>
        </p:txBody>
      </p:sp>
      <p:sp>
        <p:nvSpPr>
          <p:cNvPr id="14" name="Shape 11"/>
          <p:cNvSpPr/>
          <p:nvPr/>
        </p:nvSpPr>
        <p:spPr>
          <a:xfrm>
            <a:off x="666869" y="6605707"/>
            <a:ext cx="6586418" cy="744022"/>
          </a:xfrm>
          <a:prstGeom prst="roundRect">
            <a:avLst>
              <a:gd name="adj" fmla="val 9832"/>
            </a:avLst>
          </a:prstGeom>
          <a:solidFill>
            <a:srgbClr val="FFF8F0"/>
          </a:solidFill>
          <a:ln w="15240">
            <a:solidFill>
              <a:srgbClr val="E2C8B5"/>
            </a:solidFill>
            <a:prstDash val="solid"/>
          </a:ln>
        </p:spPr>
      </p:sp>
      <p:sp>
        <p:nvSpPr>
          <p:cNvPr id="15" name="Shape 12"/>
          <p:cNvSpPr/>
          <p:nvPr/>
        </p:nvSpPr>
        <p:spPr>
          <a:xfrm>
            <a:off x="651629" y="6605707"/>
            <a:ext cx="60960" cy="744022"/>
          </a:xfrm>
          <a:prstGeom prst="roundRect">
            <a:avLst>
              <a:gd name="adj" fmla="val 85332"/>
            </a:avLst>
          </a:prstGeom>
          <a:solidFill>
            <a:srgbClr val="D2600F"/>
          </a:solidFill>
          <a:ln/>
        </p:spPr>
      </p:sp>
      <p:sp>
        <p:nvSpPr>
          <p:cNvPr id="16" name="Text 13"/>
          <p:cNvSpPr/>
          <p:nvPr/>
        </p:nvSpPr>
        <p:spPr>
          <a:xfrm>
            <a:off x="851654" y="6744772"/>
            <a:ext cx="1548170" cy="193477"/>
          </a:xfrm>
          <a:prstGeom prst="rect">
            <a:avLst/>
          </a:prstGeom>
          <a:noFill/>
          <a:ln/>
        </p:spPr>
        <p:txBody>
          <a:bodyPr wrap="none" lIns="0" tIns="0" rIns="0" bIns="0" rtlCol="0" anchor="t"/>
          <a:lstStyle/>
          <a:p>
            <a:pPr algn="l" indent="0" marL="0">
              <a:lnSpc>
                <a:spcPts val="1500"/>
              </a:lnSpc>
              <a:buNone/>
            </a:pPr>
            <a:r>
              <a:rPr lang="en-US" sz="1200" dirty="0">
                <a:solidFill>
                  <a:srgbClr val="2B2E3C"/>
                </a:solidFill>
                <a:latin typeface="Bitter Medium" pitchFamily="34" charset="0"/>
                <a:ea typeface="Bitter Medium" pitchFamily="34" charset="-122"/>
                <a:cs typeface="Bitter Medium" pitchFamily="34" charset="-120"/>
              </a:rPr>
              <a:t>Kunstgenerierung</a:t>
            </a:r>
            <a:endParaRPr lang="en-US" sz="1200" dirty="0"/>
          </a:p>
        </p:txBody>
      </p:sp>
      <p:sp>
        <p:nvSpPr>
          <p:cNvPr id="17" name="Text 14"/>
          <p:cNvSpPr/>
          <p:nvPr/>
        </p:nvSpPr>
        <p:spPr>
          <a:xfrm>
            <a:off x="851654" y="7012543"/>
            <a:ext cx="6262568" cy="198120"/>
          </a:xfrm>
          <a:prstGeom prst="rect">
            <a:avLst/>
          </a:prstGeom>
          <a:noFill/>
          <a:ln/>
        </p:spPr>
        <p:txBody>
          <a:bodyPr wrap="none" lIns="0" tIns="0" rIns="0" bIns="0" rtlCol="0" anchor="t"/>
          <a:lstStyle/>
          <a:p>
            <a:pPr algn="l" indent="0" marL="0">
              <a:lnSpc>
                <a:spcPts val="1550"/>
              </a:lnSpc>
              <a:buNone/>
            </a:pPr>
            <a:r>
              <a:rPr lang="en-US" sz="950" dirty="0">
                <a:solidFill>
                  <a:srgbClr val="2B2E3C"/>
                </a:solidFill>
                <a:latin typeface="Open Sans" pitchFamily="34" charset="0"/>
                <a:ea typeface="Open Sans" pitchFamily="34" charset="-122"/>
                <a:cs typeface="Open Sans" pitchFamily="34" charset="-120"/>
              </a:rPr>
              <a:t>Kreative Anwendungen von der Stilübertragung bis zur vollständigen Bildsynthese</a:t>
            </a:r>
            <a:endParaRPr lang="en-US" sz="950" dirty="0"/>
          </a:p>
        </p:txBody>
      </p:sp>
      <p:sp>
        <p:nvSpPr>
          <p:cNvPr id="18" name="Shape 15"/>
          <p:cNvSpPr/>
          <p:nvPr/>
        </p:nvSpPr>
        <p:spPr>
          <a:xfrm>
            <a:off x="7377113" y="6605707"/>
            <a:ext cx="6586418" cy="744022"/>
          </a:xfrm>
          <a:prstGeom prst="roundRect">
            <a:avLst>
              <a:gd name="adj" fmla="val 9832"/>
            </a:avLst>
          </a:prstGeom>
          <a:solidFill>
            <a:srgbClr val="FFF8F0"/>
          </a:solidFill>
          <a:ln w="15240">
            <a:solidFill>
              <a:srgbClr val="E2C8B5"/>
            </a:solidFill>
            <a:prstDash val="solid"/>
          </a:ln>
        </p:spPr>
      </p:sp>
      <p:sp>
        <p:nvSpPr>
          <p:cNvPr id="19" name="Shape 16"/>
          <p:cNvSpPr/>
          <p:nvPr/>
        </p:nvSpPr>
        <p:spPr>
          <a:xfrm>
            <a:off x="7361873" y="6605707"/>
            <a:ext cx="60960" cy="744022"/>
          </a:xfrm>
          <a:prstGeom prst="roundRect">
            <a:avLst>
              <a:gd name="adj" fmla="val 85332"/>
            </a:avLst>
          </a:prstGeom>
          <a:solidFill>
            <a:srgbClr val="D2600F"/>
          </a:solidFill>
          <a:ln/>
        </p:spPr>
      </p:sp>
      <p:sp>
        <p:nvSpPr>
          <p:cNvPr id="20" name="Text 17"/>
          <p:cNvSpPr/>
          <p:nvPr/>
        </p:nvSpPr>
        <p:spPr>
          <a:xfrm>
            <a:off x="7561898" y="6744772"/>
            <a:ext cx="1548170" cy="193477"/>
          </a:xfrm>
          <a:prstGeom prst="rect">
            <a:avLst/>
          </a:prstGeom>
          <a:noFill/>
          <a:ln/>
        </p:spPr>
        <p:txBody>
          <a:bodyPr wrap="none" lIns="0" tIns="0" rIns="0" bIns="0" rtlCol="0" anchor="t"/>
          <a:lstStyle/>
          <a:p>
            <a:pPr algn="l" indent="0" marL="0">
              <a:lnSpc>
                <a:spcPts val="1500"/>
              </a:lnSpc>
              <a:buNone/>
            </a:pPr>
            <a:r>
              <a:rPr lang="en-US" sz="1200" dirty="0">
                <a:solidFill>
                  <a:srgbClr val="2B2E3C"/>
                </a:solidFill>
                <a:latin typeface="Bitter Medium" pitchFamily="34" charset="0"/>
                <a:ea typeface="Bitter Medium" pitchFamily="34" charset="-122"/>
                <a:cs typeface="Bitter Medium" pitchFamily="34" charset="-120"/>
              </a:rPr>
              <a:t>Zukunftspotenzial</a:t>
            </a:r>
            <a:endParaRPr lang="en-US" sz="1200" dirty="0"/>
          </a:p>
        </p:txBody>
      </p:sp>
      <p:sp>
        <p:nvSpPr>
          <p:cNvPr id="21" name="Text 18"/>
          <p:cNvSpPr/>
          <p:nvPr/>
        </p:nvSpPr>
        <p:spPr>
          <a:xfrm>
            <a:off x="7561898" y="7012543"/>
            <a:ext cx="6262568" cy="198120"/>
          </a:xfrm>
          <a:prstGeom prst="rect">
            <a:avLst/>
          </a:prstGeom>
          <a:noFill/>
          <a:ln/>
        </p:spPr>
        <p:txBody>
          <a:bodyPr wrap="none" lIns="0" tIns="0" rIns="0" bIns="0" rtlCol="0" anchor="t"/>
          <a:lstStyle/>
          <a:p>
            <a:pPr algn="l" indent="0" marL="0">
              <a:lnSpc>
                <a:spcPts val="1550"/>
              </a:lnSpc>
              <a:buNone/>
            </a:pPr>
            <a:r>
              <a:rPr lang="en-US" sz="950" dirty="0">
                <a:solidFill>
                  <a:srgbClr val="2B2E3C"/>
                </a:solidFill>
                <a:latin typeface="Open Sans" pitchFamily="34" charset="0"/>
                <a:ea typeface="Open Sans" pitchFamily="34" charset="-122"/>
                <a:cs typeface="Open Sans" pitchFamily="34" charset="-120"/>
              </a:rPr>
              <a:t>Kontinuierliche Weiterentwicklung für neue Anwendungsgebiete in Wissenschaft und Industrie</a:t>
            </a:r>
            <a:endParaRPr lang="en-US" sz="950" dirty="0"/>
          </a:p>
        </p:txBody>
      </p:sp>
      <p:sp>
        <p:nvSpPr>
          <p:cNvPr id="22" name="Shape 19"/>
          <p:cNvSpPr/>
          <p:nvPr/>
        </p:nvSpPr>
        <p:spPr>
          <a:xfrm>
            <a:off x="666869" y="7489031"/>
            <a:ext cx="13296662" cy="526256"/>
          </a:xfrm>
          <a:prstGeom prst="roundRect">
            <a:avLst>
              <a:gd name="adj" fmla="val 9885"/>
            </a:avLst>
          </a:prstGeom>
          <a:solidFill>
            <a:srgbClr val="FAD3B8"/>
          </a:solidFill>
          <a:ln/>
        </p:spPr>
      </p:sp>
      <p:pic>
        <p:nvPicPr>
          <p:cNvPr id="23" name="Image 1" descr="preencoded.png">    </p:cNvPr>
          <p:cNvPicPr>
            <a:picLocks noChangeAspect="1"/>
          </p:cNvPicPr>
          <p:nvPr/>
        </p:nvPicPr>
        <p:blipFill>
          <a:blip r:embed="rId2"/>
          <a:stretch>
            <a:fillRect/>
          </a:stretch>
        </p:blipFill>
        <p:spPr>
          <a:xfrm>
            <a:off x="790694" y="7680246"/>
            <a:ext cx="154781" cy="123825"/>
          </a:xfrm>
          <a:prstGeom prst="rect">
            <a:avLst/>
          </a:prstGeom>
        </p:spPr>
      </p:pic>
      <p:sp>
        <p:nvSpPr>
          <p:cNvPr id="24" name="Text 20"/>
          <p:cNvSpPr/>
          <p:nvPr/>
        </p:nvSpPr>
        <p:spPr>
          <a:xfrm>
            <a:off x="1069300" y="7643813"/>
            <a:ext cx="12770406" cy="198120"/>
          </a:xfrm>
          <a:prstGeom prst="rect">
            <a:avLst/>
          </a:prstGeom>
          <a:noFill/>
          <a:ln/>
        </p:spPr>
        <p:txBody>
          <a:bodyPr wrap="none" lIns="0" tIns="0" rIns="0" bIns="0" rtlCol="0" anchor="t"/>
          <a:lstStyle/>
          <a:p>
            <a:pPr algn="l" indent="0" marL="0">
              <a:lnSpc>
                <a:spcPts val="1550"/>
              </a:lnSpc>
              <a:buNone/>
            </a:pPr>
            <a:r>
              <a:rPr lang="en-US" sz="950" b="1" dirty="0">
                <a:solidFill>
                  <a:srgbClr val="000000"/>
                </a:solidFill>
                <a:latin typeface="Open Sans" pitchFamily="34" charset="0"/>
                <a:ea typeface="Open Sans" pitchFamily="34" charset="-122"/>
                <a:cs typeface="Open Sans" pitchFamily="34" charset="-120"/>
              </a:rPr>
              <a:t>Quellen:</a:t>
            </a:r>
            <a:pPr algn="l" indent="0" marL="0">
              <a:lnSpc>
                <a:spcPts val="1550"/>
              </a:lnSpc>
              <a:buNone/>
            </a:pPr>
            <a:r>
              <a:rPr lang="en-US" sz="950" dirty="0">
                <a:solidFill>
                  <a:srgbClr val="000000"/>
                </a:solidFill>
                <a:latin typeface="Open Sans" pitchFamily="34" charset="0"/>
                <a:ea typeface="Open Sans" pitchFamily="34" charset="-122"/>
                <a:cs typeface="Open Sans" pitchFamily="34" charset="-120"/>
              </a:rPr>
              <a:t> acquisa.de - Neuronale Netze einfach erklärt | Wikipedia - AlexNet | Wikipedia - Anwendungen künstlicher Intelligenz | Studyflix - Neuronale Netze Video</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2025-10-29T12:17:13Z</dcterms:created>
  <dcterms:modified xsi:type="dcterms:W3CDTF">2025-10-29T12:17:13Z</dcterms:modified>
</cp:coreProperties>
</file>
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embeddedFontLst>
    <p:embeddedFont>
      <p:font typeface="Bitter Medium"/>
      <p:regular r:id="rId12"/>
    </p:embeddedFont>
    <p:embeddedFont>
      <p:font typeface="Bitter Medium"/>
      <p:regular r:id="rId13"/>
    </p:embeddedFont>
    <p:embeddedFont>
      <p:font typeface="Bitter Medium"/>
      <p:regular r:id="rId14"/>
    </p:embeddedFont>
    <p:embeddedFont>
      <p:font typeface="Bitter Medium"/>
      <p:regular r:id="rId15"/>
    </p:embeddedFont>
    <p:embeddedFont>
      <p:font typeface="Open Sans"/>
      <p:regular r:id="rId16"/>
    </p:embeddedFont>
    <p:embeddedFont>
      <p:font typeface="Open Sans"/>
      <p:regular r:id="rId17"/>
    </p:embeddedFont>
    <p:embeddedFont>
      <p:font typeface="Open Sans"/>
      <p:regular r:id="rId18"/>
    </p:embeddedFont>
    <p:embeddedFont>
      <p:font typeface="Open Sans"/>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font" Target="fonts/font1.fntdata"/><Relationship Id="rId13" Type="http://schemas.openxmlformats.org/officeDocument/2006/relationships/font" Target="fonts/font2.fntdata"/><Relationship Id="rId14" Type="http://schemas.openxmlformats.org/officeDocument/2006/relationships/font" Target="fonts/font3.fntdata"/><Relationship Id="rId15" Type="http://schemas.openxmlformats.org/officeDocument/2006/relationships/font" Target="fonts/font4.fntdata"/><Relationship Id="rId16" Type="http://schemas.openxmlformats.org/officeDocument/2006/relationships/font" Target="fonts/font5.fntdata"/><Relationship Id="rId17" Type="http://schemas.openxmlformats.org/officeDocument/2006/relationships/font" Target="fonts/font6.fntdata"/><Relationship Id="rId18" Type="http://schemas.openxmlformats.org/officeDocument/2006/relationships/font" Target="fonts/font7.fntdata"/><Relationship Id="rId19"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5.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image" Target="../media/image-5-4.png"/><Relationship Id="rId5" Type="http://schemas.openxmlformats.org/officeDocument/2006/relationships/image" Target="../media/image-5-5.svg"/><Relationship Id="rId6" Type="http://schemas.openxmlformats.org/officeDocument/2006/relationships/image" Target="../media/image-5-6.png"/><Relationship Id="rId7" Type="http://schemas.openxmlformats.org/officeDocument/2006/relationships/image" Target="../media/image-5-7.sv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872978"/>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2C3F42"/>
                </a:solidFill>
                <a:latin typeface="Bitter Medium" pitchFamily="34" charset="0"/>
                <a:ea typeface="Bitter Medium" pitchFamily="34" charset="-122"/>
                <a:cs typeface="Bitter Medium" pitchFamily="34" charset="-120"/>
              </a:rPr>
              <a:t>Lineare Diskriminanzanalyse</a:t>
            </a:r>
            <a:endParaRPr lang="en-US" sz="4450" dirty="0"/>
          </a:p>
        </p:txBody>
      </p:sp>
      <p:sp>
        <p:nvSpPr>
          <p:cNvPr id="4" name="Text 1"/>
          <p:cNvSpPr/>
          <p:nvPr/>
        </p:nvSpPr>
        <p:spPr>
          <a:xfrm>
            <a:off x="6280190" y="463069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B2E3C"/>
                </a:solidFill>
                <a:latin typeface="Open Sans" pitchFamily="34" charset="0"/>
                <a:ea typeface="Open Sans" pitchFamily="34" charset="-122"/>
                <a:cs typeface="Open Sans" pitchFamily="34" charset="-120"/>
              </a:rPr>
              <a:t>Ein leistungsfähiges statistisches Verfahren zur Klassifikation und Dimensionsreduktion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13924"/>
            <a:ext cx="7097316" cy="460772"/>
          </a:xfrm>
          <a:prstGeom prst="rect">
            <a:avLst/>
          </a:prstGeom>
          <a:noFill/>
          <a:ln/>
        </p:spPr>
        <p:txBody>
          <a:bodyPr wrap="none" lIns="0" tIns="0" rIns="0" bIns="0" rtlCol="0" anchor="t"/>
          <a:lstStyle/>
          <a:p>
            <a:pPr algn="l" indent="0" marL="0">
              <a:lnSpc>
                <a:spcPts val="3600"/>
              </a:lnSpc>
              <a:buNone/>
            </a:pPr>
            <a:r>
              <a:rPr lang="en-US" sz="2900" dirty="0">
                <a:solidFill>
                  <a:srgbClr val="2C3F42"/>
                </a:solidFill>
                <a:latin typeface="Bitter Medium" pitchFamily="34" charset="0"/>
                <a:ea typeface="Bitter Medium" pitchFamily="34" charset="-122"/>
                <a:cs typeface="Bitter Medium" pitchFamily="34" charset="-120"/>
              </a:rPr>
              <a:t>Was ist die Lineare Diskriminanzanalyse?</a:t>
            </a:r>
            <a:endParaRPr lang="en-US" sz="2900" dirty="0"/>
          </a:p>
        </p:txBody>
      </p:sp>
      <p:sp>
        <p:nvSpPr>
          <p:cNvPr id="3" name="Text 1"/>
          <p:cNvSpPr/>
          <p:nvPr/>
        </p:nvSpPr>
        <p:spPr>
          <a:xfrm>
            <a:off x="793790" y="1743194"/>
            <a:ext cx="2214801" cy="276344"/>
          </a:xfrm>
          <a:prstGeom prst="rect">
            <a:avLst/>
          </a:prstGeom>
          <a:noFill/>
          <a:ln/>
        </p:spPr>
        <p:txBody>
          <a:bodyPr wrap="none" lIns="0" tIns="0" rIns="0" bIns="0" rtlCol="0" anchor="t"/>
          <a:lstStyle/>
          <a:p>
            <a:pPr algn="l" indent="0" marL="0">
              <a:lnSpc>
                <a:spcPts val="2150"/>
              </a:lnSpc>
              <a:buNone/>
            </a:pPr>
            <a:r>
              <a:rPr lang="en-US" sz="1700" dirty="0">
                <a:solidFill>
                  <a:srgbClr val="2C3F42"/>
                </a:solidFill>
                <a:latin typeface="Bitter Medium" pitchFamily="34" charset="0"/>
                <a:ea typeface="Bitter Medium" pitchFamily="34" charset="-122"/>
                <a:cs typeface="Bitter Medium" pitchFamily="34" charset="-120"/>
              </a:rPr>
              <a:t>Definition und Zweck</a:t>
            </a:r>
            <a:endParaRPr lang="en-US" sz="1700" dirty="0"/>
          </a:p>
        </p:txBody>
      </p:sp>
      <p:sp>
        <p:nvSpPr>
          <p:cNvPr id="4" name="Text 2"/>
          <p:cNvSpPr/>
          <p:nvPr/>
        </p:nvSpPr>
        <p:spPr>
          <a:xfrm>
            <a:off x="793790" y="2166938"/>
            <a:ext cx="6341626" cy="707231"/>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Die lineare Diskriminanzanalyse (LDA) ist ein statistisches Verfahren, das darauf abzielt, Datenpunkte so zu transformieren, dass die Trennung zwischen verschiedenen Klassen maximiert wird.</a:t>
            </a:r>
            <a:endParaRPr lang="en-US" sz="1150" dirty="0"/>
          </a:p>
        </p:txBody>
      </p:sp>
      <p:sp>
        <p:nvSpPr>
          <p:cNvPr id="5" name="Text 3"/>
          <p:cNvSpPr/>
          <p:nvPr/>
        </p:nvSpPr>
        <p:spPr>
          <a:xfrm>
            <a:off x="793790" y="3006804"/>
            <a:ext cx="6341626"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Im Gegensatz zur Hauptkomponentenanalyse (PCA), die die Varianz der Daten maximiert, fokussiert LDA auf die Maximierung der Trennbarkeit zwischen den Klassen.</a:t>
            </a:r>
            <a:endParaRPr lang="en-US" sz="1150" dirty="0"/>
          </a:p>
        </p:txBody>
      </p:sp>
      <p:pic>
        <p:nvPicPr>
          <p:cNvPr id="6" name="Image 0" descr="preencoded.png">    </p:cNvPr>
          <p:cNvPicPr>
            <a:picLocks noChangeAspect="1"/>
          </p:cNvPicPr>
          <p:nvPr/>
        </p:nvPicPr>
        <p:blipFill>
          <a:blip r:embed="rId1"/>
          <a:stretch>
            <a:fillRect/>
          </a:stretch>
        </p:blipFill>
        <p:spPr>
          <a:xfrm>
            <a:off x="7502604" y="1761649"/>
            <a:ext cx="4121944" cy="4121944"/>
          </a:xfrm>
          <a:prstGeom prst="rect">
            <a:avLst/>
          </a:prstGeom>
        </p:spPr>
      </p:pic>
      <p:sp>
        <p:nvSpPr>
          <p:cNvPr id="7" name="Shape 4"/>
          <p:cNvSpPr/>
          <p:nvPr/>
        </p:nvSpPr>
        <p:spPr>
          <a:xfrm>
            <a:off x="793790" y="6215301"/>
            <a:ext cx="6447711" cy="1100257"/>
          </a:xfrm>
          <a:prstGeom prst="roundRect">
            <a:avLst>
              <a:gd name="adj" fmla="val 5628"/>
            </a:avLst>
          </a:prstGeom>
          <a:solidFill>
            <a:srgbClr val="FCE2CF"/>
          </a:solidFill>
          <a:ln w="7620">
            <a:solidFill>
              <a:srgbClr val="E2C8B5"/>
            </a:solidFill>
            <a:prstDash val="solid"/>
          </a:ln>
        </p:spPr>
      </p:sp>
      <p:sp>
        <p:nvSpPr>
          <p:cNvPr id="8" name="Text 5"/>
          <p:cNvSpPr/>
          <p:nvPr/>
        </p:nvSpPr>
        <p:spPr>
          <a:xfrm>
            <a:off x="948809" y="6370320"/>
            <a:ext cx="2390656"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Maximierung der Trennung</a:t>
            </a:r>
            <a:endParaRPr lang="en-US" sz="1450" dirty="0"/>
          </a:p>
        </p:txBody>
      </p:sp>
      <p:sp>
        <p:nvSpPr>
          <p:cNvPr id="9" name="Text 6"/>
          <p:cNvSpPr/>
          <p:nvPr/>
        </p:nvSpPr>
        <p:spPr>
          <a:xfrm>
            <a:off x="948809" y="6689050"/>
            <a:ext cx="6137672"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LDA sucht nach einer linearen Kombination von Merkmalen, die die Klassenbestimmung optimiert</a:t>
            </a:r>
            <a:endParaRPr lang="en-US" sz="1150" dirty="0"/>
          </a:p>
        </p:txBody>
      </p:sp>
      <p:sp>
        <p:nvSpPr>
          <p:cNvPr id="10" name="Shape 7"/>
          <p:cNvSpPr/>
          <p:nvPr/>
        </p:nvSpPr>
        <p:spPr>
          <a:xfrm>
            <a:off x="7388900" y="6215301"/>
            <a:ext cx="6447711" cy="1100257"/>
          </a:xfrm>
          <a:prstGeom prst="roundRect">
            <a:avLst>
              <a:gd name="adj" fmla="val 5628"/>
            </a:avLst>
          </a:prstGeom>
          <a:solidFill>
            <a:srgbClr val="FCE2CF"/>
          </a:solidFill>
          <a:ln w="7620">
            <a:solidFill>
              <a:srgbClr val="E2C8B5"/>
            </a:solidFill>
            <a:prstDash val="solid"/>
          </a:ln>
        </p:spPr>
      </p:sp>
      <p:sp>
        <p:nvSpPr>
          <p:cNvPr id="11" name="Text 8"/>
          <p:cNvSpPr/>
          <p:nvPr/>
        </p:nvSpPr>
        <p:spPr>
          <a:xfrm>
            <a:off x="7543919" y="6370320"/>
            <a:ext cx="2317194"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Minimierung der Streuung</a:t>
            </a:r>
            <a:endParaRPr lang="en-US" sz="1450" dirty="0"/>
          </a:p>
        </p:txBody>
      </p:sp>
      <p:sp>
        <p:nvSpPr>
          <p:cNvPr id="12" name="Text 9"/>
          <p:cNvSpPr/>
          <p:nvPr/>
        </p:nvSpPr>
        <p:spPr>
          <a:xfrm>
            <a:off x="7543919" y="6689050"/>
            <a:ext cx="6137672"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Es wird angestrebt, die Variabilität innerhalb jeder Klasse zu reduzieren, um die Homogenität zu erhöhen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598652"/>
            <a:ext cx="6274832" cy="460772"/>
          </a:xfrm>
          <a:prstGeom prst="rect">
            <a:avLst/>
          </a:prstGeom>
          <a:noFill/>
          <a:ln/>
        </p:spPr>
        <p:txBody>
          <a:bodyPr wrap="none" lIns="0" tIns="0" rIns="0" bIns="0" rtlCol="0" anchor="t"/>
          <a:lstStyle/>
          <a:p>
            <a:pPr algn="l" indent="0" marL="0">
              <a:lnSpc>
                <a:spcPts val="3600"/>
              </a:lnSpc>
              <a:buNone/>
            </a:pPr>
            <a:r>
              <a:rPr lang="en-US" sz="2900" dirty="0">
                <a:solidFill>
                  <a:srgbClr val="2C3F42"/>
                </a:solidFill>
                <a:latin typeface="Bitter Medium" pitchFamily="34" charset="0"/>
                <a:ea typeface="Bitter Medium" pitchFamily="34" charset="-122"/>
                <a:cs typeface="Bitter Medium" pitchFamily="34" charset="-120"/>
              </a:rPr>
              <a:t>Mathematische Grundlagen der LDA</a:t>
            </a:r>
            <a:endParaRPr lang="en-US" sz="2900" dirty="0"/>
          </a:p>
        </p:txBody>
      </p:sp>
      <p:sp>
        <p:nvSpPr>
          <p:cNvPr id="3" name="Text 1"/>
          <p:cNvSpPr/>
          <p:nvPr/>
        </p:nvSpPr>
        <p:spPr>
          <a:xfrm>
            <a:off x="793790" y="2118360"/>
            <a:ext cx="3609499" cy="276344"/>
          </a:xfrm>
          <a:prstGeom prst="rect">
            <a:avLst/>
          </a:prstGeom>
          <a:noFill/>
          <a:ln/>
        </p:spPr>
        <p:txBody>
          <a:bodyPr wrap="none" lIns="0" tIns="0" rIns="0" bIns="0" rtlCol="0" anchor="t"/>
          <a:lstStyle/>
          <a:p>
            <a:pPr algn="l" indent="0" marL="0">
              <a:lnSpc>
                <a:spcPts val="2150"/>
              </a:lnSpc>
              <a:buNone/>
            </a:pPr>
            <a:r>
              <a:rPr lang="en-US" sz="1700" dirty="0">
                <a:solidFill>
                  <a:srgbClr val="2C3F42"/>
                </a:solidFill>
                <a:latin typeface="Bitter Medium" pitchFamily="34" charset="0"/>
                <a:ea typeface="Bitter Medium" pitchFamily="34" charset="-122"/>
                <a:cs typeface="Bitter Medium" pitchFamily="34" charset="-120"/>
              </a:rPr>
              <a:t>Streuungsmatrizen als Fundament</a:t>
            </a:r>
            <a:endParaRPr lang="en-US" sz="1700" dirty="0"/>
          </a:p>
        </p:txBody>
      </p:sp>
      <p:sp>
        <p:nvSpPr>
          <p:cNvPr id="4" name="Text 2"/>
          <p:cNvSpPr/>
          <p:nvPr/>
        </p:nvSpPr>
        <p:spPr>
          <a:xfrm>
            <a:off x="793790" y="2615803"/>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LDA basiert auf der Berechnung von zwei zentralen Streuungsmatrizen, die die Grundlage für die Klassifikation bilden:</a:t>
            </a:r>
            <a:endParaRPr lang="en-US" sz="1150" dirty="0"/>
          </a:p>
        </p:txBody>
      </p:sp>
      <p:sp>
        <p:nvSpPr>
          <p:cNvPr id="5" name="Shape 3"/>
          <p:cNvSpPr/>
          <p:nvPr/>
        </p:nvSpPr>
        <p:spPr>
          <a:xfrm>
            <a:off x="793790" y="3017401"/>
            <a:ext cx="6447711" cy="1557695"/>
          </a:xfrm>
          <a:prstGeom prst="roundRect">
            <a:avLst>
              <a:gd name="adj" fmla="val 3975"/>
            </a:avLst>
          </a:prstGeom>
          <a:solidFill>
            <a:srgbClr val="FFF8F0"/>
          </a:solidFill>
          <a:ln w="15240">
            <a:solidFill>
              <a:srgbClr val="E2C8B5"/>
            </a:solidFill>
            <a:prstDash val="solid"/>
          </a:ln>
        </p:spPr>
      </p:sp>
      <p:sp>
        <p:nvSpPr>
          <p:cNvPr id="6" name="Shape 4"/>
          <p:cNvSpPr/>
          <p:nvPr/>
        </p:nvSpPr>
        <p:spPr>
          <a:xfrm>
            <a:off x="809030" y="3032641"/>
            <a:ext cx="6417231" cy="442198"/>
          </a:xfrm>
          <a:prstGeom prst="roundRect">
            <a:avLst>
              <a:gd name="adj" fmla="val 9868"/>
            </a:avLst>
          </a:prstGeom>
          <a:solidFill>
            <a:srgbClr val="FCE2CF"/>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907036" y="3139321"/>
            <a:ext cx="221099" cy="221099"/>
          </a:xfrm>
          <a:prstGeom prst="rect">
            <a:avLst/>
          </a:prstGeom>
        </p:spPr>
      </p:pic>
      <p:sp>
        <p:nvSpPr>
          <p:cNvPr id="8" name="Text 5"/>
          <p:cNvSpPr/>
          <p:nvPr/>
        </p:nvSpPr>
        <p:spPr>
          <a:xfrm>
            <a:off x="956429" y="3622238"/>
            <a:ext cx="3024307"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Streuung innerhalb der Klasse (Sw)</a:t>
            </a:r>
            <a:endParaRPr lang="en-US" sz="1450" dirty="0"/>
          </a:p>
        </p:txBody>
      </p:sp>
      <p:sp>
        <p:nvSpPr>
          <p:cNvPr id="9" name="Text 6"/>
          <p:cNvSpPr/>
          <p:nvPr/>
        </p:nvSpPr>
        <p:spPr>
          <a:xfrm>
            <a:off x="956429" y="3940969"/>
            <a:ext cx="6122432"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Misst die Variabilität der Datenpunkte innerhalb jeder Klasse und quantifiziert die Homogenität der einzelnen Gruppen</a:t>
            </a:r>
            <a:endParaRPr lang="en-US" sz="1150" dirty="0"/>
          </a:p>
        </p:txBody>
      </p:sp>
      <p:sp>
        <p:nvSpPr>
          <p:cNvPr id="10" name="Shape 7"/>
          <p:cNvSpPr/>
          <p:nvPr/>
        </p:nvSpPr>
        <p:spPr>
          <a:xfrm>
            <a:off x="7388900" y="3017401"/>
            <a:ext cx="6447711" cy="1557695"/>
          </a:xfrm>
          <a:prstGeom prst="roundRect">
            <a:avLst>
              <a:gd name="adj" fmla="val 3975"/>
            </a:avLst>
          </a:prstGeom>
          <a:solidFill>
            <a:srgbClr val="FFF8F0"/>
          </a:solidFill>
          <a:ln w="15240">
            <a:solidFill>
              <a:srgbClr val="E2C8B5"/>
            </a:solidFill>
            <a:prstDash val="solid"/>
          </a:ln>
        </p:spPr>
      </p:sp>
      <p:sp>
        <p:nvSpPr>
          <p:cNvPr id="11" name="Shape 8"/>
          <p:cNvSpPr/>
          <p:nvPr/>
        </p:nvSpPr>
        <p:spPr>
          <a:xfrm>
            <a:off x="7404140" y="3032641"/>
            <a:ext cx="6417231" cy="442198"/>
          </a:xfrm>
          <a:prstGeom prst="roundRect">
            <a:avLst>
              <a:gd name="adj" fmla="val 9868"/>
            </a:avLst>
          </a:prstGeom>
          <a:solidFill>
            <a:srgbClr val="FCE2CF"/>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502146" y="3139321"/>
            <a:ext cx="221099" cy="221099"/>
          </a:xfrm>
          <a:prstGeom prst="rect">
            <a:avLst/>
          </a:prstGeom>
        </p:spPr>
      </p:pic>
      <p:sp>
        <p:nvSpPr>
          <p:cNvPr id="13" name="Text 9"/>
          <p:cNvSpPr/>
          <p:nvPr/>
        </p:nvSpPr>
        <p:spPr>
          <a:xfrm>
            <a:off x="7551539" y="3622238"/>
            <a:ext cx="3095149"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Streuung zwischen den Klassen (Sb)</a:t>
            </a:r>
            <a:endParaRPr lang="en-US" sz="1450" dirty="0"/>
          </a:p>
        </p:txBody>
      </p:sp>
      <p:sp>
        <p:nvSpPr>
          <p:cNvPr id="14" name="Text 10"/>
          <p:cNvSpPr/>
          <p:nvPr/>
        </p:nvSpPr>
        <p:spPr>
          <a:xfrm>
            <a:off x="7551539" y="3940969"/>
            <a:ext cx="6122432"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Misst die Variabilität der Mittelwerte der Klassen im Vergleich zum Gesamtmittelwert und zeigt die Separation zwischen den Gruppen</a:t>
            </a:r>
            <a:endParaRPr lang="en-US" sz="1150" dirty="0"/>
          </a:p>
        </p:txBody>
      </p:sp>
      <p:sp>
        <p:nvSpPr>
          <p:cNvPr id="15" name="Text 11"/>
          <p:cNvSpPr/>
          <p:nvPr/>
        </p:nvSpPr>
        <p:spPr>
          <a:xfrm>
            <a:off x="793790" y="4796195"/>
            <a:ext cx="2211467" cy="276344"/>
          </a:xfrm>
          <a:prstGeom prst="rect">
            <a:avLst/>
          </a:prstGeom>
          <a:noFill/>
          <a:ln/>
        </p:spPr>
        <p:txBody>
          <a:bodyPr wrap="none" lIns="0" tIns="0" rIns="0" bIns="0" rtlCol="0" anchor="t"/>
          <a:lstStyle/>
          <a:p>
            <a:pPr algn="l" indent="0" marL="0">
              <a:lnSpc>
                <a:spcPts val="2150"/>
              </a:lnSpc>
              <a:buNone/>
            </a:pPr>
            <a:r>
              <a:rPr lang="en-US" sz="1700" dirty="0">
                <a:solidFill>
                  <a:srgbClr val="2C3F42"/>
                </a:solidFill>
                <a:latin typeface="Bitter Medium" pitchFamily="34" charset="0"/>
                <a:ea typeface="Bitter Medium" pitchFamily="34" charset="-122"/>
                <a:cs typeface="Bitter Medium" pitchFamily="34" charset="-120"/>
              </a:rPr>
              <a:t>Optimierungsziel</a:t>
            </a:r>
            <a:endParaRPr lang="en-US" sz="1700" dirty="0"/>
          </a:p>
        </p:txBody>
      </p:sp>
      <p:sp>
        <p:nvSpPr>
          <p:cNvPr id="16" name="Text 12"/>
          <p:cNvSpPr/>
          <p:nvPr/>
        </p:nvSpPr>
        <p:spPr>
          <a:xfrm>
            <a:off x="793790" y="5293638"/>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Das Ziel ist es, eine Projektionsmatrix zu finden, die das Verhältnis der Determinanten dieser Matrizen maximiert:</a:t>
            </a:r>
            <a:endParaRPr lang="en-US" sz="1150" dirty="0"/>
          </a:p>
        </p:txBody>
      </p:sp>
      <p:sp>
        <p:nvSpPr>
          <p:cNvPr id="17" name="Text 13"/>
          <p:cNvSpPr/>
          <p:nvPr/>
        </p:nvSpPr>
        <p:spPr>
          <a:xfrm>
            <a:off x="793790" y="5715953"/>
            <a:ext cx="13042821" cy="492562"/>
          </a:xfrm>
          <a:prstGeom prst="rect">
            <a:avLst/>
          </a:prstGeom>
          <a:noFill/>
          <a:ln/>
        </p:spPr>
        <p:txBody>
          <a:bodyPr wrap="square" lIns="0" tIns="0" rIns="0" bIns="0" rtlCol="0" anchor="t"/>
          <a:lstStyle/>
          <a:p>
            <a:pPr algn="l" indent="0" marL="0">
              <a:lnSpc>
                <a:spcPts val="2050"/>
              </a:lnSpc>
              <a:buNone/>
            </a:pPr>
            <a:endParaRPr lang="en-US" sz="1300" dirty="0"/>
          </a:p>
        </p:txBody>
      </p:sp>
      <p:pic>
        <p:nvPicPr>
          <p:cNvPr id="18" name="Image 2" descr="preencoded.png">    </p:cNvPr>
          <p:cNvPicPr>
            <a:picLocks noChangeAspect="1"/>
          </p:cNvPicPr>
          <p:nvPr/>
        </p:nvPicPr>
        <p:blipFill>
          <a:blip r:embed="rId5"/>
          <a:stretch>
            <a:fillRect/>
          </a:stretch>
        </p:blipFill>
        <p:spPr>
          <a:xfrm>
            <a:off x="793790" y="5715953"/>
            <a:ext cx="13042821" cy="492562"/>
          </a:xfrm>
          <a:prstGeom prst="rect">
            <a:avLst/>
          </a:prstGeom>
        </p:spPr>
      </p:pic>
      <p:sp>
        <p:nvSpPr>
          <p:cNvPr id="19" name="Text 14"/>
          <p:cNvSpPr/>
          <p:nvPr/>
        </p:nvSpPr>
        <p:spPr>
          <a:xfrm>
            <a:off x="793790" y="6395085"/>
            <a:ext cx="13042821"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Durch Eigenwertzerlegung der Matrix </a:t>
            </a:r>
            <a:pPr algn="l" indent="0" marL="0">
              <a:lnSpc>
                <a:spcPts val="1850"/>
              </a:lnSpc>
              <a:buNone/>
            </a:pPr>
            <a:r>
              <a:rPr lang="en-US" sz="1150" i="1" dirty="0">
                <a:solidFill>
                  <a:srgbClr val="2B2E3C"/>
                </a:solidFill>
                <a:latin typeface="Open Sans" pitchFamily="34" charset="0"/>
                <a:ea typeface="Open Sans" pitchFamily="34" charset="-122"/>
                <a:cs typeface="Open Sans" pitchFamily="34" charset="-120"/>
              </a:rPr>
              <a:t>S_w^{-1} S_b</a:t>
            </a:r>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 erhält man die Richtungen (Eigenvektoren), die die Klassen am besten trennen.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967383"/>
            <a:ext cx="5697736" cy="460772"/>
          </a:xfrm>
          <a:prstGeom prst="rect">
            <a:avLst/>
          </a:prstGeom>
          <a:noFill/>
          <a:ln/>
        </p:spPr>
        <p:txBody>
          <a:bodyPr wrap="none" lIns="0" tIns="0" rIns="0" bIns="0" rtlCol="0" anchor="t"/>
          <a:lstStyle/>
          <a:p>
            <a:pPr algn="l" indent="0" marL="0">
              <a:lnSpc>
                <a:spcPts val="3600"/>
              </a:lnSpc>
              <a:buNone/>
            </a:pPr>
            <a:r>
              <a:rPr lang="en-US" sz="2900" dirty="0">
                <a:solidFill>
                  <a:srgbClr val="2C3F42"/>
                </a:solidFill>
                <a:latin typeface="Bitter Medium" pitchFamily="34" charset="0"/>
                <a:ea typeface="Bitter Medium" pitchFamily="34" charset="-122"/>
                <a:cs typeface="Bitter Medium" pitchFamily="34" charset="-120"/>
              </a:rPr>
              <a:t>Praktisches Anwendungsbeispiel</a:t>
            </a:r>
            <a:endParaRPr lang="en-US" sz="2900" dirty="0"/>
          </a:p>
        </p:txBody>
      </p:sp>
      <p:pic>
        <p:nvPicPr>
          <p:cNvPr id="4" name="Image 1" descr="preencoded.png">    </p:cNvPr>
          <p:cNvPicPr>
            <a:picLocks noChangeAspect="1"/>
          </p:cNvPicPr>
          <p:nvPr/>
        </p:nvPicPr>
        <p:blipFill>
          <a:blip r:embed="rId2"/>
          <a:stretch>
            <a:fillRect/>
          </a:stretch>
        </p:blipFill>
        <p:spPr>
          <a:xfrm>
            <a:off x="6280190" y="1815108"/>
            <a:ext cx="1824395" cy="1824395"/>
          </a:xfrm>
          <a:prstGeom prst="rect">
            <a:avLst/>
          </a:prstGeom>
        </p:spPr>
      </p:pic>
      <p:sp>
        <p:nvSpPr>
          <p:cNvPr id="5" name="Text 1"/>
          <p:cNvSpPr/>
          <p:nvPr/>
        </p:nvSpPr>
        <p:spPr>
          <a:xfrm>
            <a:off x="9454158" y="1796653"/>
            <a:ext cx="3802499" cy="276344"/>
          </a:xfrm>
          <a:prstGeom prst="rect">
            <a:avLst/>
          </a:prstGeom>
          <a:noFill/>
          <a:ln/>
        </p:spPr>
        <p:txBody>
          <a:bodyPr wrap="none" lIns="0" tIns="0" rIns="0" bIns="0" rtlCol="0" anchor="t"/>
          <a:lstStyle/>
          <a:p>
            <a:pPr algn="l" indent="0" marL="0">
              <a:lnSpc>
                <a:spcPts val="2150"/>
              </a:lnSpc>
              <a:buNone/>
            </a:pPr>
            <a:r>
              <a:rPr lang="en-US" sz="1700" dirty="0">
                <a:solidFill>
                  <a:srgbClr val="2C3F42"/>
                </a:solidFill>
                <a:latin typeface="Bitter Medium" pitchFamily="34" charset="0"/>
                <a:ea typeface="Bitter Medium" pitchFamily="34" charset="-122"/>
                <a:cs typeface="Bitter Medium" pitchFamily="34" charset="-120"/>
              </a:rPr>
              <a:t>Klassifikation von Schülerleistungen</a:t>
            </a:r>
            <a:endParaRPr lang="en-US" sz="1700" dirty="0"/>
          </a:p>
        </p:txBody>
      </p:sp>
      <p:sp>
        <p:nvSpPr>
          <p:cNvPr id="6" name="Text 2"/>
          <p:cNvSpPr/>
          <p:nvPr/>
        </p:nvSpPr>
        <p:spPr>
          <a:xfrm>
            <a:off x="9454158" y="2220397"/>
            <a:ext cx="4389953"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Ein praktisches Beispiel für die Anwendung der LDA ist die Klassifikation von Schülerleistungen in einer Oberschule.</a:t>
            </a:r>
            <a:endParaRPr lang="en-US" sz="1150" dirty="0"/>
          </a:p>
        </p:txBody>
      </p:sp>
      <p:pic>
        <p:nvPicPr>
          <p:cNvPr id="7" name="Image 2" descr="preencoded.png">    </p:cNvPr>
          <p:cNvPicPr>
            <a:picLocks noChangeAspect="1"/>
          </p:cNvPicPr>
          <p:nvPr/>
        </p:nvPicPr>
        <p:blipFill>
          <a:blip r:embed="rId3"/>
          <a:stretch>
            <a:fillRect/>
          </a:stretch>
        </p:blipFill>
        <p:spPr>
          <a:xfrm>
            <a:off x="6280190" y="3971211"/>
            <a:ext cx="737116" cy="884515"/>
          </a:xfrm>
          <a:prstGeom prst="rect">
            <a:avLst/>
          </a:prstGeom>
        </p:spPr>
      </p:pic>
      <p:sp>
        <p:nvSpPr>
          <p:cNvPr id="8" name="Text 3"/>
          <p:cNvSpPr/>
          <p:nvPr/>
        </p:nvSpPr>
        <p:spPr>
          <a:xfrm>
            <a:off x="7164705" y="4118610"/>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Datensammlung</a:t>
            </a:r>
            <a:endParaRPr lang="en-US" sz="1450" dirty="0"/>
          </a:p>
        </p:txBody>
      </p:sp>
      <p:sp>
        <p:nvSpPr>
          <p:cNvPr id="9" name="Text 4"/>
          <p:cNvSpPr/>
          <p:nvPr/>
        </p:nvSpPr>
        <p:spPr>
          <a:xfrm>
            <a:off x="7164705" y="4437340"/>
            <a:ext cx="6671905"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Testergebnisse und Motivationsergebnisse werden gesammelt</a:t>
            </a:r>
            <a:endParaRPr lang="en-US" sz="1150" dirty="0"/>
          </a:p>
        </p:txBody>
      </p:sp>
      <p:pic>
        <p:nvPicPr>
          <p:cNvPr id="10" name="Image 3" descr="preencoded.png">    </p:cNvPr>
          <p:cNvPicPr>
            <a:picLocks noChangeAspect="1"/>
          </p:cNvPicPr>
          <p:nvPr/>
        </p:nvPicPr>
        <p:blipFill>
          <a:blip r:embed="rId4"/>
          <a:stretch>
            <a:fillRect/>
          </a:stretch>
        </p:blipFill>
        <p:spPr>
          <a:xfrm>
            <a:off x="6280190" y="4855726"/>
            <a:ext cx="737116" cy="884515"/>
          </a:xfrm>
          <a:prstGeom prst="rect">
            <a:avLst/>
          </a:prstGeom>
        </p:spPr>
      </p:pic>
      <p:sp>
        <p:nvSpPr>
          <p:cNvPr id="11" name="Text 5"/>
          <p:cNvSpPr/>
          <p:nvPr/>
        </p:nvSpPr>
        <p:spPr>
          <a:xfrm>
            <a:off x="7164705" y="5003125"/>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LDA-Anwendung</a:t>
            </a:r>
            <a:endParaRPr lang="en-US" sz="1450" dirty="0"/>
          </a:p>
        </p:txBody>
      </p:sp>
      <p:sp>
        <p:nvSpPr>
          <p:cNvPr id="12" name="Text 6"/>
          <p:cNvSpPr/>
          <p:nvPr/>
        </p:nvSpPr>
        <p:spPr>
          <a:xfrm>
            <a:off x="7164705" y="5321856"/>
            <a:ext cx="6671905"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Ein Klassifikationsmodell wird entwickelt</a:t>
            </a:r>
            <a:endParaRPr lang="en-US" sz="1150" dirty="0"/>
          </a:p>
        </p:txBody>
      </p:sp>
      <p:pic>
        <p:nvPicPr>
          <p:cNvPr id="13" name="Image 4" descr="preencoded.png">    </p:cNvPr>
          <p:cNvPicPr>
            <a:picLocks noChangeAspect="1"/>
          </p:cNvPicPr>
          <p:nvPr/>
        </p:nvPicPr>
        <p:blipFill>
          <a:blip r:embed="rId5"/>
          <a:stretch>
            <a:fillRect/>
          </a:stretch>
        </p:blipFill>
        <p:spPr>
          <a:xfrm>
            <a:off x="6280190" y="5740241"/>
            <a:ext cx="737116" cy="884515"/>
          </a:xfrm>
          <a:prstGeom prst="rect">
            <a:avLst/>
          </a:prstGeom>
        </p:spPr>
      </p:pic>
      <p:sp>
        <p:nvSpPr>
          <p:cNvPr id="14" name="Text 7"/>
          <p:cNvSpPr/>
          <p:nvPr/>
        </p:nvSpPr>
        <p:spPr>
          <a:xfrm>
            <a:off x="7164705" y="5887641"/>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Gruppenzuordnung</a:t>
            </a:r>
            <a:endParaRPr lang="en-US" sz="1450" dirty="0"/>
          </a:p>
        </p:txBody>
      </p:sp>
      <p:sp>
        <p:nvSpPr>
          <p:cNvPr id="15" name="Text 8"/>
          <p:cNvSpPr/>
          <p:nvPr/>
        </p:nvSpPr>
        <p:spPr>
          <a:xfrm>
            <a:off x="7164705" y="6206371"/>
            <a:ext cx="6671905"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Schüler werden in drei Leistungsgruppen eingestuft</a:t>
            </a:r>
            <a:endParaRPr lang="en-US" sz="1150" dirty="0"/>
          </a:p>
        </p:txBody>
      </p:sp>
      <p:sp>
        <p:nvSpPr>
          <p:cNvPr id="16" name="Text 9"/>
          <p:cNvSpPr/>
          <p:nvPr/>
        </p:nvSpPr>
        <p:spPr>
          <a:xfrm>
            <a:off x="6280190" y="6790611"/>
            <a:ext cx="7556421"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Durch Anwendung der LDA kann ein Mitarbeiter einer Oberschule ein Modell erstellen, um zukünftige Schüler basierend auf ihren Merkmalen den entsprechenden Leistungsgruppen zuzuordnen.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85800"/>
            <a:ext cx="6666548" cy="460772"/>
          </a:xfrm>
          <a:prstGeom prst="rect">
            <a:avLst/>
          </a:prstGeom>
          <a:noFill/>
          <a:ln/>
        </p:spPr>
        <p:txBody>
          <a:bodyPr wrap="none" lIns="0" tIns="0" rIns="0" bIns="0" rtlCol="0" anchor="t"/>
          <a:lstStyle/>
          <a:p>
            <a:pPr algn="l" indent="0" marL="0">
              <a:lnSpc>
                <a:spcPts val="3600"/>
              </a:lnSpc>
              <a:buNone/>
            </a:pPr>
            <a:r>
              <a:rPr lang="en-US" sz="2900" dirty="0">
                <a:solidFill>
                  <a:srgbClr val="2C3F42"/>
                </a:solidFill>
                <a:latin typeface="Bitter Medium" pitchFamily="34" charset="0"/>
                <a:ea typeface="Bitter Medium" pitchFamily="34" charset="-122"/>
                <a:cs typeface="Bitter Medium" pitchFamily="34" charset="-120"/>
              </a:rPr>
              <a:t>Zusammenfassung und Visualisierung</a:t>
            </a:r>
            <a:endParaRPr lang="en-US" sz="2900" dirty="0"/>
          </a:p>
        </p:txBody>
      </p:sp>
      <p:sp>
        <p:nvSpPr>
          <p:cNvPr id="4" name="Text 1"/>
          <p:cNvSpPr/>
          <p:nvPr/>
        </p:nvSpPr>
        <p:spPr>
          <a:xfrm>
            <a:off x="6280190" y="1205508"/>
            <a:ext cx="2377916" cy="276344"/>
          </a:xfrm>
          <a:prstGeom prst="rect">
            <a:avLst/>
          </a:prstGeom>
          <a:noFill/>
          <a:ln/>
        </p:spPr>
        <p:txBody>
          <a:bodyPr wrap="none" lIns="0" tIns="0" rIns="0" bIns="0" rtlCol="0" anchor="t"/>
          <a:lstStyle/>
          <a:p>
            <a:pPr algn="l" indent="0" marL="0">
              <a:lnSpc>
                <a:spcPts val="2150"/>
              </a:lnSpc>
              <a:buNone/>
            </a:pPr>
            <a:r>
              <a:rPr lang="en-US" sz="1700" dirty="0">
                <a:solidFill>
                  <a:srgbClr val="2C3F42"/>
                </a:solidFill>
                <a:latin typeface="Bitter Medium" pitchFamily="34" charset="0"/>
                <a:ea typeface="Bitter Medium" pitchFamily="34" charset="-122"/>
                <a:cs typeface="Bitter Medium" pitchFamily="34" charset="-120"/>
              </a:rPr>
              <a:t>Visualisierung der LDA</a:t>
            </a:r>
            <a:endParaRPr lang="en-US" sz="1700" dirty="0"/>
          </a:p>
        </p:txBody>
      </p:sp>
      <p:sp>
        <p:nvSpPr>
          <p:cNvPr id="5" name="Text 2"/>
          <p:cNvSpPr/>
          <p:nvPr/>
        </p:nvSpPr>
        <p:spPr>
          <a:xfrm>
            <a:off x="6280190" y="1702951"/>
            <a:ext cx="7556421" cy="942975"/>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Eine anschauliche Darstellung der LDA zeigt, wie die Datenpunkte verschiedener Klassen in einem Merkmalsraum liegen und wie die linearen Diskriminanzfunktionen die Klassen trennen. Solche Visualisierungen helfen, die Funktionsweise der LDA besser zu verstehen und ihre Anwendung in verschiedenen Kontexten zu veranschaulichen.</a:t>
            </a:r>
            <a:endParaRPr lang="en-US" sz="1150" dirty="0"/>
          </a:p>
        </p:txBody>
      </p:sp>
      <p:sp>
        <p:nvSpPr>
          <p:cNvPr id="6" name="Shape 3"/>
          <p:cNvSpPr/>
          <p:nvPr/>
        </p:nvSpPr>
        <p:spPr>
          <a:xfrm>
            <a:off x="6280190" y="2811780"/>
            <a:ext cx="3704511" cy="1689854"/>
          </a:xfrm>
          <a:prstGeom prst="roundRect">
            <a:avLst>
              <a:gd name="adj" fmla="val 3664"/>
            </a:avLst>
          </a:prstGeom>
          <a:solidFill>
            <a:srgbClr val="FCE2CF"/>
          </a:solidFill>
          <a:ln w="7620">
            <a:solidFill>
              <a:srgbClr val="E2C8B5"/>
            </a:solidFill>
            <a:prstDash val="solid"/>
          </a:ln>
        </p:spPr>
      </p:sp>
      <p:sp>
        <p:nvSpPr>
          <p:cNvPr id="7" name="Shape 4"/>
          <p:cNvSpPr/>
          <p:nvPr/>
        </p:nvSpPr>
        <p:spPr>
          <a:xfrm>
            <a:off x="6435209" y="2966799"/>
            <a:ext cx="442198" cy="442198"/>
          </a:xfrm>
          <a:prstGeom prst="roundRect">
            <a:avLst>
              <a:gd name="adj" fmla="val 20676452"/>
            </a:avLst>
          </a:prstGeom>
          <a:solidFill>
            <a:srgbClr val="D2600F"/>
          </a:solidFill>
          <a:ln/>
        </p:spPr>
      </p:sp>
      <p:pic>
        <p:nvPicPr>
          <p:cNvPr id="8"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56772" y="3088362"/>
            <a:ext cx="198953" cy="198953"/>
          </a:xfrm>
          <a:prstGeom prst="rect">
            <a:avLst/>
          </a:prstGeom>
        </p:spPr>
      </p:pic>
      <p:sp>
        <p:nvSpPr>
          <p:cNvPr id="9" name="Text 5"/>
          <p:cNvSpPr/>
          <p:nvPr/>
        </p:nvSpPr>
        <p:spPr>
          <a:xfrm>
            <a:off x="6435209" y="3556397"/>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Klassifikation</a:t>
            </a:r>
            <a:endParaRPr lang="en-US" sz="1450" dirty="0"/>
          </a:p>
        </p:txBody>
      </p:sp>
      <p:sp>
        <p:nvSpPr>
          <p:cNvPr id="10" name="Text 6"/>
          <p:cNvSpPr/>
          <p:nvPr/>
        </p:nvSpPr>
        <p:spPr>
          <a:xfrm>
            <a:off x="6435209" y="3875127"/>
            <a:ext cx="3394472" cy="471488"/>
          </a:xfrm>
          <a:prstGeom prst="rect">
            <a:avLst/>
          </a:prstGeom>
          <a:noFill/>
          <a:ln/>
        </p:spPr>
        <p:txBody>
          <a:bodyPr wrap="squar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Optimale Trennung zwischen verschiedenen Klassen</a:t>
            </a:r>
            <a:endParaRPr lang="en-US" sz="1150" dirty="0"/>
          </a:p>
        </p:txBody>
      </p:sp>
      <p:sp>
        <p:nvSpPr>
          <p:cNvPr id="11" name="Shape 7"/>
          <p:cNvSpPr/>
          <p:nvPr/>
        </p:nvSpPr>
        <p:spPr>
          <a:xfrm>
            <a:off x="10132100" y="2811780"/>
            <a:ext cx="3704511" cy="1689854"/>
          </a:xfrm>
          <a:prstGeom prst="roundRect">
            <a:avLst>
              <a:gd name="adj" fmla="val 3664"/>
            </a:avLst>
          </a:prstGeom>
          <a:solidFill>
            <a:srgbClr val="FCE2CF"/>
          </a:solidFill>
          <a:ln w="7620">
            <a:solidFill>
              <a:srgbClr val="E2C8B5"/>
            </a:solidFill>
            <a:prstDash val="solid"/>
          </a:ln>
        </p:spPr>
      </p:sp>
      <p:sp>
        <p:nvSpPr>
          <p:cNvPr id="12" name="Shape 8"/>
          <p:cNvSpPr/>
          <p:nvPr/>
        </p:nvSpPr>
        <p:spPr>
          <a:xfrm>
            <a:off x="10287119" y="2966799"/>
            <a:ext cx="442198" cy="442198"/>
          </a:xfrm>
          <a:prstGeom prst="roundRect">
            <a:avLst>
              <a:gd name="adj" fmla="val 20676452"/>
            </a:avLst>
          </a:prstGeom>
          <a:solidFill>
            <a:srgbClr val="D2600F"/>
          </a:solidFill>
          <a:ln/>
        </p:spPr>
      </p:sp>
      <p:pic>
        <p:nvPicPr>
          <p:cNvPr id="13"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08682" y="3088362"/>
            <a:ext cx="198953" cy="198953"/>
          </a:xfrm>
          <a:prstGeom prst="rect">
            <a:avLst/>
          </a:prstGeom>
        </p:spPr>
      </p:pic>
      <p:sp>
        <p:nvSpPr>
          <p:cNvPr id="14" name="Text 9"/>
          <p:cNvSpPr/>
          <p:nvPr/>
        </p:nvSpPr>
        <p:spPr>
          <a:xfrm>
            <a:off x="10287119" y="3556397"/>
            <a:ext cx="1891665"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Dimensionsreduktion</a:t>
            </a:r>
            <a:endParaRPr lang="en-US" sz="1450" dirty="0"/>
          </a:p>
        </p:txBody>
      </p:sp>
      <p:sp>
        <p:nvSpPr>
          <p:cNvPr id="15" name="Text 10"/>
          <p:cNvSpPr/>
          <p:nvPr/>
        </p:nvSpPr>
        <p:spPr>
          <a:xfrm>
            <a:off x="10287119" y="3875127"/>
            <a:ext cx="3394472"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Effektive Reduktion der Merkmalsdimensionen</a:t>
            </a:r>
            <a:endParaRPr lang="en-US" sz="1150" dirty="0"/>
          </a:p>
        </p:txBody>
      </p:sp>
      <p:sp>
        <p:nvSpPr>
          <p:cNvPr id="16" name="Shape 11"/>
          <p:cNvSpPr/>
          <p:nvPr/>
        </p:nvSpPr>
        <p:spPr>
          <a:xfrm>
            <a:off x="6280190" y="4649033"/>
            <a:ext cx="7556421" cy="1454110"/>
          </a:xfrm>
          <a:prstGeom prst="roundRect">
            <a:avLst>
              <a:gd name="adj" fmla="val 4259"/>
            </a:avLst>
          </a:prstGeom>
          <a:solidFill>
            <a:srgbClr val="FCE2CF"/>
          </a:solidFill>
          <a:ln w="7620">
            <a:solidFill>
              <a:srgbClr val="E2C8B5"/>
            </a:solidFill>
            <a:prstDash val="solid"/>
          </a:ln>
        </p:spPr>
      </p:sp>
      <p:sp>
        <p:nvSpPr>
          <p:cNvPr id="17" name="Shape 12"/>
          <p:cNvSpPr/>
          <p:nvPr/>
        </p:nvSpPr>
        <p:spPr>
          <a:xfrm>
            <a:off x="6435209" y="4804053"/>
            <a:ext cx="442198" cy="442198"/>
          </a:xfrm>
          <a:prstGeom prst="roundRect">
            <a:avLst>
              <a:gd name="adj" fmla="val 20676452"/>
            </a:avLst>
          </a:prstGeom>
          <a:solidFill>
            <a:srgbClr val="D2600F"/>
          </a:solidFill>
          <a:ln/>
        </p:spPr>
      </p:sp>
      <p:pic>
        <p:nvPicPr>
          <p:cNvPr id="1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56772" y="4925616"/>
            <a:ext cx="198953" cy="198953"/>
          </a:xfrm>
          <a:prstGeom prst="rect">
            <a:avLst/>
          </a:prstGeom>
        </p:spPr>
      </p:pic>
      <p:sp>
        <p:nvSpPr>
          <p:cNvPr id="19" name="Text 13"/>
          <p:cNvSpPr/>
          <p:nvPr/>
        </p:nvSpPr>
        <p:spPr>
          <a:xfrm>
            <a:off x="6435209" y="5393650"/>
            <a:ext cx="1842968" cy="230386"/>
          </a:xfrm>
          <a:prstGeom prst="rect">
            <a:avLst/>
          </a:prstGeom>
          <a:noFill/>
          <a:ln/>
        </p:spPr>
        <p:txBody>
          <a:bodyPr wrap="none" lIns="0" tIns="0" rIns="0" bIns="0" rtlCol="0" anchor="t"/>
          <a:lstStyle/>
          <a:p>
            <a:pPr algn="l" indent="0" marL="0">
              <a:lnSpc>
                <a:spcPts val="1800"/>
              </a:lnSpc>
              <a:buNone/>
            </a:pPr>
            <a:r>
              <a:rPr lang="en-US" sz="1450" dirty="0">
                <a:solidFill>
                  <a:srgbClr val="2B2E3C"/>
                </a:solidFill>
                <a:latin typeface="Bitter Medium" pitchFamily="34" charset="0"/>
                <a:ea typeface="Bitter Medium" pitchFamily="34" charset="-122"/>
                <a:cs typeface="Bitter Medium" pitchFamily="34" charset="-120"/>
              </a:rPr>
              <a:t>Interpretation</a:t>
            </a:r>
            <a:endParaRPr lang="en-US" sz="1450" dirty="0"/>
          </a:p>
        </p:txBody>
      </p:sp>
      <p:sp>
        <p:nvSpPr>
          <p:cNvPr id="20" name="Text 14"/>
          <p:cNvSpPr/>
          <p:nvPr/>
        </p:nvSpPr>
        <p:spPr>
          <a:xfrm>
            <a:off x="6435209" y="5712381"/>
            <a:ext cx="7246382" cy="235744"/>
          </a:xfrm>
          <a:prstGeom prst="rect">
            <a:avLst/>
          </a:prstGeom>
          <a:noFill/>
          <a:ln/>
        </p:spPr>
        <p:txBody>
          <a:bodyPr wrap="none" lIns="0" tIns="0" rIns="0" bIns="0" rtlCol="0" anchor="t"/>
          <a:lstStyle/>
          <a:p>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Besseres Verständnis komplexer Datensätze</a:t>
            </a:r>
            <a:endParaRPr lang="en-US" sz="1150" dirty="0"/>
          </a:p>
        </p:txBody>
      </p:sp>
      <p:sp>
        <p:nvSpPr>
          <p:cNvPr id="21" name="Text 15"/>
          <p:cNvSpPr/>
          <p:nvPr/>
        </p:nvSpPr>
        <p:spPr>
          <a:xfrm>
            <a:off x="6501289" y="6434852"/>
            <a:ext cx="7335322" cy="942975"/>
          </a:xfrm>
          <a:prstGeom prst="rect">
            <a:avLst/>
          </a:prstGeom>
          <a:noFill/>
          <a:ln/>
        </p:spPr>
        <p:txBody>
          <a:bodyPr wrap="square" lIns="0" tIns="0" rIns="0" bIns="0" rtlCol="0" anchor="t"/>
          <a:lstStyle/>
          <a:p>
            <a:pPr algn="l" indent="0" marL="0">
              <a:lnSpc>
                <a:spcPts val="1850"/>
              </a:lnSpc>
              <a:buNone/>
            </a:pPr>
            <a:r>
              <a:rPr lang="en-US" sz="1150" b="1" dirty="0">
                <a:solidFill>
                  <a:srgbClr val="2B2E3C"/>
                </a:solidFill>
                <a:latin typeface="Open Sans" pitchFamily="34" charset="0"/>
                <a:ea typeface="Open Sans" pitchFamily="34" charset="-122"/>
                <a:cs typeface="Open Sans" pitchFamily="34" charset="-120"/>
              </a:rPr>
              <a:t>Fazit:</a:t>
            </a:r>
            <a:pPr algn="l" indent="0" marL="0">
              <a:lnSpc>
                <a:spcPts val="1850"/>
              </a:lnSpc>
              <a:buNone/>
            </a:pPr>
            <a:r>
              <a:rPr lang="en-US" sz="1150" dirty="0">
                <a:solidFill>
                  <a:srgbClr val="2B2E3C"/>
                </a:solidFill>
                <a:latin typeface="Open Sans" pitchFamily="34" charset="0"/>
                <a:ea typeface="Open Sans" pitchFamily="34" charset="-122"/>
                <a:cs typeface="Open Sans" pitchFamily="34" charset="-120"/>
              </a:rPr>
              <a:t> Die lineare Diskriminanzanalyse ist ein leistungsfähiges Werkzeug zur Klassifikation und Dimensionsreduktion, das die Trennung zwischen verschiedenen Klassen optimiert. Durch die Maximierung der Trennbarkeit und Minimierung der Streuung innerhalb der Klassen ermöglicht LDA eine effektive Analyse und Interpretation komplexer Datensätze.</a:t>
            </a:r>
            <a:endParaRPr lang="en-US" sz="1150" dirty="0"/>
          </a:p>
        </p:txBody>
      </p:sp>
      <p:sp>
        <p:nvSpPr>
          <p:cNvPr id="22" name="Shape 16"/>
          <p:cNvSpPr/>
          <p:nvPr/>
        </p:nvSpPr>
        <p:spPr>
          <a:xfrm>
            <a:off x="6280190" y="6268998"/>
            <a:ext cx="15240" cy="1274683"/>
          </a:xfrm>
          <a:prstGeom prst="rect">
            <a:avLst/>
          </a:prstGeom>
          <a:solidFill>
            <a:srgbClr val="D2600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2025-10-29T09:27:51Z</dcterms:created>
  <dcterms:modified xsi:type="dcterms:W3CDTF">2025-10-29T09:27:51Z</dcterms:modified>
</cp:coreProperties>
</file>
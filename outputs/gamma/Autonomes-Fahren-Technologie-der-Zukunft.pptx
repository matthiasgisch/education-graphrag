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embeddedFontLst>
    <p:embeddedFont>
      <p:font typeface="Bitter Medium"/>
      <p:regular r:id="rId10"/>
    </p:embeddedFont>
    <p:embeddedFont>
      <p:font typeface="Bitter Medium"/>
      <p:regular r:id="rId11"/>
    </p:embeddedFont>
    <p:embeddedFont>
      <p:font typeface="Bitter Medium"/>
      <p:regular r:id="rId12"/>
    </p:embeddedFont>
    <p:embeddedFont>
      <p:font typeface="Bitter Medium"/>
      <p:regular r:id="rId13"/>
    </p:embeddedFont>
    <p:embeddedFont>
      <p:font typeface="Open Sans"/>
      <p:regular r:id="rId14"/>
    </p:embeddedFont>
    <p:embeddedFont>
      <p:font typeface="Open Sans"/>
      <p:regular r:id="rId15"/>
    </p:embeddedFont>
    <p:embeddedFont>
      <p:font typeface="Open Sans"/>
      <p:regular r:id="rId16"/>
    </p:embeddedFont>
    <p:embeddedFont>
      <p:font typeface="Open Sans"/>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352086"/>
            <a:ext cx="11814096" cy="708779"/>
          </a:xfrm>
          <a:prstGeom prst="rect">
            <a:avLst/>
          </a:prstGeom>
          <a:noFill/>
          <a:ln/>
        </p:spPr>
        <p:txBody>
          <a:bodyPr wrap="non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Autonomes Fahren: Technologie der Zukunft</a:t>
            </a:r>
            <a:endParaRPr lang="en-US" sz="4450" dirty="0"/>
          </a:p>
        </p:txBody>
      </p:sp>
      <p:sp>
        <p:nvSpPr>
          <p:cNvPr id="3" name="Text 1"/>
          <p:cNvSpPr/>
          <p:nvPr/>
        </p:nvSpPr>
        <p:spPr>
          <a:xfrm>
            <a:off x="793790" y="451449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Eine umfassende Betrachtung der Schlüsseltechnologien und Systeme, die selbstfahrende Fahrzeuge ermöglichen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04762"/>
            <a:ext cx="7398067" cy="368618"/>
          </a:xfrm>
          <a:prstGeom prst="rect">
            <a:avLst/>
          </a:prstGeom>
          <a:noFill/>
          <a:ln/>
        </p:spPr>
        <p:txBody>
          <a:bodyPr wrap="none" lIns="0" tIns="0" rIns="0" bIns="0" rtlCol="0" anchor="t"/>
          <a:lstStyle/>
          <a:p>
            <a:pPr algn="l" indent="0" marL="0">
              <a:lnSpc>
                <a:spcPts val="2900"/>
              </a:lnSpc>
              <a:buNone/>
            </a:pPr>
            <a:r>
              <a:rPr lang="en-US" sz="2300" dirty="0">
                <a:solidFill>
                  <a:srgbClr val="2C3F42"/>
                </a:solidFill>
                <a:latin typeface="Bitter Medium" pitchFamily="34" charset="0"/>
                <a:ea typeface="Bitter Medium" pitchFamily="34" charset="-122"/>
                <a:cs typeface="Bitter Medium" pitchFamily="34" charset="-120"/>
              </a:rPr>
              <a:t>Komplexe Systemarchitektur des autonomen Fahrens</a:t>
            </a:r>
            <a:endParaRPr lang="en-US" sz="2300" dirty="0"/>
          </a:p>
        </p:txBody>
      </p:sp>
      <p:sp>
        <p:nvSpPr>
          <p:cNvPr id="3" name="Text 1"/>
          <p:cNvSpPr/>
          <p:nvPr/>
        </p:nvSpPr>
        <p:spPr>
          <a:xfrm>
            <a:off x="793790" y="2568178"/>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Autonomes Fahren basiert auf einem hochentwickelten Zusammenspiel von Hard- und Software, das die Grundlage für sichere und effiziente Mobilität bildet.</a:t>
            </a:r>
            <a:endParaRPr lang="en-US" sz="1150" dirty="0"/>
          </a:p>
        </p:txBody>
      </p:sp>
      <p:sp>
        <p:nvSpPr>
          <p:cNvPr id="4" name="Shape 2"/>
          <p:cNvSpPr/>
          <p:nvPr/>
        </p:nvSpPr>
        <p:spPr>
          <a:xfrm>
            <a:off x="793790" y="2969776"/>
            <a:ext cx="4249341" cy="1925598"/>
          </a:xfrm>
          <a:prstGeom prst="roundRect">
            <a:avLst>
              <a:gd name="adj" fmla="val 3216"/>
            </a:avLst>
          </a:prstGeom>
          <a:solidFill>
            <a:srgbClr val="FCE2CF"/>
          </a:solidFill>
          <a:ln w="7620">
            <a:solidFill>
              <a:srgbClr val="E2C8B5"/>
            </a:solidFill>
            <a:prstDash val="solid"/>
          </a:ln>
        </p:spPr>
      </p:sp>
      <p:sp>
        <p:nvSpPr>
          <p:cNvPr id="5" name="Shape 3"/>
          <p:cNvSpPr/>
          <p:nvPr/>
        </p:nvSpPr>
        <p:spPr>
          <a:xfrm>
            <a:off x="948809" y="3124795"/>
            <a:ext cx="442198" cy="442198"/>
          </a:xfrm>
          <a:prstGeom prst="roundRect">
            <a:avLst>
              <a:gd name="adj" fmla="val 20676452"/>
            </a:avLst>
          </a:prstGeom>
          <a:solidFill>
            <a:srgbClr val="D2600F"/>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70372" y="3246358"/>
            <a:ext cx="198953" cy="198953"/>
          </a:xfrm>
          <a:prstGeom prst="rect">
            <a:avLst/>
          </a:prstGeom>
        </p:spPr>
      </p:pic>
      <p:sp>
        <p:nvSpPr>
          <p:cNvPr id="7" name="Text 4"/>
          <p:cNvSpPr/>
          <p:nvPr/>
        </p:nvSpPr>
        <p:spPr>
          <a:xfrm>
            <a:off x="948809" y="3714393"/>
            <a:ext cx="2183249"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Hardware-Komponenten</a:t>
            </a:r>
            <a:endParaRPr lang="en-US" sz="1450" dirty="0"/>
          </a:p>
        </p:txBody>
      </p:sp>
      <p:sp>
        <p:nvSpPr>
          <p:cNvPr id="8" name="Text 5"/>
          <p:cNvSpPr/>
          <p:nvPr/>
        </p:nvSpPr>
        <p:spPr>
          <a:xfrm>
            <a:off x="948809" y="4033123"/>
            <a:ext cx="3939302"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Sensoren, Kameras, LiDAR und Radarsysteme erfassen kontinuierlich die Umgebung und liefern präzise Daten in Echtzeit.</a:t>
            </a:r>
            <a:endParaRPr lang="en-US" sz="1150" dirty="0"/>
          </a:p>
        </p:txBody>
      </p:sp>
      <p:sp>
        <p:nvSpPr>
          <p:cNvPr id="9" name="Shape 6"/>
          <p:cNvSpPr/>
          <p:nvPr/>
        </p:nvSpPr>
        <p:spPr>
          <a:xfrm>
            <a:off x="5190530" y="2969776"/>
            <a:ext cx="4249341" cy="1925598"/>
          </a:xfrm>
          <a:prstGeom prst="roundRect">
            <a:avLst>
              <a:gd name="adj" fmla="val 3216"/>
            </a:avLst>
          </a:prstGeom>
          <a:solidFill>
            <a:srgbClr val="FCE2CF"/>
          </a:solidFill>
          <a:ln w="7620">
            <a:solidFill>
              <a:srgbClr val="E2C8B5"/>
            </a:solidFill>
            <a:prstDash val="solid"/>
          </a:ln>
        </p:spPr>
      </p:sp>
      <p:sp>
        <p:nvSpPr>
          <p:cNvPr id="10" name="Shape 7"/>
          <p:cNvSpPr/>
          <p:nvPr/>
        </p:nvSpPr>
        <p:spPr>
          <a:xfrm>
            <a:off x="5345549" y="3124795"/>
            <a:ext cx="442198" cy="442198"/>
          </a:xfrm>
          <a:prstGeom prst="roundRect">
            <a:avLst>
              <a:gd name="adj" fmla="val 20676452"/>
            </a:avLst>
          </a:prstGeom>
          <a:solidFill>
            <a:srgbClr val="D2600F"/>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67112" y="3246358"/>
            <a:ext cx="198953" cy="198953"/>
          </a:xfrm>
          <a:prstGeom prst="rect">
            <a:avLst/>
          </a:prstGeom>
        </p:spPr>
      </p:pic>
      <p:sp>
        <p:nvSpPr>
          <p:cNvPr id="12" name="Text 8"/>
          <p:cNvSpPr/>
          <p:nvPr/>
        </p:nvSpPr>
        <p:spPr>
          <a:xfrm>
            <a:off x="5345549" y="3714393"/>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Software-Systeme</a:t>
            </a:r>
            <a:endParaRPr lang="en-US" sz="1450" dirty="0"/>
          </a:p>
        </p:txBody>
      </p:sp>
      <p:sp>
        <p:nvSpPr>
          <p:cNvPr id="13" name="Text 9"/>
          <p:cNvSpPr/>
          <p:nvPr/>
        </p:nvSpPr>
        <p:spPr>
          <a:xfrm>
            <a:off x="5345549" y="4033123"/>
            <a:ext cx="3939302"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Komplexe Algorithmen verarbeiten Millionen von Datenpunkten pro Sekunde und treffen kritische Entscheidungen.</a:t>
            </a:r>
            <a:endParaRPr lang="en-US" sz="1150" dirty="0"/>
          </a:p>
        </p:txBody>
      </p:sp>
      <p:sp>
        <p:nvSpPr>
          <p:cNvPr id="14" name="Shape 10"/>
          <p:cNvSpPr/>
          <p:nvPr/>
        </p:nvSpPr>
        <p:spPr>
          <a:xfrm>
            <a:off x="9587270" y="2969776"/>
            <a:ext cx="4249341" cy="1925598"/>
          </a:xfrm>
          <a:prstGeom prst="roundRect">
            <a:avLst>
              <a:gd name="adj" fmla="val 3216"/>
            </a:avLst>
          </a:prstGeom>
          <a:solidFill>
            <a:srgbClr val="FCE2CF"/>
          </a:solidFill>
          <a:ln w="7620">
            <a:solidFill>
              <a:srgbClr val="E2C8B5"/>
            </a:solidFill>
            <a:prstDash val="solid"/>
          </a:ln>
        </p:spPr>
      </p:sp>
      <p:sp>
        <p:nvSpPr>
          <p:cNvPr id="15" name="Shape 11"/>
          <p:cNvSpPr/>
          <p:nvPr/>
        </p:nvSpPr>
        <p:spPr>
          <a:xfrm>
            <a:off x="9742289" y="3124795"/>
            <a:ext cx="442198" cy="442198"/>
          </a:xfrm>
          <a:prstGeom prst="roundRect">
            <a:avLst>
              <a:gd name="adj" fmla="val 20676452"/>
            </a:avLst>
          </a:prstGeom>
          <a:solidFill>
            <a:srgbClr val="D2600F"/>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63852" y="3246358"/>
            <a:ext cx="198953" cy="198953"/>
          </a:xfrm>
          <a:prstGeom prst="rect">
            <a:avLst/>
          </a:prstGeom>
        </p:spPr>
      </p:pic>
      <p:sp>
        <p:nvSpPr>
          <p:cNvPr id="17" name="Text 12"/>
          <p:cNvSpPr/>
          <p:nvPr/>
        </p:nvSpPr>
        <p:spPr>
          <a:xfrm>
            <a:off x="9742289" y="3714393"/>
            <a:ext cx="2118836"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Integrierte Verarbeitung</a:t>
            </a:r>
            <a:endParaRPr lang="en-US" sz="1450" dirty="0"/>
          </a:p>
        </p:txBody>
      </p:sp>
      <p:sp>
        <p:nvSpPr>
          <p:cNvPr id="18" name="Text 13"/>
          <p:cNvSpPr/>
          <p:nvPr/>
        </p:nvSpPr>
        <p:spPr>
          <a:xfrm>
            <a:off x="9742289" y="4033123"/>
            <a:ext cx="3939302"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Die nahtlose Integration von Eingaben aus der Umgebung und entsprechenden Steuerungsausgaben ermöglicht präzise Fahrzeugkontrolle.</a:t>
            </a:r>
            <a:endParaRPr lang="en-US" sz="1150" dirty="0"/>
          </a:p>
        </p:txBody>
      </p:sp>
      <p:sp>
        <p:nvSpPr>
          <p:cNvPr id="19" name="Text 14"/>
          <p:cNvSpPr/>
          <p:nvPr/>
        </p:nvSpPr>
        <p:spPr>
          <a:xfrm>
            <a:off x="793790" y="5061228"/>
            <a:ext cx="13042821"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Diese Komponenten arbeiten in perfekter Synchronisation zusammen, um Umgebungsdaten zu erfassen, zu interpretieren und in Fahrentscheidungen umzusetzen. Das System muss dabei in Millisekunden reagieren können, um die Sicherheit aller Verkehrsteilnehmer zu gewährleisten.</a:t>
            </a:r>
            <a:endParaRPr lang="en-US" sz="1150" dirty="0"/>
          </a:p>
        </p:txBody>
      </p:sp>
      <p:sp>
        <p:nvSpPr>
          <p:cNvPr id="20" name="Shape 15"/>
          <p:cNvSpPr/>
          <p:nvPr/>
        </p:nvSpPr>
        <p:spPr>
          <a:xfrm>
            <a:off x="793790" y="5698569"/>
            <a:ext cx="13042821" cy="626269"/>
          </a:xfrm>
          <a:prstGeom prst="roundRect">
            <a:avLst>
              <a:gd name="adj" fmla="val 9888"/>
            </a:avLst>
          </a:prstGeom>
          <a:solidFill>
            <a:srgbClr val="FAD3B8"/>
          </a:solidFill>
          <a:ln/>
        </p:spPr>
      </p:sp>
      <p:pic>
        <p:nvPicPr>
          <p:cNvPr id="21" name="Image 3" descr="preencoded.png">    </p:cNvPr>
          <p:cNvPicPr>
            <a:picLocks noChangeAspect="1"/>
          </p:cNvPicPr>
          <p:nvPr/>
        </p:nvPicPr>
        <p:blipFill>
          <a:blip r:embed="rId7"/>
          <a:stretch>
            <a:fillRect/>
          </a:stretch>
        </p:blipFill>
        <p:spPr>
          <a:xfrm>
            <a:off x="941189" y="5921335"/>
            <a:ext cx="184190" cy="147399"/>
          </a:xfrm>
          <a:prstGeom prst="rect">
            <a:avLst/>
          </a:prstGeom>
        </p:spPr>
      </p:pic>
      <p:sp>
        <p:nvSpPr>
          <p:cNvPr id="22" name="Text 16"/>
          <p:cNvSpPr/>
          <p:nvPr/>
        </p:nvSpPr>
        <p:spPr>
          <a:xfrm>
            <a:off x="1272778" y="5882759"/>
            <a:ext cx="12416433" cy="235744"/>
          </a:xfrm>
          <a:prstGeom prst="rect">
            <a:avLst/>
          </a:prstGeom>
          <a:noFill/>
          <a:ln/>
        </p:spPr>
        <p:txBody>
          <a:bodyPr wrap="none" lIns="0" tIns="0" rIns="0" bIns="0" rtlCol="0" anchor="t"/>
          <a:lstStyle/>
          <a:p>
            <a:pPr algn="l" indent="0" marL="0">
              <a:lnSpc>
                <a:spcPts val="1850"/>
              </a:lnSpc>
              <a:buNone/>
            </a:pPr>
            <a:r>
              <a:rPr lang="en-US" sz="1150" b="1" dirty="0">
                <a:solidFill>
                  <a:srgbClr val="000000"/>
                </a:solidFill>
                <a:latin typeface="Open Sans" pitchFamily="34" charset="0"/>
                <a:ea typeface="Open Sans" pitchFamily="34" charset="-122"/>
                <a:cs typeface="Open Sans" pitchFamily="34" charset="-120"/>
              </a:rPr>
              <a:t>Quelle:</a:t>
            </a:r>
            <a:pPr algn="l" indent="0" marL="0">
              <a:lnSpc>
                <a:spcPts val="1850"/>
              </a:lnSpc>
              <a:buNone/>
            </a:pPr>
            <a:r>
              <a:rPr lang="en-US" sz="1150" dirty="0">
                <a:solidFill>
                  <a:srgbClr val="000000"/>
                </a:solidFill>
                <a:latin typeface="Open Sans" pitchFamily="34" charset="0"/>
                <a:ea typeface="Open Sans" pitchFamily="34" charset="-122"/>
                <a:cs typeface="Open Sans" pitchFamily="34" charset="-120"/>
              </a:rPr>
              <a:t> Fc2faf4ec-1690-485c-a0be-f6189f4e2f5c — Seite 1 — Abschnitt: Introduction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13648" y="482203"/>
            <a:ext cx="5340548" cy="284917"/>
          </a:xfrm>
          <a:prstGeom prst="rect">
            <a:avLst/>
          </a:prstGeom>
          <a:noFill/>
          <a:ln/>
        </p:spPr>
        <p:txBody>
          <a:bodyPr wrap="none" lIns="0" tIns="0" rIns="0" bIns="0" rtlCol="0" anchor="t"/>
          <a:lstStyle/>
          <a:p>
            <a:pPr algn="l" indent="0" marL="0">
              <a:lnSpc>
                <a:spcPts val="2200"/>
              </a:lnSpc>
              <a:buNone/>
            </a:pPr>
            <a:r>
              <a:rPr lang="en-US" sz="1750" dirty="0">
                <a:solidFill>
                  <a:srgbClr val="2C3F42"/>
                </a:solidFill>
                <a:latin typeface="Bitter Medium" pitchFamily="34" charset="0"/>
                <a:ea typeface="Bitter Medium" pitchFamily="34" charset="-122"/>
                <a:cs typeface="Bitter Medium" pitchFamily="34" charset="-120"/>
              </a:rPr>
              <a:t>Maschinelles Lernen als Herzstück der Autonomie</a:t>
            </a:r>
            <a:endParaRPr lang="en-US" sz="1750" dirty="0"/>
          </a:p>
        </p:txBody>
      </p:sp>
      <p:sp>
        <p:nvSpPr>
          <p:cNvPr id="3" name="Text 1"/>
          <p:cNvSpPr/>
          <p:nvPr/>
        </p:nvSpPr>
        <p:spPr>
          <a:xfrm>
            <a:off x="613648" y="1052036"/>
            <a:ext cx="2302312" cy="213717"/>
          </a:xfrm>
          <a:prstGeom prst="rect">
            <a:avLst/>
          </a:prstGeom>
          <a:noFill/>
          <a:ln/>
        </p:spPr>
        <p:txBody>
          <a:bodyPr wrap="none" lIns="0" tIns="0" rIns="0" bIns="0" rtlCol="0" anchor="t"/>
          <a:lstStyle/>
          <a:p>
            <a:pPr algn="l" indent="0" marL="0">
              <a:lnSpc>
                <a:spcPts val="1650"/>
              </a:lnSpc>
              <a:buNone/>
            </a:pPr>
            <a:r>
              <a:rPr lang="en-US" sz="1300" dirty="0">
                <a:solidFill>
                  <a:srgbClr val="2C3F42"/>
                </a:solidFill>
                <a:latin typeface="Bitter Medium" pitchFamily="34" charset="0"/>
                <a:ea typeface="Bitter Medium" pitchFamily="34" charset="-122"/>
                <a:cs typeface="Bitter Medium" pitchFamily="34" charset="-120"/>
              </a:rPr>
              <a:t>Kontinuierliche Entwicklung</a:t>
            </a:r>
            <a:endParaRPr lang="en-US" sz="1300" dirty="0"/>
          </a:p>
        </p:txBody>
      </p:sp>
      <p:sp>
        <p:nvSpPr>
          <p:cNvPr id="4" name="Text 2"/>
          <p:cNvSpPr/>
          <p:nvPr/>
        </p:nvSpPr>
        <p:spPr>
          <a:xfrm>
            <a:off x="613648" y="1379696"/>
            <a:ext cx="5878473" cy="364569"/>
          </a:xfrm>
          <a:prstGeom prst="rect">
            <a:avLst/>
          </a:prstGeom>
          <a:noFill/>
          <a:ln/>
        </p:spPr>
        <p:txBody>
          <a:bodyPr wrap="square" lIns="0" tIns="0" rIns="0" bIns="0" rtlCol="0" anchor="t"/>
          <a:lstStyle/>
          <a:p>
            <a:pPr algn="l" indent="0" marL="0">
              <a:lnSpc>
                <a:spcPts val="1400"/>
              </a:lnSpc>
              <a:buNone/>
            </a:pPr>
            <a:r>
              <a:rPr lang="en-US" sz="850" dirty="0">
                <a:solidFill>
                  <a:srgbClr val="2B2E3C"/>
                </a:solidFill>
                <a:latin typeface="Open Sans" pitchFamily="34" charset="0"/>
                <a:ea typeface="Open Sans" pitchFamily="34" charset="-122"/>
                <a:cs typeface="Open Sans" pitchFamily="34" charset="-120"/>
              </a:rPr>
              <a:t>Maschinelles Lernen (ML) revolutioniert die Art und Weise, wie autonome Fahrzeuge Entscheidungen treffen. Diese Systeme befinden sich in einem ständigen Entwicklungs- und Lernprozess.</a:t>
            </a:r>
            <a:endParaRPr lang="en-US" sz="850" dirty="0"/>
          </a:p>
        </p:txBody>
      </p:sp>
      <p:sp>
        <p:nvSpPr>
          <p:cNvPr id="5" name="Text 3"/>
          <p:cNvSpPr/>
          <p:nvPr/>
        </p:nvSpPr>
        <p:spPr>
          <a:xfrm>
            <a:off x="613648" y="1846778"/>
            <a:ext cx="5878473"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Gleichzeitige Entwicklung und praktische Nutzung der ML-Systeme</a:t>
            </a:r>
            <a:endParaRPr lang="en-US" sz="850" dirty="0"/>
          </a:p>
        </p:txBody>
      </p:sp>
      <p:sp>
        <p:nvSpPr>
          <p:cNvPr id="6" name="Text 4"/>
          <p:cNvSpPr/>
          <p:nvPr/>
        </p:nvSpPr>
        <p:spPr>
          <a:xfrm>
            <a:off x="613648" y="2068949"/>
            <a:ext cx="5878473"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Kontinuierliches Lernen aus realen Fahrsituationen</a:t>
            </a:r>
            <a:endParaRPr lang="en-US" sz="850" dirty="0"/>
          </a:p>
        </p:txBody>
      </p:sp>
      <p:sp>
        <p:nvSpPr>
          <p:cNvPr id="7" name="Text 5"/>
          <p:cNvSpPr/>
          <p:nvPr/>
        </p:nvSpPr>
        <p:spPr>
          <a:xfrm>
            <a:off x="613648" y="2291120"/>
            <a:ext cx="5878473"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Adaptive Anpassung an neue und unvorhergesehene Szenarien</a:t>
            </a:r>
            <a:endParaRPr lang="en-US" sz="850" dirty="0"/>
          </a:p>
        </p:txBody>
      </p:sp>
      <p:sp>
        <p:nvSpPr>
          <p:cNvPr id="8" name="Text 6"/>
          <p:cNvSpPr/>
          <p:nvPr/>
        </p:nvSpPr>
        <p:spPr>
          <a:xfrm>
            <a:off x="613648" y="2513290"/>
            <a:ext cx="5878473"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Verbesserung der Entscheidungsfindung durch Erfahrung</a:t>
            </a:r>
            <a:endParaRPr lang="en-US" sz="850" dirty="0"/>
          </a:p>
        </p:txBody>
      </p:sp>
      <p:sp>
        <p:nvSpPr>
          <p:cNvPr id="9" name="Text 7"/>
          <p:cNvSpPr/>
          <p:nvPr/>
        </p:nvSpPr>
        <p:spPr>
          <a:xfrm>
            <a:off x="6777633" y="1052036"/>
            <a:ext cx="2155746" cy="213717"/>
          </a:xfrm>
          <a:prstGeom prst="rect">
            <a:avLst/>
          </a:prstGeom>
          <a:noFill/>
          <a:ln/>
        </p:spPr>
        <p:txBody>
          <a:bodyPr wrap="none" lIns="0" tIns="0" rIns="0" bIns="0" rtlCol="0" anchor="t"/>
          <a:lstStyle/>
          <a:p>
            <a:pPr algn="l" indent="0" marL="0">
              <a:lnSpc>
                <a:spcPts val="1650"/>
              </a:lnSpc>
              <a:buNone/>
            </a:pPr>
            <a:r>
              <a:rPr lang="en-US" sz="1300" dirty="0">
                <a:solidFill>
                  <a:srgbClr val="2C3F42"/>
                </a:solidFill>
                <a:latin typeface="Bitter Medium" pitchFamily="34" charset="0"/>
                <a:ea typeface="Bitter Medium" pitchFamily="34" charset="-122"/>
                <a:cs typeface="Bitter Medium" pitchFamily="34" charset="-120"/>
              </a:rPr>
              <a:t>Interaktive Anforderungen</a:t>
            </a:r>
            <a:endParaRPr lang="en-US" sz="1300" dirty="0"/>
          </a:p>
        </p:txBody>
      </p:sp>
      <p:sp>
        <p:nvSpPr>
          <p:cNvPr id="10" name="Text 8"/>
          <p:cNvSpPr/>
          <p:nvPr/>
        </p:nvSpPr>
        <p:spPr>
          <a:xfrm>
            <a:off x="6777633" y="1379696"/>
            <a:ext cx="7246620" cy="182285"/>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Open Sans" pitchFamily="34" charset="0"/>
                <a:ea typeface="Open Sans" pitchFamily="34" charset="-122"/>
                <a:cs typeface="Open Sans" pitchFamily="34" charset="-120"/>
              </a:rPr>
              <a:t>ML-Systeme müssen mit verschiedenen kritischen Anforderungen interagieren, um optimale Leistung zu gewährleisten:</a:t>
            </a:r>
            <a:endParaRPr lang="en-US" sz="850" dirty="0"/>
          </a:p>
        </p:txBody>
      </p:sp>
      <p:sp>
        <p:nvSpPr>
          <p:cNvPr id="11" name="Text 9"/>
          <p:cNvSpPr/>
          <p:nvPr/>
        </p:nvSpPr>
        <p:spPr>
          <a:xfrm>
            <a:off x="6777633" y="1690211"/>
            <a:ext cx="113943" cy="142399"/>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Bitter Light" pitchFamily="34" charset="0"/>
                <a:ea typeface="Bitter Light" pitchFamily="34" charset="-122"/>
                <a:cs typeface="Bitter Light" pitchFamily="34" charset="-120"/>
              </a:rPr>
              <a:t>01</a:t>
            </a:r>
            <a:endParaRPr lang="en-US" sz="850" dirty="0"/>
          </a:p>
        </p:txBody>
      </p:sp>
      <p:sp>
        <p:nvSpPr>
          <p:cNvPr id="12" name="Shape 10"/>
          <p:cNvSpPr/>
          <p:nvPr/>
        </p:nvSpPr>
        <p:spPr>
          <a:xfrm>
            <a:off x="6777633" y="1868567"/>
            <a:ext cx="7246620" cy="15240"/>
          </a:xfrm>
          <a:prstGeom prst="rect">
            <a:avLst/>
          </a:prstGeom>
          <a:solidFill>
            <a:srgbClr val="D2600F"/>
          </a:solidFill>
          <a:ln/>
        </p:spPr>
      </p:sp>
      <p:sp>
        <p:nvSpPr>
          <p:cNvPr id="13" name="Text 11"/>
          <p:cNvSpPr/>
          <p:nvPr/>
        </p:nvSpPr>
        <p:spPr>
          <a:xfrm>
            <a:off x="6777633" y="1955959"/>
            <a:ext cx="1753433" cy="178118"/>
          </a:xfrm>
          <a:prstGeom prst="rect">
            <a:avLst/>
          </a:prstGeom>
          <a:noFill/>
          <a:ln/>
        </p:spPr>
        <p:txBody>
          <a:bodyPr wrap="none" lIns="0" tIns="0" rIns="0" bIns="0" rtlCol="0" anchor="t"/>
          <a:lstStyle/>
          <a:p>
            <a:pPr algn="l" indent="0" marL="0">
              <a:lnSpc>
                <a:spcPts val="1400"/>
              </a:lnSpc>
              <a:buNone/>
            </a:pPr>
            <a:r>
              <a:rPr lang="en-US" sz="1100" dirty="0">
                <a:solidFill>
                  <a:srgbClr val="2B2E3C"/>
                </a:solidFill>
                <a:latin typeface="Bitter Medium" pitchFamily="34" charset="0"/>
                <a:ea typeface="Bitter Medium" pitchFamily="34" charset="-122"/>
                <a:cs typeface="Bitter Medium" pitchFamily="34" charset="-120"/>
              </a:rPr>
              <a:t>Informationsverarbeitung</a:t>
            </a:r>
            <a:endParaRPr lang="en-US" sz="1100" dirty="0"/>
          </a:p>
        </p:txBody>
      </p:sp>
      <p:sp>
        <p:nvSpPr>
          <p:cNvPr id="14" name="Text 12"/>
          <p:cNvSpPr/>
          <p:nvPr/>
        </p:nvSpPr>
        <p:spPr>
          <a:xfrm>
            <a:off x="6777633" y="2248019"/>
            <a:ext cx="7246620" cy="182285"/>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Open Sans" pitchFamily="34" charset="0"/>
                <a:ea typeface="Open Sans" pitchFamily="34" charset="-122"/>
                <a:cs typeface="Open Sans" pitchFamily="34" charset="-120"/>
              </a:rPr>
              <a:t>Effiziente Analyse komplexer Verkehrssituationen</a:t>
            </a:r>
            <a:endParaRPr lang="en-US" sz="850" dirty="0"/>
          </a:p>
        </p:txBody>
      </p:sp>
      <p:sp>
        <p:nvSpPr>
          <p:cNvPr id="15" name="Text 13"/>
          <p:cNvSpPr/>
          <p:nvPr/>
        </p:nvSpPr>
        <p:spPr>
          <a:xfrm>
            <a:off x="6777633" y="2629733"/>
            <a:ext cx="113943" cy="142399"/>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Bitter Light" pitchFamily="34" charset="0"/>
                <a:ea typeface="Bitter Light" pitchFamily="34" charset="-122"/>
                <a:cs typeface="Bitter Light" pitchFamily="34" charset="-120"/>
              </a:rPr>
              <a:t>02</a:t>
            </a:r>
            <a:endParaRPr lang="en-US" sz="850" dirty="0"/>
          </a:p>
        </p:txBody>
      </p:sp>
      <p:sp>
        <p:nvSpPr>
          <p:cNvPr id="16" name="Shape 14"/>
          <p:cNvSpPr/>
          <p:nvPr/>
        </p:nvSpPr>
        <p:spPr>
          <a:xfrm>
            <a:off x="6777633" y="2808089"/>
            <a:ext cx="7246620" cy="15240"/>
          </a:xfrm>
          <a:prstGeom prst="rect">
            <a:avLst/>
          </a:prstGeom>
          <a:solidFill>
            <a:srgbClr val="D2600F"/>
          </a:solidFill>
          <a:ln/>
        </p:spPr>
      </p:sp>
      <p:sp>
        <p:nvSpPr>
          <p:cNvPr id="17" name="Text 15"/>
          <p:cNvSpPr/>
          <p:nvPr/>
        </p:nvSpPr>
        <p:spPr>
          <a:xfrm>
            <a:off x="6777633" y="2895481"/>
            <a:ext cx="1598057" cy="178118"/>
          </a:xfrm>
          <a:prstGeom prst="rect">
            <a:avLst/>
          </a:prstGeom>
          <a:noFill/>
          <a:ln/>
        </p:spPr>
        <p:txBody>
          <a:bodyPr wrap="none" lIns="0" tIns="0" rIns="0" bIns="0" rtlCol="0" anchor="t"/>
          <a:lstStyle/>
          <a:p>
            <a:pPr algn="l" indent="0" marL="0">
              <a:lnSpc>
                <a:spcPts val="1400"/>
              </a:lnSpc>
              <a:buNone/>
            </a:pPr>
            <a:r>
              <a:rPr lang="en-US" sz="1100" dirty="0">
                <a:solidFill>
                  <a:srgbClr val="2B2E3C"/>
                </a:solidFill>
                <a:latin typeface="Bitter Medium" pitchFamily="34" charset="0"/>
                <a:ea typeface="Bitter Medium" pitchFamily="34" charset="-122"/>
                <a:cs typeface="Bitter Medium" pitchFamily="34" charset="-120"/>
              </a:rPr>
              <a:t>Unterstützungssysteme</a:t>
            </a:r>
            <a:endParaRPr lang="en-US" sz="1100" dirty="0"/>
          </a:p>
        </p:txBody>
      </p:sp>
      <p:sp>
        <p:nvSpPr>
          <p:cNvPr id="18" name="Text 16"/>
          <p:cNvSpPr/>
          <p:nvPr/>
        </p:nvSpPr>
        <p:spPr>
          <a:xfrm>
            <a:off x="6777633" y="3187541"/>
            <a:ext cx="7246620" cy="182285"/>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Open Sans" pitchFamily="34" charset="0"/>
                <a:ea typeface="Open Sans" pitchFamily="34" charset="-122"/>
                <a:cs typeface="Open Sans" pitchFamily="34" charset="-120"/>
              </a:rPr>
              <a:t>Assistenz bei kritischen Fahrentscheidungen</a:t>
            </a:r>
            <a:endParaRPr lang="en-US" sz="850" dirty="0"/>
          </a:p>
        </p:txBody>
      </p:sp>
      <p:sp>
        <p:nvSpPr>
          <p:cNvPr id="19" name="Text 17"/>
          <p:cNvSpPr/>
          <p:nvPr/>
        </p:nvSpPr>
        <p:spPr>
          <a:xfrm>
            <a:off x="6777633" y="3569256"/>
            <a:ext cx="113943" cy="142399"/>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Bitter Light" pitchFamily="34" charset="0"/>
                <a:ea typeface="Bitter Light" pitchFamily="34" charset="-122"/>
                <a:cs typeface="Bitter Light" pitchFamily="34" charset="-120"/>
              </a:rPr>
              <a:t>03</a:t>
            </a:r>
            <a:endParaRPr lang="en-US" sz="850" dirty="0"/>
          </a:p>
        </p:txBody>
      </p:sp>
      <p:sp>
        <p:nvSpPr>
          <p:cNvPr id="20" name="Shape 18"/>
          <p:cNvSpPr/>
          <p:nvPr/>
        </p:nvSpPr>
        <p:spPr>
          <a:xfrm>
            <a:off x="6777633" y="3747611"/>
            <a:ext cx="7246620" cy="15240"/>
          </a:xfrm>
          <a:prstGeom prst="rect">
            <a:avLst/>
          </a:prstGeom>
          <a:solidFill>
            <a:srgbClr val="D2600F"/>
          </a:solidFill>
          <a:ln/>
        </p:spPr>
      </p:sp>
      <p:sp>
        <p:nvSpPr>
          <p:cNvPr id="21" name="Text 19"/>
          <p:cNvSpPr/>
          <p:nvPr/>
        </p:nvSpPr>
        <p:spPr>
          <a:xfrm>
            <a:off x="6777633" y="3835003"/>
            <a:ext cx="1541859" cy="178118"/>
          </a:xfrm>
          <a:prstGeom prst="rect">
            <a:avLst/>
          </a:prstGeom>
          <a:noFill/>
          <a:ln/>
        </p:spPr>
        <p:txBody>
          <a:bodyPr wrap="none" lIns="0" tIns="0" rIns="0" bIns="0" rtlCol="0" anchor="t"/>
          <a:lstStyle/>
          <a:p>
            <a:pPr algn="l" indent="0" marL="0">
              <a:lnSpc>
                <a:spcPts val="1400"/>
              </a:lnSpc>
              <a:buNone/>
            </a:pPr>
            <a:r>
              <a:rPr lang="en-US" sz="1100" dirty="0">
                <a:solidFill>
                  <a:srgbClr val="2B2E3C"/>
                </a:solidFill>
                <a:latin typeface="Bitter Medium" pitchFamily="34" charset="0"/>
                <a:ea typeface="Bitter Medium" pitchFamily="34" charset="-122"/>
                <a:cs typeface="Bitter Medium" pitchFamily="34" charset="-120"/>
              </a:rPr>
              <a:t>Aufgabenmanagement</a:t>
            </a:r>
            <a:endParaRPr lang="en-US" sz="1100" dirty="0"/>
          </a:p>
        </p:txBody>
      </p:sp>
      <p:sp>
        <p:nvSpPr>
          <p:cNvPr id="22" name="Text 20"/>
          <p:cNvSpPr/>
          <p:nvPr/>
        </p:nvSpPr>
        <p:spPr>
          <a:xfrm>
            <a:off x="6777633" y="4127063"/>
            <a:ext cx="7246620" cy="182285"/>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Open Sans" pitchFamily="34" charset="0"/>
                <a:ea typeface="Open Sans" pitchFamily="34" charset="-122"/>
                <a:cs typeface="Open Sans" pitchFamily="34" charset="-120"/>
              </a:rPr>
              <a:t>Priorisierung und Koordination paralleler Prozesse</a:t>
            </a:r>
            <a:endParaRPr lang="en-US" sz="850" dirty="0"/>
          </a:p>
        </p:txBody>
      </p:sp>
      <p:sp>
        <p:nvSpPr>
          <p:cNvPr id="23" name="Text 21"/>
          <p:cNvSpPr/>
          <p:nvPr/>
        </p:nvSpPr>
        <p:spPr>
          <a:xfrm>
            <a:off x="6777633" y="4508778"/>
            <a:ext cx="113943" cy="142399"/>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Bitter Light" pitchFamily="34" charset="0"/>
                <a:ea typeface="Bitter Light" pitchFamily="34" charset="-122"/>
                <a:cs typeface="Bitter Light" pitchFamily="34" charset="-120"/>
              </a:rPr>
              <a:t>04</a:t>
            </a:r>
            <a:endParaRPr lang="en-US" sz="850" dirty="0"/>
          </a:p>
        </p:txBody>
      </p:sp>
      <p:sp>
        <p:nvSpPr>
          <p:cNvPr id="24" name="Shape 22"/>
          <p:cNvSpPr/>
          <p:nvPr/>
        </p:nvSpPr>
        <p:spPr>
          <a:xfrm>
            <a:off x="6777633" y="4687133"/>
            <a:ext cx="7246620" cy="15240"/>
          </a:xfrm>
          <a:prstGeom prst="rect">
            <a:avLst/>
          </a:prstGeom>
          <a:solidFill>
            <a:srgbClr val="D2600F"/>
          </a:solidFill>
          <a:ln/>
        </p:spPr>
      </p:sp>
      <p:sp>
        <p:nvSpPr>
          <p:cNvPr id="25" name="Text 23"/>
          <p:cNvSpPr/>
          <p:nvPr/>
        </p:nvSpPr>
        <p:spPr>
          <a:xfrm>
            <a:off x="6777633" y="4774525"/>
            <a:ext cx="1424702" cy="178118"/>
          </a:xfrm>
          <a:prstGeom prst="rect">
            <a:avLst/>
          </a:prstGeom>
          <a:noFill/>
          <a:ln/>
        </p:spPr>
        <p:txBody>
          <a:bodyPr wrap="none" lIns="0" tIns="0" rIns="0" bIns="0" rtlCol="0" anchor="t"/>
          <a:lstStyle/>
          <a:p>
            <a:pPr algn="l" indent="0" marL="0">
              <a:lnSpc>
                <a:spcPts val="1400"/>
              </a:lnSpc>
              <a:buNone/>
            </a:pPr>
            <a:r>
              <a:rPr lang="en-US" sz="1100" dirty="0">
                <a:solidFill>
                  <a:srgbClr val="2B2E3C"/>
                </a:solidFill>
                <a:latin typeface="Bitter Medium" pitchFamily="34" charset="0"/>
                <a:ea typeface="Bitter Medium" pitchFamily="34" charset="-122"/>
                <a:cs typeface="Bitter Medium" pitchFamily="34" charset="-120"/>
              </a:rPr>
              <a:t>Arbeitsbelastung</a:t>
            </a:r>
            <a:endParaRPr lang="en-US" sz="1100" dirty="0"/>
          </a:p>
        </p:txBody>
      </p:sp>
      <p:sp>
        <p:nvSpPr>
          <p:cNvPr id="26" name="Text 24"/>
          <p:cNvSpPr/>
          <p:nvPr/>
        </p:nvSpPr>
        <p:spPr>
          <a:xfrm>
            <a:off x="6777633" y="5066586"/>
            <a:ext cx="7246620" cy="182285"/>
          </a:xfrm>
          <a:prstGeom prst="rect">
            <a:avLst/>
          </a:prstGeom>
          <a:noFill/>
          <a:ln/>
        </p:spPr>
        <p:txBody>
          <a:bodyPr wrap="none" lIns="0" tIns="0" rIns="0" bIns="0" rtlCol="0" anchor="t"/>
          <a:lstStyle/>
          <a:p>
            <a:pPr algn="l" indent="0" marL="0">
              <a:lnSpc>
                <a:spcPts val="1400"/>
              </a:lnSpc>
              <a:buNone/>
            </a:pPr>
            <a:r>
              <a:rPr lang="en-US" sz="850" dirty="0">
                <a:solidFill>
                  <a:srgbClr val="2B2E3C"/>
                </a:solidFill>
                <a:latin typeface="Open Sans" pitchFamily="34" charset="0"/>
                <a:ea typeface="Open Sans" pitchFamily="34" charset="-122"/>
                <a:cs typeface="Open Sans" pitchFamily="34" charset="-120"/>
              </a:rPr>
              <a:t>Optimierung der Systemressourcen</a:t>
            </a:r>
            <a:endParaRPr lang="en-US" sz="850" dirty="0"/>
          </a:p>
        </p:txBody>
      </p:sp>
      <p:sp>
        <p:nvSpPr>
          <p:cNvPr id="27" name="Text 25"/>
          <p:cNvSpPr/>
          <p:nvPr/>
        </p:nvSpPr>
        <p:spPr>
          <a:xfrm>
            <a:off x="613648" y="5590818"/>
            <a:ext cx="13403104" cy="364569"/>
          </a:xfrm>
          <a:prstGeom prst="rect">
            <a:avLst/>
          </a:prstGeom>
          <a:noFill/>
          <a:ln/>
        </p:spPr>
        <p:txBody>
          <a:bodyPr wrap="square" lIns="0" tIns="0" rIns="0" bIns="0" rtlCol="0" anchor="t"/>
          <a:lstStyle/>
          <a:p>
            <a:pPr algn="l" indent="0" marL="0">
              <a:lnSpc>
                <a:spcPts val="1400"/>
              </a:lnSpc>
              <a:buNone/>
            </a:pPr>
            <a:r>
              <a:rPr lang="en-US" sz="850" dirty="0">
                <a:solidFill>
                  <a:srgbClr val="2B2E3C"/>
                </a:solidFill>
                <a:latin typeface="Open Sans" pitchFamily="34" charset="0"/>
                <a:ea typeface="Open Sans" pitchFamily="34" charset="-122"/>
                <a:cs typeface="Open Sans" pitchFamily="34" charset="-120"/>
              </a:rPr>
              <a:t>Die Interaktion zwischen Mensch und lernenden Maschinen im Bereich des Interactive Machine Learning (IML) ist entscheidend für die Entwicklung sicherer und zuverlässiger autonomer Fahrsysteme. Diese Beziehung ermöglicht es, dass Fahrzeuge nicht nur auf vorprogrammierte Szenarien reagieren, sondern sich intelligent an die Komplexität des realen Straßenverkehrs anpassen können.</a:t>
            </a:r>
            <a:endParaRPr lang="en-US" sz="850" dirty="0"/>
          </a:p>
        </p:txBody>
      </p:sp>
      <p:sp>
        <p:nvSpPr>
          <p:cNvPr id="28" name="Shape 26"/>
          <p:cNvSpPr/>
          <p:nvPr/>
        </p:nvSpPr>
        <p:spPr>
          <a:xfrm>
            <a:off x="613648" y="6140569"/>
            <a:ext cx="13403104" cy="21788"/>
          </a:xfrm>
          <a:prstGeom prst="rect">
            <a:avLst/>
          </a:prstGeom>
          <a:solidFill>
            <a:srgbClr val="2B2E3C">
              <a:alpha val="50000"/>
            </a:srgbClr>
          </a:solidFill>
          <a:ln/>
        </p:spPr>
      </p:sp>
      <p:sp>
        <p:nvSpPr>
          <p:cNvPr id="29" name="Text 27"/>
          <p:cNvSpPr/>
          <p:nvPr/>
        </p:nvSpPr>
        <p:spPr>
          <a:xfrm>
            <a:off x="613648" y="6333292"/>
            <a:ext cx="1424702" cy="178118"/>
          </a:xfrm>
          <a:prstGeom prst="rect">
            <a:avLst/>
          </a:prstGeom>
          <a:noFill/>
          <a:ln/>
        </p:spPr>
        <p:txBody>
          <a:bodyPr wrap="none" lIns="0" tIns="0" rIns="0" bIns="0" rtlCol="0" anchor="t"/>
          <a:lstStyle/>
          <a:p>
            <a:pPr algn="l" indent="0" marL="0">
              <a:lnSpc>
                <a:spcPts val="1400"/>
              </a:lnSpc>
              <a:buNone/>
            </a:pPr>
            <a:r>
              <a:rPr lang="en-US" sz="1100" dirty="0">
                <a:solidFill>
                  <a:srgbClr val="2C3F42"/>
                </a:solidFill>
                <a:latin typeface="Bitter Medium" pitchFamily="34" charset="0"/>
                <a:ea typeface="Bitter Medium" pitchFamily="34" charset="-122"/>
                <a:cs typeface="Bitter Medium" pitchFamily="34" charset="-120"/>
              </a:rPr>
              <a:t>Quellenverzeichnis</a:t>
            </a:r>
            <a:endParaRPr lang="en-US" sz="1100" dirty="0"/>
          </a:p>
        </p:txBody>
      </p:sp>
      <p:sp>
        <p:nvSpPr>
          <p:cNvPr id="30" name="Text 28"/>
          <p:cNvSpPr/>
          <p:nvPr/>
        </p:nvSpPr>
        <p:spPr>
          <a:xfrm>
            <a:off x="613648" y="6682383"/>
            <a:ext cx="13403104"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F55696670-a8a5-4e8d-bada-bb15a0e3d8e1 — Seite 4 — Abschnitt: Interactive Machine Learning</a:t>
            </a:r>
            <a:endParaRPr lang="en-US" sz="850" dirty="0"/>
          </a:p>
        </p:txBody>
      </p:sp>
      <p:sp>
        <p:nvSpPr>
          <p:cNvPr id="31" name="Text 29"/>
          <p:cNvSpPr/>
          <p:nvPr/>
        </p:nvSpPr>
        <p:spPr>
          <a:xfrm>
            <a:off x="613648" y="6904553"/>
            <a:ext cx="13403104"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F7327250b-3976-4bc8-abde-259f8ce78e43 — Seite 6 — Abschnitt: Relationship Between Humans and Learning Machines in IML</a:t>
            </a:r>
            <a:endParaRPr lang="en-US" sz="850" dirty="0"/>
          </a:p>
        </p:txBody>
      </p:sp>
      <p:sp>
        <p:nvSpPr>
          <p:cNvPr id="32" name="Text 30"/>
          <p:cNvSpPr/>
          <p:nvPr/>
        </p:nvSpPr>
        <p:spPr>
          <a:xfrm>
            <a:off x="613648" y="7126724"/>
            <a:ext cx="13403104"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03050756-b883-416f-856c-b637954e07da — Seite 1</a:t>
            </a:r>
            <a:endParaRPr lang="en-US" sz="850" dirty="0"/>
          </a:p>
        </p:txBody>
      </p:sp>
      <p:sp>
        <p:nvSpPr>
          <p:cNvPr id="33" name="Text 31"/>
          <p:cNvSpPr/>
          <p:nvPr/>
        </p:nvSpPr>
        <p:spPr>
          <a:xfrm>
            <a:off x="613648" y="7348895"/>
            <a:ext cx="13403104"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a9353cd4-b425-425b-8494-07108e8df255 — Seite 4</a:t>
            </a:r>
            <a:endParaRPr lang="en-US" sz="850" dirty="0"/>
          </a:p>
        </p:txBody>
      </p:sp>
      <p:sp>
        <p:nvSpPr>
          <p:cNvPr id="34" name="Text 32"/>
          <p:cNvSpPr/>
          <p:nvPr/>
        </p:nvSpPr>
        <p:spPr>
          <a:xfrm>
            <a:off x="613648" y="7571065"/>
            <a:ext cx="13403104" cy="182285"/>
          </a:xfrm>
          <a:prstGeom prst="rect">
            <a:avLst/>
          </a:prstGeom>
          <a:noFill/>
          <a:ln/>
        </p:spPr>
        <p:txBody>
          <a:bodyPr wrap="none" lIns="0" tIns="0" rIns="0" bIns="0" rtlCol="0" anchor="t"/>
          <a:lstStyle/>
          <a:p>
            <a:pPr algn="l" marL="342900" indent="-342900">
              <a:lnSpc>
                <a:spcPts val="1400"/>
              </a:lnSpc>
              <a:buSzPct val="100000"/>
              <a:buChar char="•"/>
            </a:pPr>
            <a:r>
              <a:rPr lang="en-US" sz="850" dirty="0">
                <a:solidFill>
                  <a:srgbClr val="2B2E3C"/>
                </a:solidFill>
                <a:latin typeface="Open Sans" pitchFamily="34" charset="0"/>
                <a:ea typeface="Open Sans" pitchFamily="34" charset="-122"/>
                <a:cs typeface="Open Sans" pitchFamily="34" charset="-120"/>
              </a:rPr>
              <a:t>5187c0f7-fc54-46b1-80d9-1308e26e02d9 — Seite 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2025-10-29T13:01:15Z</dcterms:created>
  <dcterms:modified xsi:type="dcterms:W3CDTF">2025-10-29T13:01:15Z</dcterms:modified>
</cp:coreProperties>
</file>